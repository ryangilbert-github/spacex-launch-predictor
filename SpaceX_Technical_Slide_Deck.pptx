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49CF4-28E9-3D2E-A9E7-DF9BF2C4AC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9C13B1-AD5B-60FC-03EF-82EB7979B2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1912E6-CA27-06C5-9B40-44D21E368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645BC-E227-4BDD-A774-78DB4138631D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2E5ED-ADB8-D44D-8230-1CA6FFF86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94A9C-DBBD-7CB3-C15C-12E9B43A7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1E8E4-AF85-40C8-A294-9C2E404EA2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4414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9D5E5-A0C3-4CCA-9A2F-90989A144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432A1-4DD9-F5EF-11AF-08F8DB16F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CD1F9-20BD-8A8A-6B80-C425881D8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645BC-E227-4BDD-A774-78DB4138631D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72E27-B9E3-9389-77CD-781AC6FCF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DFA1A-18DC-DCE1-4209-9C085E71B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1E8E4-AF85-40C8-A294-9C2E404EA2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7939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2707F-1BDE-4631-E32A-9FF3D3E61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54B06C-CACB-F33E-79DE-C9423044C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04186-4D4A-AEEF-B91D-701A6801E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645BC-E227-4BDD-A774-78DB4138631D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64BF1-54D5-27C0-7BF4-31F32894C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59881-E104-41F2-BDAA-AF5D52FA4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1E8E4-AF85-40C8-A294-9C2E404EA2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0387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82E2B-71CA-D730-591D-1BC8EE2E9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46D78-3857-CE71-25BF-9C3D9B624D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95E7EB-0F37-714F-E736-10F9D20FB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E11304-BF7E-47EF-F275-1E653E47B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645BC-E227-4BDD-A774-78DB4138631D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EA14DD-F9EC-E4E2-67F5-496105C13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21DE23-D59C-3863-D3F0-7FF436BEE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1E8E4-AF85-40C8-A294-9C2E404EA2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9552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C268A-C9FB-4391-7B09-BA9B61577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1ED722-DA79-C842-81EB-E8630262C8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B21E4C-F588-D423-E49A-38BDF350B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BB7FE9-7575-0A7D-EC01-EA148298B4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7D5F21-E4CD-BD65-F464-518C5A12C3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8350BD-585A-D09C-BB4F-DF9E0FA6D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645BC-E227-4BDD-A774-78DB4138631D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57D99A-833A-082D-0CA0-B0CF886D3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04A208-6967-3F02-125A-DFE533ABE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1E8E4-AF85-40C8-A294-9C2E404EA2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9701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52C91-D97B-767C-D77D-68DD0404F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23EBF5-D644-7E05-7497-BB74F648E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645BC-E227-4BDD-A774-78DB4138631D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F052E0-6363-E036-2227-6343627E9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9B9CBF-54E7-D090-9FCC-E4D8EEF0F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1E8E4-AF85-40C8-A294-9C2E404EA2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6922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891E37-7A02-5BBF-0491-ABC351EC1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645BC-E227-4BDD-A774-78DB4138631D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C9343A-E812-64DF-4465-3E93DC712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83A529-DCA3-BB84-89F1-068D6CEE2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1E8E4-AF85-40C8-A294-9C2E404EA2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0097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BA141-9E57-E289-7362-821A83BDA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42543-4306-3C9B-9B01-3224747F0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4BBBC3-2F4F-5454-2C2E-871BA81CFC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8441C-C13B-7E90-E27B-1D9D64457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645BC-E227-4BDD-A774-78DB4138631D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10E5ED-6596-BF09-751B-5B1AB6383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54A2C6-B81C-8635-D067-059A4BC0A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1E8E4-AF85-40C8-A294-9C2E404EA2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777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FE710-DAC2-50D1-8556-A44631E82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61C52F-E9D9-776C-8633-F7FA20BA3B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C7EE44-8BDF-B181-769B-D6C881F2A7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D54884-B0DA-642F-99C3-8701A45E0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645BC-E227-4BDD-A774-78DB4138631D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1BFF2C-AEDA-9650-5E4F-3B5558B42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555B5E-FC17-51F1-AD35-5CD86047B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1E8E4-AF85-40C8-A294-9C2E404EA2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8190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B5CDC-A4C7-0456-B437-EAEA8157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98BCCA-9335-BACB-A03B-E449BFF4FF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69D99-470E-8A93-FD5B-2BFF10687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645BC-E227-4BDD-A774-78DB4138631D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15253-2910-6005-49DD-072CCAAC5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A391F-08E4-E549-3A25-A4D57B728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1E8E4-AF85-40C8-A294-9C2E404EA2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9903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0EF54A-1E57-3C91-9CBF-81C646A7ED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ECF0C6-1E85-4122-F7B2-4272C1C1C6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9AE64-EB09-AF14-F787-A81B27C56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645BC-E227-4BDD-A774-78DB4138631D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F7AA91-E796-56D9-CF25-274E3E371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41253-DC85-1744-1F31-910CF86F5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1E8E4-AF85-40C8-A294-9C2E404EA2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5224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FD1877-B5A4-FA77-2C6B-3BFBCCC18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A016CB-E054-E0AB-BBDA-C0186E5D3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4A241-A2FD-BF0B-4FA1-E9AF76A316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A645BC-E227-4BDD-A774-78DB4138631D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E1E07-6C8F-1951-4F4B-8FDAAD8759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661BE-76B2-30AA-8DE9-E8E9C2781A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E1E8E4-AF85-40C8-A294-9C2E404EA2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5617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0E32C-BE6D-F95E-5168-E0D5A90CE6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74891"/>
            <a:ext cx="9144000" cy="2387600"/>
          </a:xfrm>
        </p:spPr>
        <p:txBody>
          <a:bodyPr/>
          <a:lstStyle/>
          <a:p>
            <a:r>
              <a:rPr lang="en-GB" dirty="0"/>
              <a:t>SpaceX Falcon 9 Landing 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7A7C56-C4E3-C62A-4C44-169C5B919F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8302"/>
            <a:ext cx="9144000" cy="369818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Optimizing Launch Costs through Machine Learning</a:t>
            </a:r>
          </a:p>
          <a:p>
            <a:endParaRPr lang="en-GB" sz="2000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C2A7646-1D78-052B-D682-E426F398217F}"/>
              </a:ext>
            </a:extLst>
          </p:cNvPr>
          <p:cNvSpPr txBox="1">
            <a:spLocks/>
          </p:cNvSpPr>
          <p:nvPr/>
        </p:nvSpPr>
        <p:spPr>
          <a:xfrm>
            <a:off x="9290304" y="6104831"/>
            <a:ext cx="2572512" cy="36981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By Ryan Gilbert</a:t>
            </a:r>
            <a:endParaRPr lang="en-GB" sz="2000" dirty="0"/>
          </a:p>
        </p:txBody>
      </p:sp>
      <p:pic>
        <p:nvPicPr>
          <p:cNvPr id="9" name="Picture 8" descr="A rocket launching with smoke and clouds&#10;&#10;AI-generated content may be incorrect.">
            <a:extLst>
              <a:ext uri="{FF2B5EF4-FFF2-40B4-BE49-F238E27FC236}">
                <a16:creationId xmlns:a16="http://schemas.microsoft.com/office/drawing/2014/main" id="{FBBB8CD4-95A6-0B34-EA27-179006FB3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058" y="4059862"/>
            <a:ext cx="3019884" cy="2023247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AF52C74-4887-BE4E-2AA1-9961BE85B3C6}"/>
              </a:ext>
            </a:extLst>
          </p:cNvPr>
          <p:cNvSpPr txBox="1"/>
          <p:nvPr/>
        </p:nvSpPr>
        <p:spPr>
          <a:xfrm>
            <a:off x="4809744" y="6129407"/>
            <a:ext cx="257251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1" dirty="0"/>
              <a:t>Source:</a:t>
            </a:r>
            <a:r>
              <a:rPr lang="en-GB" sz="1100" dirty="0"/>
              <a:t> Image courtesy of SpaceX (</a:t>
            </a:r>
            <a:r>
              <a:rPr lang="en-GB" sz="1100" dirty="0" err="1"/>
              <a:t>viaUnsplash</a:t>
            </a:r>
            <a:r>
              <a:rPr lang="en-GB" sz="11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11323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8D9DA-122F-7FDB-23B4-D2910EE9D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/>
              <a:t>Executive Summary (The "TL;DR")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AD372-5B0F-9177-328F-389FB4F81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b="1" dirty="0">
                <a:solidFill>
                  <a:schemeClr val="accent6">
                    <a:lumMod val="75000"/>
                  </a:schemeClr>
                </a:solidFill>
              </a:rPr>
              <a:t>Objective</a:t>
            </a:r>
            <a:r>
              <a:rPr lang="en-GB" sz="2400" b="1" dirty="0"/>
              <a:t>:</a:t>
            </a:r>
            <a:r>
              <a:rPr lang="en-GB" sz="2400" dirty="0"/>
              <a:t> Predict if the Falcon 9 first stage will land successfully to estimate launch costs.</a:t>
            </a:r>
            <a:endParaRPr lang="en-GB" sz="2000" dirty="0"/>
          </a:p>
          <a:p>
            <a:r>
              <a:rPr lang="en-GB" sz="2400" b="1" dirty="0">
                <a:solidFill>
                  <a:schemeClr val="accent6">
                    <a:lumMod val="75000"/>
                  </a:schemeClr>
                </a:solidFill>
              </a:rPr>
              <a:t>Key Findings</a:t>
            </a:r>
            <a:r>
              <a:rPr lang="en-GB" b="1" dirty="0"/>
              <a:t>:</a:t>
            </a:r>
            <a:endParaRPr lang="en-GB" dirty="0"/>
          </a:p>
          <a:p>
            <a:pPr lvl="1"/>
            <a:r>
              <a:rPr lang="en-GB" i="1" u="sng" dirty="0"/>
              <a:t>Launch Site</a:t>
            </a:r>
            <a:r>
              <a:rPr lang="en-GB" b="1" dirty="0"/>
              <a:t>:</a:t>
            </a:r>
            <a:r>
              <a:rPr lang="en-GB" dirty="0"/>
              <a:t> KSC LC-39A has the highest success rate.</a:t>
            </a:r>
          </a:p>
          <a:p>
            <a:pPr lvl="1"/>
            <a:r>
              <a:rPr lang="en-GB" i="1" u="sng" dirty="0"/>
              <a:t>Payload</a:t>
            </a:r>
            <a:r>
              <a:rPr lang="en-GB" b="1" dirty="0"/>
              <a:t>:</a:t>
            </a:r>
            <a:r>
              <a:rPr lang="en-GB" dirty="0"/>
              <a:t> Payloads under 5,000 kg have a significantly higher landing success rate.</a:t>
            </a:r>
          </a:p>
          <a:p>
            <a:pPr lvl="1"/>
            <a:r>
              <a:rPr lang="en-GB" i="1" u="sng" dirty="0"/>
              <a:t>Model Performance</a:t>
            </a:r>
            <a:r>
              <a:rPr lang="en-GB" b="1" dirty="0"/>
              <a:t>:</a:t>
            </a:r>
            <a:r>
              <a:rPr lang="en-GB" dirty="0"/>
              <a:t> The Support Vector Machine (SVM) model achieved </a:t>
            </a:r>
            <a:r>
              <a:rPr lang="en-GB" b="1" dirty="0">
                <a:solidFill>
                  <a:schemeClr val="accent4">
                    <a:lumMod val="75000"/>
                  </a:schemeClr>
                </a:solidFill>
              </a:rPr>
              <a:t>100% accuracy</a:t>
            </a:r>
            <a:r>
              <a:rPr lang="en-GB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GB" dirty="0"/>
              <a:t>on the test set.</a:t>
            </a:r>
          </a:p>
          <a:p>
            <a:r>
              <a:rPr lang="en-GB" sz="2400" b="1" dirty="0">
                <a:solidFill>
                  <a:schemeClr val="accent6">
                    <a:lumMod val="75000"/>
                  </a:schemeClr>
                </a:solidFill>
              </a:rPr>
              <a:t>Recommendation</a:t>
            </a:r>
            <a:r>
              <a:rPr lang="en-GB" sz="2400" b="1" dirty="0"/>
              <a:t>:</a:t>
            </a:r>
            <a:r>
              <a:rPr lang="en-GB" sz="2400" dirty="0"/>
              <a:t> Prioritize launches from KSC LC-39A for lighter payloads to maximize reusability.</a:t>
            </a:r>
          </a:p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C9E5F4-506E-E810-AB09-D5DA41D47384}"/>
              </a:ext>
            </a:extLst>
          </p:cNvPr>
          <p:cNvSpPr txBox="1"/>
          <p:nvPr/>
        </p:nvSpPr>
        <p:spPr>
          <a:xfrm>
            <a:off x="7934036" y="6176963"/>
            <a:ext cx="38885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Source:</a:t>
            </a:r>
            <a:r>
              <a:rPr lang="en-GB" sz="1600" dirty="0"/>
              <a:t> Internal Analysis; Data courtesy of SpaceX API &amp; IBM Skills Network</a:t>
            </a:r>
          </a:p>
        </p:txBody>
      </p:sp>
    </p:spTree>
    <p:extLst>
      <p:ext uri="{BB962C8B-B14F-4D97-AF65-F5344CB8AC3E}">
        <p14:creationId xmlns:p14="http://schemas.microsoft.com/office/powerpoint/2010/main" val="1816875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6A733-37A3-1A78-DAC3-D6CD0B123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/>
              <a:t>Introduction &amp;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A5574-4CBB-5F32-52EC-E7CAD7A6B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6793"/>
            <a:ext cx="10515600" cy="2947543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accent6">
                    <a:lumMod val="75000"/>
                  </a:schemeClr>
                </a:solidFill>
              </a:rPr>
              <a:t>The Problem</a:t>
            </a:r>
            <a:r>
              <a:rPr lang="en-GB" b="1" dirty="0"/>
              <a:t>:</a:t>
            </a:r>
            <a:r>
              <a:rPr lang="en-GB" dirty="0"/>
              <a:t> SpaceX launches cost ~$62M. If the first stage lands, the cost drops to ~$2M.</a:t>
            </a:r>
          </a:p>
          <a:p>
            <a:r>
              <a:rPr lang="en-GB" b="1" dirty="0">
                <a:solidFill>
                  <a:schemeClr val="accent6">
                    <a:lumMod val="75000"/>
                  </a:schemeClr>
                </a:solidFill>
              </a:rPr>
              <a:t>The Goal</a:t>
            </a:r>
            <a:r>
              <a:rPr lang="en-GB" b="1" dirty="0"/>
              <a:t>:</a:t>
            </a:r>
            <a:r>
              <a:rPr lang="en-GB" dirty="0"/>
              <a:t> Build a binary classification model (Success/Fail) to predict landing outcomes using public data.</a:t>
            </a:r>
          </a:p>
          <a:p>
            <a:r>
              <a:rPr lang="en-GB" b="1" dirty="0">
                <a:solidFill>
                  <a:schemeClr val="accent6">
                    <a:lumMod val="75000"/>
                  </a:schemeClr>
                </a:solidFill>
              </a:rPr>
              <a:t>The Value</a:t>
            </a:r>
            <a:r>
              <a:rPr lang="en-GB" b="1" dirty="0"/>
              <a:t>:</a:t>
            </a:r>
            <a:r>
              <a:rPr lang="en-GB" dirty="0"/>
              <a:t> Accurate predictions allow competitors to bid more competitively against SpaceX.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A02370-761D-6379-FD65-EA701E177BCF}"/>
              </a:ext>
            </a:extLst>
          </p:cNvPr>
          <p:cNvSpPr txBox="1"/>
          <p:nvPr/>
        </p:nvSpPr>
        <p:spPr>
          <a:xfrm>
            <a:off x="7934036" y="6176963"/>
            <a:ext cx="38885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/>
              <a:t>Source:</a:t>
            </a:r>
            <a:r>
              <a:rPr lang="fr-FR" sz="1600" dirty="0"/>
              <a:t> SpaceX </a:t>
            </a:r>
            <a:r>
              <a:rPr lang="fr-FR" sz="1600" dirty="0" err="1"/>
              <a:t>Capabilities</a:t>
            </a:r>
            <a:r>
              <a:rPr lang="fr-FR" sz="1600" dirty="0"/>
              <a:t> &amp; Services; CNBC (2020)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449068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6C92D-0767-C699-FDA6-C1451BEE7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/>
              <a:t>Methodology (The "Pipeline")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195B4-F1E6-23E2-79CC-7BD8866EF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Collected data from the SpaceX API.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Cleaned and Standardized data (handled missing values).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Performed Exploratory Data Analysis (EDA) to find patterns.</a:t>
            </a:r>
          </a:p>
        </p:txBody>
      </p:sp>
      <p:pic>
        <p:nvPicPr>
          <p:cNvPr id="9" name="Picture 8" descr="A diagram of a software process&#10;&#10;AI-generated content may be incorrect.">
            <a:extLst>
              <a:ext uri="{FF2B5EF4-FFF2-40B4-BE49-F238E27FC236}">
                <a16:creationId xmlns:a16="http://schemas.microsoft.com/office/drawing/2014/main" id="{FD43BD8E-3419-6D53-4702-5BB3BA2E30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08" y="1607564"/>
            <a:ext cx="11338583" cy="25847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E86B6A-19D5-2B01-0CAE-8C34663A724E}"/>
              </a:ext>
            </a:extLst>
          </p:cNvPr>
          <p:cNvSpPr txBox="1"/>
          <p:nvPr/>
        </p:nvSpPr>
        <p:spPr>
          <a:xfrm>
            <a:off x="7934036" y="6176963"/>
            <a:ext cx="38885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Source:</a:t>
            </a:r>
            <a:r>
              <a:rPr lang="en-GB" sz="1600" dirty="0"/>
              <a:t> Project Methodology; Tools: Python, Pandas, Scikit-Learn</a:t>
            </a:r>
          </a:p>
        </p:txBody>
      </p:sp>
    </p:spTree>
    <p:extLst>
      <p:ext uri="{BB962C8B-B14F-4D97-AF65-F5344CB8AC3E}">
        <p14:creationId xmlns:p14="http://schemas.microsoft.com/office/powerpoint/2010/main" val="398646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F5CFF-7FE7-A5E0-5E89-031B5A536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0473"/>
            <a:ext cx="10515600" cy="1325563"/>
          </a:xfrm>
        </p:spPr>
        <p:txBody>
          <a:bodyPr/>
          <a:lstStyle/>
          <a:p>
            <a:r>
              <a:rPr lang="en-GB" u="sng" dirty="0"/>
              <a:t>Exploratory Data Analysis (Orbits)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4F37C-889A-2A19-8365-7630FECC2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47466"/>
          </a:xfrm>
        </p:spPr>
        <p:txBody>
          <a:bodyPr/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r>
              <a:rPr lang="en-GB" sz="2400" b="1" dirty="0"/>
              <a:t>Insight:</a:t>
            </a:r>
            <a:r>
              <a:rPr lang="en-GB" sz="2400" dirty="0"/>
              <a:t> "Not all missions are equal. Orbits like ES-L1, GEO, and HEO have high success rates. The SO (Sun-Synchronous) orbit had a 0% success rate in this dataset."</a:t>
            </a:r>
          </a:p>
        </p:txBody>
      </p:sp>
      <p:pic>
        <p:nvPicPr>
          <p:cNvPr id="5" name="Picture 4" descr="A graph of a bar graph&#10;&#10;AI-generated content may be incorrect.">
            <a:extLst>
              <a:ext uri="{FF2B5EF4-FFF2-40B4-BE49-F238E27FC236}">
                <a16:creationId xmlns:a16="http://schemas.microsoft.com/office/drawing/2014/main" id="{FB4F0AEE-A544-8334-FE87-53DA92ACDF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3769" y="1567221"/>
            <a:ext cx="6142449" cy="31849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C70B5F-C12F-05C4-D00E-9D961A725F99}"/>
              </a:ext>
            </a:extLst>
          </p:cNvPr>
          <p:cNvSpPr txBox="1"/>
          <p:nvPr/>
        </p:nvSpPr>
        <p:spPr>
          <a:xfrm>
            <a:off x="7934036" y="6176963"/>
            <a:ext cx="38885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Source:</a:t>
            </a:r>
            <a:r>
              <a:rPr lang="en-GB" sz="1600" dirty="0"/>
              <a:t> Internal Analysis; Data courtesy of SpaceX API</a:t>
            </a:r>
          </a:p>
        </p:txBody>
      </p:sp>
    </p:spTree>
    <p:extLst>
      <p:ext uri="{BB962C8B-B14F-4D97-AF65-F5344CB8AC3E}">
        <p14:creationId xmlns:p14="http://schemas.microsoft.com/office/powerpoint/2010/main" val="1934838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08656-14FA-872E-C9A5-104B44393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/>
              <a:t>Launch Site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DC63B-608D-D82F-F500-9B22D29CE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4097"/>
            <a:ext cx="4435764" cy="4351338"/>
          </a:xfrm>
        </p:spPr>
        <p:txBody>
          <a:bodyPr>
            <a:normAutofit/>
          </a:bodyPr>
          <a:lstStyle/>
          <a:p>
            <a:r>
              <a:rPr lang="en-GB" sz="2400" b="1" dirty="0">
                <a:solidFill>
                  <a:schemeClr val="accent6">
                    <a:lumMod val="75000"/>
                  </a:schemeClr>
                </a:solidFill>
              </a:rPr>
              <a:t>Method</a:t>
            </a:r>
            <a:r>
              <a:rPr lang="en-GB" sz="2400" dirty="0"/>
              <a:t>: Visualized launch sites across the US.</a:t>
            </a:r>
          </a:p>
          <a:p>
            <a:r>
              <a:rPr lang="en-GB" sz="2400" b="1" dirty="0">
                <a:solidFill>
                  <a:schemeClr val="accent6">
                    <a:lumMod val="75000"/>
                  </a:schemeClr>
                </a:solidFill>
              </a:rPr>
              <a:t>Insight</a:t>
            </a:r>
            <a:r>
              <a:rPr lang="en-GB" sz="2400" b="1" dirty="0"/>
              <a:t>:</a:t>
            </a:r>
            <a:r>
              <a:rPr lang="en-GB" sz="2400" dirty="0"/>
              <a:t> Launch sites are strategically located near coastlines for safety.</a:t>
            </a:r>
          </a:p>
          <a:p>
            <a:r>
              <a:rPr lang="en-GB" sz="2400" b="1" dirty="0">
                <a:solidFill>
                  <a:schemeClr val="accent6">
                    <a:lumMod val="75000"/>
                  </a:schemeClr>
                </a:solidFill>
              </a:rPr>
              <a:t>Observation</a:t>
            </a:r>
            <a:r>
              <a:rPr lang="en-GB" sz="2400" b="1" dirty="0"/>
              <a:t>:</a:t>
            </a:r>
            <a:r>
              <a:rPr lang="en-GB" sz="2400" dirty="0"/>
              <a:t> KSC LC-39A shows the densest cluster of successful (green) landings.</a:t>
            </a:r>
          </a:p>
        </p:txBody>
      </p:sp>
      <p:pic>
        <p:nvPicPr>
          <p:cNvPr id="8" name="Picture 7" descr="A map with green and red circles&#10;&#10;AI-generated content may be incorrect.">
            <a:extLst>
              <a:ext uri="{FF2B5EF4-FFF2-40B4-BE49-F238E27FC236}">
                <a16:creationId xmlns:a16="http://schemas.microsoft.com/office/drawing/2014/main" id="{276CD184-3745-1E8F-C5EC-43FA08495D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447" y="1701800"/>
            <a:ext cx="5883353" cy="34543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9082A4-37A2-5B6E-0715-6470F9426EC3}"/>
              </a:ext>
            </a:extLst>
          </p:cNvPr>
          <p:cNvSpPr txBox="1"/>
          <p:nvPr/>
        </p:nvSpPr>
        <p:spPr>
          <a:xfrm>
            <a:off x="7934036" y="6176963"/>
            <a:ext cx="38885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Source:</a:t>
            </a:r>
            <a:r>
              <a:rPr lang="en-GB" sz="1600" dirty="0"/>
              <a:t> Internal Analysis; Map generated via Folium; Data courtesy of SpaceX API</a:t>
            </a:r>
          </a:p>
        </p:txBody>
      </p:sp>
    </p:spTree>
    <p:extLst>
      <p:ext uri="{BB962C8B-B14F-4D97-AF65-F5344CB8AC3E}">
        <p14:creationId xmlns:p14="http://schemas.microsoft.com/office/powerpoint/2010/main" val="3703864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5E756-E0CE-8306-66CE-FED3A7F2E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/>
              <a:t>Interactive Dashboard Findings</a:t>
            </a:r>
          </a:p>
        </p:txBody>
      </p:sp>
      <p:pic>
        <p:nvPicPr>
          <p:cNvPr id="11" name="Content Placeholder 10" descr="A pie chart with numbers and text&#10;&#10;AI-generated content may be incorrect.">
            <a:extLst>
              <a:ext uri="{FF2B5EF4-FFF2-40B4-BE49-F238E27FC236}">
                <a16:creationId xmlns:a16="http://schemas.microsoft.com/office/drawing/2014/main" id="{AE451299-5E14-D607-D906-936E5520DA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645" y="1608329"/>
            <a:ext cx="3187155" cy="2651053"/>
          </a:xfrm>
        </p:spPr>
      </p:pic>
      <p:pic>
        <p:nvPicPr>
          <p:cNvPr id="13" name="Picture 12" descr="A white rectangular object with different colored dots&#10;&#10;AI-generated content may be incorrect.">
            <a:extLst>
              <a:ext uri="{FF2B5EF4-FFF2-40B4-BE49-F238E27FC236}">
                <a16:creationId xmlns:a16="http://schemas.microsoft.com/office/drawing/2014/main" id="{634E574E-8206-10D9-470A-714FDA64C0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91371"/>
            <a:ext cx="12192000" cy="333925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2BB652D-6F2D-CB45-15A1-354733357205}"/>
              </a:ext>
            </a:extLst>
          </p:cNvPr>
          <p:cNvSpPr txBox="1"/>
          <p:nvPr/>
        </p:nvSpPr>
        <p:spPr>
          <a:xfrm>
            <a:off x="605589" y="1819562"/>
            <a:ext cx="70473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Built a Dash application for real-time analysis.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accent6">
                    <a:lumMod val="75000"/>
                  </a:schemeClr>
                </a:solidFill>
              </a:rPr>
              <a:t>Pie Chart</a:t>
            </a:r>
            <a:r>
              <a:rPr lang="en-GB" b="1" dirty="0"/>
              <a:t>:</a:t>
            </a:r>
            <a:r>
              <a:rPr lang="en-GB" dirty="0"/>
              <a:t> Confirms KSC LC-39A is the top performer.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accent6">
                    <a:lumMod val="75000"/>
                  </a:schemeClr>
                </a:solidFill>
              </a:rPr>
              <a:t>Scatter Plot</a:t>
            </a:r>
            <a:r>
              <a:rPr lang="en-GB" b="1" dirty="0"/>
              <a:t>:</a:t>
            </a:r>
            <a:r>
              <a:rPr lang="en-GB" dirty="0"/>
              <a:t> Shows a clear "safety zone" for payloads under roughly 5,000 kg. Heavy payloads (&gt;8,000 kg) have mixed results.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5DEE25-3291-DCDE-0706-5526C225A8D6}"/>
              </a:ext>
            </a:extLst>
          </p:cNvPr>
          <p:cNvSpPr txBox="1"/>
          <p:nvPr/>
        </p:nvSpPr>
        <p:spPr>
          <a:xfrm>
            <a:off x="8303491" y="109565"/>
            <a:ext cx="38885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Source:</a:t>
            </a:r>
            <a:r>
              <a:rPr lang="en-GB" sz="1600" dirty="0"/>
              <a:t> Internal Analysis; Dashboard generated via </a:t>
            </a:r>
            <a:r>
              <a:rPr lang="en-GB" sz="1600" dirty="0" err="1"/>
              <a:t>Plotly</a:t>
            </a:r>
            <a:r>
              <a:rPr lang="en-GB" sz="1600" dirty="0"/>
              <a:t> Dash</a:t>
            </a:r>
          </a:p>
        </p:txBody>
      </p:sp>
    </p:spTree>
    <p:extLst>
      <p:ext uri="{BB962C8B-B14F-4D97-AF65-F5344CB8AC3E}">
        <p14:creationId xmlns:p14="http://schemas.microsoft.com/office/powerpoint/2010/main" val="2377906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DA1C9-1055-ACE6-76FD-B3DF068BC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/>
              <a:t>Machine Learning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26DF0-44E3-2A4A-D640-783ECBEB44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chemeClr val="accent6">
                    <a:lumMod val="75000"/>
                  </a:schemeClr>
                </a:solidFill>
              </a:rPr>
              <a:t>Method</a:t>
            </a:r>
            <a:r>
              <a:rPr lang="en-GB" b="1" dirty="0"/>
              <a:t>: </a:t>
            </a:r>
            <a:r>
              <a:rPr lang="en-GB" dirty="0"/>
              <a:t>Trained and tuned 4 different Classification Models: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Logistic Regression (Baseline)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Support Vector Machine (SVM)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Decision Tree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K-Nearest Neighbours (KNN)</a:t>
            </a:r>
          </a:p>
          <a:p>
            <a:pPr marL="457200" lvl="1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>
                <a:solidFill>
                  <a:schemeClr val="accent6">
                    <a:lumMod val="75000"/>
                  </a:schemeClr>
                </a:solidFill>
              </a:rPr>
              <a:t>Process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Standardized data (scaled to 0-1 range).</a:t>
            </a:r>
          </a:p>
          <a:p>
            <a:pPr lvl="1"/>
            <a:r>
              <a:rPr lang="en-GB" dirty="0"/>
              <a:t>Split data: 80% Training, 20% Testing.</a:t>
            </a:r>
          </a:p>
          <a:p>
            <a:pPr lvl="1"/>
            <a:r>
              <a:rPr lang="en-GB" dirty="0"/>
              <a:t>Used </a:t>
            </a:r>
            <a:r>
              <a:rPr lang="en-GB" b="1" dirty="0" err="1"/>
              <a:t>GridSearchCV</a:t>
            </a:r>
            <a:r>
              <a:rPr lang="en-GB" dirty="0"/>
              <a:t> to tune hyperparameters (found the best settings).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4B7251-F556-01B3-9E80-2E9FD587EA08}"/>
              </a:ext>
            </a:extLst>
          </p:cNvPr>
          <p:cNvSpPr txBox="1"/>
          <p:nvPr/>
        </p:nvSpPr>
        <p:spPr>
          <a:xfrm>
            <a:off x="8303491" y="6176963"/>
            <a:ext cx="38885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Source:</a:t>
            </a:r>
            <a:r>
              <a:rPr lang="en-GB" sz="1600" dirty="0"/>
              <a:t> Scikit-Learn Documentation; Project Architecture</a:t>
            </a:r>
          </a:p>
        </p:txBody>
      </p:sp>
    </p:spTree>
    <p:extLst>
      <p:ext uri="{BB962C8B-B14F-4D97-AF65-F5344CB8AC3E}">
        <p14:creationId xmlns:p14="http://schemas.microsoft.com/office/powerpoint/2010/main" val="1806275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AC7ED-F4DE-2B10-D8AB-AAD42272E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/>
              <a:t>Model Results (The "Hero" Slide)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F3DCF-E164-43C4-F08A-DABAF20AE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28351"/>
            <a:ext cx="10836564" cy="3064523"/>
          </a:xfrm>
        </p:spPr>
        <p:txBody>
          <a:bodyPr>
            <a:normAutofit fontScale="85000" lnSpcReduction="20000"/>
          </a:bodyPr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b="1" dirty="0">
                <a:solidFill>
                  <a:schemeClr val="accent6">
                    <a:lumMod val="75000"/>
                  </a:schemeClr>
                </a:solidFill>
              </a:rPr>
              <a:t>Narrative</a:t>
            </a:r>
            <a:r>
              <a:rPr lang="en-GB" b="1" dirty="0"/>
              <a:t>:</a:t>
            </a:r>
            <a:r>
              <a:rPr lang="en-GB" dirty="0"/>
              <a:t> While all models performed well (&gt;90%), the </a:t>
            </a:r>
            <a:r>
              <a:rPr lang="en-GB" b="1" dirty="0"/>
              <a:t>SVM</a:t>
            </a:r>
            <a:r>
              <a:rPr lang="en-GB" dirty="0"/>
              <a:t> was the clear winner, achieving a perfect </a:t>
            </a:r>
            <a:r>
              <a:rPr lang="en-GB" b="1" dirty="0"/>
              <a:t>100% accuracy</a:t>
            </a:r>
            <a:r>
              <a:rPr lang="en-GB" dirty="0"/>
              <a:t> on the unseen test data. This makes it the ideal candidate for deployment while potentially saving millions of dollars in launch cost estimates.</a:t>
            </a:r>
          </a:p>
        </p:txBody>
      </p:sp>
      <p:pic>
        <p:nvPicPr>
          <p:cNvPr id="5" name="Picture 4" descr="A graph with blue lines&#10;&#10;AI-generated content may be incorrect.">
            <a:extLst>
              <a:ext uri="{FF2B5EF4-FFF2-40B4-BE49-F238E27FC236}">
                <a16:creationId xmlns:a16="http://schemas.microsoft.com/office/drawing/2014/main" id="{3C3C267E-F919-2FF1-E473-3AB5A11A12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0972" y="1596498"/>
            <a:ext cx="5859683" cy="33833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C555992-9C59-13A8-A5D5-BB2499CEB530}"/>
              </a:ext>
            </a:extLst>
          </p:cNvPr>
          <p:cNvSpPr txBox="1"/>
          <p:nvPr/>
        </p:nvSpPr>
        <p:spPr>
          <a:xfrm>
            <a:off x="9454897" y="81881"/>
            <a:ext cx="28803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Source:</a:t>
            </a:r>
            <a:r>
              <a:rPr lang="en-GB" sz="1600" dirty="0"/>
              <a:t> Internal Analysis; Model Training &amp; Testing via Scikit-Learn</a:t>
            </a:r>
          </a:p>
        </p:txBody>
      </p:sp>
    </p:spTree>
    <p:extLst>
      <p:ext uri="{BB962C8B-B14F-4D97-AF65-F5344CB8AC3E}">
        <p14:creationId xmlns:p14="http://schemas.microsoft.com/office/powerpoint/2010/main" val="1896809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25179-B0FF-816F-21B6-1CE746306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BF66C-0C29-AFE4-04A1-9FD5EE1DB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30425"/>
            <a:ext cx="10515600" cy="2977284"/>
          </a:xfrm>
        </p:spPr>
        <p:txBody>
          <a:bodyPr/>
          <a:lstStyle/>
          <a:p>
            <a:r>
              <a:rPr lang="en-GB" b="1" dirty="0">
                <a:solidFill>
                  <a:schemeClr val="accent6">
                    <a:lumMod val="75000"/>
                  </a:schemeClr>
                </a:solidFill>
              </a:rPr>
              <a:t>Summary</a:t>
            </a:r>
            <a:r>
              <a:rPr lang="en-GB" b="1" dirty="0"/>
              <a:t>:</a:t>
            </a:r>
            <a:r>
              <a:rPr lang="en-GB" dirty="0"/>
              <a:t> Successfully built a pipeline that predicts rocket landings with high precision.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b="1" dirty="0">
                <a:solidFill>
                  <a:schemeClr val="accent6">
                    <a:lumMod val="75000"/>
                  </a:schemeClr>
                </a:solidFill>
              </a:rPr>
              <a:t>Future Work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Incorporate weather data (wind/rain) into the model.</a:t>
            </a:r>
          </a:p>
          <a:p>
            <a:pPr lvl="1"/>
            <a:r>
              <a:rPr lang="en-GB" dirty="0"/>
              <a:t>Test on a larger dataset as SpaceX completes more missions.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C203B7-E66F-BB8D-D833-04998A76DBED}"/>
              </a:ext>
            </a:extLst>
          </p:cNvPr>
          <p:cNvSpPr txBox="1"/>
          <p:nvPr/>
        </p:nvSpPr>
        <p:spPr>
          <a:xfrm>
            <a:off x="8303491" y="6176963"/>
            <a:ext cx="38885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Source:</a:t>
            </a:r>
            <a:r>
              <a:rPr lang="en-GB" sz="1600" dirty="0"/>
              <a:t> Summary of Findings; Future Work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022035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597</Words>
  <Application>Microsoft Office PowerPoint</Application>
  <PresentationFormat>Widescreen</PresentationFormat>
  <Paragraphs>75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SpaceX Falcon 9 Landing Prediction</vt:lpstr>
      <vt:lpstr>Executive Summary (The "TL;DR")</vt:lpstr>
      <vt:lpstr>Introduction &amp; Problem Statement</vt:lpstr>
      <vt:lpstr>Methodology (The "Pipeline")</vt:lpstr>
      <vt:lpstr>Exploratory Data Analysis (Orbits)</vt:lpstr>
      <vt:lpstr>Launch Site Analysis</vt:lpstr>
      <vt:lpstr>Interactive Dashboard Findings</vt:lpstr>
      <vt:lpstr>Machine Learning Approach</vt:lpstr>
      <vt:lpstr>Model Results (The "Hero" Slide)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Gilbert</dc:creator>
  <cp:lastModifiedBy>Ryan Gilbert</cp:lastModifiedBy>
  <cp:revision>16</cp:revision>
  <dcterms:created xsi:type="dcterms:W3CDTF">2026-02-04T20:45:53Z</dcterms:created>
  <dcterms:modified xsi:type="dcterms:W3CDTF">2026-02-05T18:47:46Z</dcterms:modified>
</cp:coreProperties>
</file>