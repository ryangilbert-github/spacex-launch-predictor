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1" r:id="rId14"/>
    <p:sldId id="272" r:id="rId15"/>
    <p:sldId id="273" r:id="rId16"/>
    <p:sldId id="274" r:id="rId17"/>
    <p:sldId id="275" r:id="rId18"/>
    <p:sldId id="276"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14"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50" b="0" i="0">
                <a:solidFill>
                  <a:srgbClr val="0A48CA"/>
                </a:solidFill>
                <a:latin typeface="Microsoft Sans Serif"/>
                <a:cs typeface="Microsoft Sans Serif"/>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rgbClr val="292929"/>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p:txBody>
          <a:bodyPr lIns="0" tIns="0" rIns="0" bIns="0"/>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90" dirty="0"/>
              <a:t>‹#›</a:t>
            </a:fld>
            <a:endParaRPr spc="9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50" b="0" i="0">
                <a:solidFill>
                  <a:srgbClr val="0A48CA"/>
                </a:solidFill>
                <a:latin typeface="Microsoft Sans Serif"/>
                <a:cs typeface="Microsoft Sans Serif"/>
              </a:defRPr>
            </a:lvl1pPr>
          </a:lstStyle>
          <a:p>
            <a:endParaRPr/>
          </a:p>
        </p:txBody>
      </p:sp>
      <p:sp>
        <p:nvSpPr>
          <p:cNvPr id="3" name="Holder 3"/>
          <p:cNvSpPr>
            <a:spLocks noGrp="1"/>
          </p:cNvSpPr>
          <p:nvPr>
            <p:ph type="body" idx="1"/>
          </p:nvPr>
        </p:nvSpPr>
        <p:spPr/>
        <p:txBody>
          <a:bodyPr lIns="0" tIns="0" rIns="0" bIns="0"/>
          <a:lstStyle>
            <a:lvl1pPr>
              <a:defRPr sz="2000" b="0" i="0">
                <a:solidFill>
                  <a:srgbClr val="292929"/>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p:txBody>
          <a:bodyPr lIns="0" tIns="0" rIns="0" bIns="0"/>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90" dirty="0"/>
              <a:t>‹#›</a:t>
            </a:fld>
            <a:endParaRPr spc="9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50" b="0" i="0">
                <a:solidFill>
                  <a:srgbClr val="0A48CA"/>
                </a:solidFill>
                <a:latin typeface="Microsoft Sans Serif"/>
                <a:cs typeface="Microsoft Sans Serif"/>
              </a:defRPr>
            </a:lvl1pPr>
          </a:lstStyle>
          <a:p>
            <a:endParaRPr/>
          </a:p>
        </p:txBody>
      </p:sp>
      <p:sp>
        <p:nvSpPr>
          <p:cNvPr id="3" name="Holder 3"/>
          <p:cNvSpPr>
            <a:spLocks noGrp="1"/>
          </p:cNvSpPr>
          <p:nvPr>
            <p:ph sz="half" idx="2"/>
          </p:nvPr>
        </p:nvSpPr>
        <p:spPr>
          <a:xfrm>
            <a:off x="849312" y="1284795"/>
            <a:ext cx="5260975" cy="4765675"/>
          </a:xfrm>
          <a:prstGeom prst="rect">
            <a:avLst/>
          </a:prstGeom>
        </p:spPr>
        <p:txBody>
          <a:bodyPr wrap="square" lIns="0" tIns="0" rIns="0" bIns="0">
            <a:spAutoFit/>
          </a:bodyPr>
          <a:lstStyle>
            <a:lvl1pPr>
              <a:defRPr sz="1400" b="0" i="0">
                <a:solidFill>
                  <a:srgbClr val="292929"/>
                </a:solidFill>
                <a:latin typeface="Calibri"/>
                <a:cs typeface="Calibri"/>
              </a:defRPr>
            </a:lvl1pPr>
          </a:lstStyle>
          <a:p>
            <a:endParaRPr/>
          </a:p>
        </p:txBody>
      </p:sp>
      <p:sp>
        <p:nvSpPr>
          <p:cNvPr id="4" name="Holder 4"/>
          <p:cNvSpPr>
            <a:spLocks noGrp="1"/>
          </p:cNvSpPr>
          <p:nvPr>
            <p:ph sz="half" idx="3"/>
          </p:nvPr>
        </p:nvSpPr>
        <p:spPr>
          <a:xfrm>
            <a:off x="6584315" y="1716341"/>
            <a:ext cx="4798059" cy="4268470"/>
          </a:xfrm>
          <a:prstGeom prst="rect">
            <a:avLst/>
          </a:prstGeom>
        </p:spPr>
        <p:txBody>
          <a:bodyPr wrap="square" lIns="0" tIns="0" rIns="0" bIns="0">
            <a:spAutoFit/>
          </a:bodyPr>
          <a:lstStyle>
            <a:lvl1pPr>
              <a:defRPr sz="1400" b="0" i="0">
                <a:solidFill>
                  <a:srgbClr val="292929"/>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7" name="Holder 7"/>
          <p:cNvSpPr>
            <a:spLocks noGrp="1"/>
          </p:cNvSpPr>
          <p:nvPr>
            <p:ph type="sldNum" sz="quarter" idx="7"/>
          </p:nvPr>
        </p:nvSpPr>
        <p:spPr/>
        <p:txBody>
          <a:bodyPr lIns="0" tIns="0" rIns="0" bIns="0"/>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90" dirty="0"/>
              <a:t>‹#›</a:t>
            </a:fld>
            <a:endParaRPr spc="9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50" b="0" i="0">
                <a:solidFill>
                  <a:srgbClr val="0A48CA"/>
                </a:solidFill>
                <a:latin typeface="Microsoft Sans Serif"/>
                <a:cs typeface="Microsoft Sans Serif"/>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5" name="Holder 5"/>
          <p:cNvSpPr>
            <a:spLocks noGrp="1"/>
          </p:cNvSpPr>
          <p:nvPr>
            <p:ph type="sldNum" sz="quarter" idx="7"/>
          </p:nvPr>
        </p:nvSpPr>
        <p:spPr/>
        <p:txBody>
          <a:bodyPr lIns="0" tIns="0" rIns="0" bIns="0"/>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90" dirty="0"/>
              <a:t>‹#›</a:t>
            </a:fld>
            <a:endParaRPr spc="9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4" name="Holder 4"/>
          <p:cNvSpPr>
            <a:spLocks noGrp="1"/>
          </p:cNvSpPr>
          <p:nvPr>
            <p:ph type="sldNum" sz="quarter" idx="7"/>
          </p:nvPr>
        </p:nvSpPr>
        <p:spPr/>
        <p:txBody>
          <a:bodyPr lIns="0" tIns="0" rIns="0" bIns="0"/>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90" dirty="0"/>
              <a:t>‹#›</a:t>
            </a:fld>
            <a:endParaRPr spc="9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87239" cy="6857998"/>
          </a:xfrm>
          <a:prstGeom prst="rect">
            <a:avLst/>
          </a:prstGeom>
        </p:spPr>
      </p:pic>
      <p:sp>
        <p:nvSpPr>
          <p:cNvPr id="2" name="Holder 2"/>
          <p:cNvSpPr>
            <a:spLocks noGrp="1"/>
          </p:cNvSpPr>
          <p:nvPr>
            <p:ph type="title"/>
          </p:nvPr>
        </p:nvSpPr>
        <p:spPr>
          <a:xfrm>
            <a:off x="849312" y="412368"/>
            <a:ext cx="10493375" cy="632460"/>
          </a:xfrm>
          <a:prstGeom prst="rect">
            <a:avLst/>
          </a:prstGeom>
        </p:spPr>
        <p:txBody>
          <a:bodyPr wrap="square" lIns="0" tIns="0" rIns="0" bIns="0">
            <a:spAutoFit/>
          </a:bodyPr>
          <a:lstStyle>
            <a:lvl1pPr>
              <a:defRPr sz="3650" b="0" i="0">
                <a:solidFill>
                  <a:srgbClr val="0A48CA"/>
                </a:solidFill>
                <a:latin typeface="Microsoft Sans Serif"/>
                <a:cs typeface="Microsoft Sans Serif"/>
              </a:defRPr>
            </a:lvl1pPr>
          </a:lstStyle>
          <a:p>
            <a:endParaRPr/>
          </a:p>
        </p:txBody>
      </p:sp>
      <p:sp>
        <p:nvSpPr>
          <p:cNvPr id="3" name="Holder 3"/>
          <p:cNvSpPr>
            <a:spLocks noGrp="1"/>
          </p:cNvSpPr>
          <p:nvPr>
            <p:ph type="body" idx="1"/>
          </p:nvPr>
        </p:nvSpPr>
        <p:spPr>
          <a:xfrm>
            <a:off x="849312" y="1511617"/>
            <a:ext cx="10333990" cy="2957829"/>
          </a:xfrm>
          <a:prstGeom prst="rect">
            <a:avLst/>
          </a:prstGeom>
        </p:spPr>
        <p:txBody>
          <a:bodyPr wrap="square" lIns="0" tIns="0" rIns="0" bIns="0">
            <a:spAutoFit/>
          </a:bodyPr>
          <a:lstStyle>
            <a:lvl1pPr>
              <a:defRPr sz="2000" b="0" i="0">
                <a:solidFill>
                  <a:srgbClr val="292929"/>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a:xfrm>
            <a:off x="11091291" y="6113199"/>
            <a:ext cx="336550" cy="252729"/>
          </a:xfrm>
          <a:prstGeom prst="rect">
            <a:avLst/>
          </a:prstGeom>
        </p:spPr>
        <p:txBody>
          <a:bodyPr wrap="square" lIns="0" tIns="0" rIns="0" bIns="0">
            <a:spAutoFit/>
          </a:bodyPr>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90" dirty="0"/>
              <a:t>‹#›</a:t>
            </a:fld>
            <a:endParaRPr spc="9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ryangilbert-github/spacex-launch-predictor/tree/main/IBM-Data-Science-Capston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ryangilbert-github/spacex-launch-predictor/blob/main/IBM-Data-Science-Capstone/01.%20jupyter-labs-spacex-data-collection-api-v2.ipynb"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ryangilbert-github/spacex-launch-predictor/blob/main/IBM-Data-Science-Capstone/02.%20jupyter-labs-webscraping.ipynb"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ryangilbert-github/spacex-launch-predictor/blob/main/IBM-Data-Science-Capstone/03.%20labs-jupyter-spacex-Data%20wrangling-v2.ipynb"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ryangilbert-github/spacex-launch-predictor/blob/main/IBM-Data-Science-Capstone/05.%20jupyter-labs-eda-dataviz-v2.ipynb"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ryangilbert-github/spacex-launch-predictor/blob/main/IBM-Data-Science-Capstone/04.%20jupyter-labs-eda-sql-coursera_sqllite.ipynb"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ryangilbert-github/spacex-launch-predictor/blob/main/IBM-Data-Science-Capstone/06.%20lab-jupyter-launch-site-location-v2.ipynb"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ryangilbert-github/spacex-launch-predictor/blob/main/IBM-Data-Science-Capstone/spacex_dash_app.py" TargetMode="External"/><Relationship Id="rId2" Type="http://schemas.openxmlformats.org/officeDocument/2006/relationships/hyperlink" Target="https://www.google.com/search?q=https://github.com/ryangilbert-github/spacex-launch-predictor/blob/main/IBM-Data-Science-Capstone/spacex_dash_app.py"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ryangilbert-github/spacex-launch-predictor/blob/main/IBM-Data-Science-Capstone/07.%20SpaceX-Machine-Learning-Prediction-Part-5-v1.ipynb"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6857998"/>
          </a:xfrm>
          <a:prstGeom prst="rect">
            <a:avLst/>
          </a:prstGeom>
        </p:spPr>
      </p:pic>
      <p:sp>
        <p:nvSpPr>
          <p:cNvPr id="3" name="object 3"/>
          <p:cNvSpPr txBox="1"/>
          <p:nvPr/>
        </p:nvSpPr>
        <p:spPr>
          <a:xfrm>
            <a:off x="968057" y="4819332"/>
            <a:ext cx="2349500" cy="591829"/>
          </a:xfrm>
          <a:prstGeom prst="rect">
            <a:avLst/>
          </a:prstGeom>
        </p:spPr>
        <p:txBody>
          <a:bodyPr vert="horz" wrap="square" lIns="0" tIns="27305" rIns="0" bIns="0" rtlCol="0">
            <a:spAutoFit/>
          </a:bodyPr>
          <a:lstStyle/>
          <a:p>
            <a:pPr marL="12700" marR="5080">
              <a:lnSpc>
                <a:spcPts val="2110"/>
              </a:lnSpc>
              <a:spcBef>
                <a:spcPts val="215"/>
              </a:spcBef>
            </a:pPr>
            <a:r>
              <a:rPr lang="en-GB" sz="1800" spc="-100" dirty="0">
                <a:solidFill>
                  <a:srgbClr val="E7E6E6"/>
                </a:solidFill>
                <a:latin typeface="Microsoft Sans Serif"/>
                <a:cs typeface="Microsoft Sans Serif"/>
              </a:rPr>
              <a:t>Ryan Gilbert</a:t>
            </a:r>
          </a:p>
          <a:p>
            <a:pPr marL="12700" marR="5080">
              <a:lnSpc>
                <a:spcPts val="2110"/>
              </a:lnSpc>
              <a:spcBef>
                <a:spcPts val="215"/>
              </a:spcBef>
            </a:pPr>
            <a:r>
              <a:rPr lang="en-GB" sz="1800" spc="-30" dirty="0">
                <a:solidFill>
                  <a:srgbClr val="E7E6E6"/>
                </a:solidFill>
                <a:latin typeface="Microsoft Sans Serif"/>
                <a:cs typeface="Microsoft Sans Serif"/>
              </a:rPr>
              <a:t>02/04/2026</a:t>
            </a:r>
            <a:endParaRPr sz="1800" dirty="0">
              <a:latin typeface="Microsoft Sans Serif"/>
              <a:cs typeface="Microsoft Sans Serif"/>
            </a:endParaRPr>
          </a:p>
        </p:txBody>
      </p:sp>
      <p:pic>
        <p:nvPicPr>
          <p:cNvPr id="4" name="object 4"/>
          <p:cNvPicPr/>
          <p:nvPr/>
        </p:nvPicPr>
        <p:blipFill>
          <a:blip r:embed="rId3" cstate="print"/>
          <a:stretch>
            <a:fillRect/>
          </a:stretch>
        </p:blipFill>
        <p:spPr>
          <a:xfrm>
            <a:off x="885825" y="676275"/>
            <a:ext cx="2105025" cy="6286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7725" y="1564703"/>
            <a:ext cx="2542540" cy="2581910"/>
          </a:xfrm>
          <a:prstGeom prst="rect">
            <a:avLst/>
          </a:prstGeom>
        </p:spPr>
        <p:txBody>
          <a:bodyPr vert="horz" wrap="square" lIns="0" tIns="189865" rIns="0" bIns="0" rtlCol="0">
            <a:spAutoFit/>
          </a:bodyPr>
          <a:lstStyle/>
          <a:p>
            <a:pPr marL="240665" indent="-227965">
              <a:lnSpc>
                <a:spcPct val="100000"/>
              </a:lnSpc>
              <a:spcBef>
                <a:spcPts val="1495"/>
              </a:spcBef>
              <a:buFont typeface="Arial"/>
              <a:buChar char="•"/>
              <a:tabLst>
                <a:tab pos="240665" algn="l"/>
                <a:tab pos="241300" algn="l"/>
              </a:tabLst>
            </a:pPr>
            <a:r>
              <a:rPr sz="2150" spc="-55" dirty="0">
                <a:solidFill>
                  <a:srgbClr val="292929"/>
                </a:solidFill>
                <a:latin typeface="Microsoft Sans Serif"/>
                <a:cs typeface="Microsoft Sans Serif"/>
              </a:rPr>
              <a:t>Executive</a:t>
            </a:r>
            <a:r>
              <a:rPr sz="2150" spc="-60" dirty="0">
                <a:solidFill>
                  <a:srgbClr val="292929"/>
                </a:solidFill>
                <a:latin typeface="Microsoft Sans Serif"/>
                <a:cs typeface="Microsoft Sans Serif"/>
              </a:rPr>
              <a:t> </a:t>
            </a:r>
            <a:r>
              <a:rPr sz="2150" spc="-75" dirty="0">
                <a:solidFill>
                  <a:srgbClr val="292929"/>
                </a:solidFill>
                <a:latin typeface="Microsoft Sans Serif"/>
                <a:cs typeface="Microsoft Sans Serif"/>
              </a:rPr>
              <a:t>Summary</a:t>
            </a:r>
            <a:endParaRPr sz="2150">
              <a:latin typeface="Microsoft Sans Serif"/>
              <a:cs typeface="Microsoft Sans Serif"/>
            </a:endParaRPr>
          </a:p>
          <a:p>
            <a:pPr marL="240665" indent="-227965">
              <a:lnSpc>
                <a:spcPct val="100000"/>
              </a:lnSpc>
              <a:spcBef>
                <a:spcPts val="1400"/>
              </a:spcBef>
              <a:buFont typeface="Arial"/>
              <a:buChar char="•"/>
              <a:tabLst>
                <a:tab pos="240665" algn="l"/>
                <a:tab pos="241300" algn="l"/>
              </a:tabLst>
            </a:pPr>
            <a:r>
              <a:rPr sz="2150" spc="-10" dirty="0">
                <a:solidFill>
                  <a:srgbClr val="292929"/>
                </a:solidFill>
                <a:latin typeface="Microsoft Sans Serif"/>
                <a:cs typeface="Microsoft Sans Serif"/>
              </a:rPr>
              <a:t>Introduction</a:t>
            </a:r>
            <a:endParaRPr sz="2150">
              <a:latin typeface="Microsoft Sans Serif"/>
              <a:cs typeface="Microsoft Sans Serif"/>
            </a:endParaRPr>
          </a:p>
          <a:p>
            <a:pPr marL="240665" indent="-227965">
              <a:lnSpc>
                <a:spcPct val="100000"/>
              </a:lnSpc>
              <a:spcBef>
                <a:spcPts val="1475"/>
              </a:spcBef>
              <a:buFont typeface="Arial"/>
              <a:buChar char="•"/>
              <a:tabLst>
                <a:tab pos="240665" algn="l"/>
                <a:tab pos="241300" algn="l"/>
              </a:tabLst>
            </a:pPr>
            <a:r>
              <a:rPr sz="2150" spc="-10" dirty="0">
                <a:solidFill>
                  <a:srgbClr val="292929"/>
                </a:solidFill>
                <a:latin typeface="Microsoft Sans Serif"/>
                <a:cs typeface="Microsoft Sans Serif"/>
              </a:rPr>
              <a:t>Methodology</a:t>
            </a:r>
            <a:endParaRPr sz="2150">
              <a:latin typeface="Microsoft Sans Serif"/>
              <a:cs typeface="Microsoft Sans Serif"/>
            </a:endParaRPr>
          </a:p>
          <a:p>
            <a:pPr marL="240665" indent="-227965">
              <a:lnSpc>
                <a:spcPct val="100000"/>
              </a:lnSpc>
              <a:spcBef>
                <a:spcPts val="1475"/>
              </a:spcBef>
              <a:buFont typeface="Arial"/>
              <a:buChar char="•"/>
              <a:tabLst>
                <a:tab pos="240665" algn="l"/>
                <a:tab pos="241300" algn="l"/>
              </a:tabLst>
            </a:pPr>
            <a:r>
              <a:rPr sz="2150" spc="-10" dirty="0">
                <a:solidFill>
                  <a:srgbClr val="292929"/>
                </a:solidFill>
                <a:latin typeface="Microsoft Sans Serif"/>
                <a:cs typeface="Microsoft Sans Serif"/>
              </a:rPr>
              <a:t>Results</a:t>
            </a:r>
            <a:endParaRPr sz="2150">
              <a:latin typeface="Microsoft Sans Serif"/>
              <a:cs typeface="Microsoft Sans Serif"/>
            </a:endParaRPr>
          </a:p>
          <a:p>
            <a:pPr marL="240665" indent="-227965">
              <a:lnSpc>
                <a:spcPct val="100000"/>
              </a:lnSpc>
              <a:spcBef>
                <a:spcPts val="1475"/>
              </a:spcBef>
              <a:buFont typeface="Arial"/>
              <a:buChar char="•"/>
              <a:tabLst>
                <a:tab pos="240665" algn="l"/>
                <a:tab pos="241300" algn="l"/>
              </a:tabLst>
            </a:pPr>
            <a:r>
              <a:rPr sz="2150" spc="-10" dirty="0">
                <a:solidFill>
                  <a:srgbClr val="292929"/>
                </a:solidFill>
                <a:latin typeface="Microsoft Sans Serif"/>
                <a:cs typeface="Microsoft Sans Serif"/>
              </a:rPr>
              <a:t>Conclusion</a:t>
            </a:r>
            <a:endParaRPr sz="2150">
              <a:latin typeface="Microsoft Sans Serif"/>
              <a:cs typeface="Microsoft Sans Serif"/>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90" dirty="0"/>
              <a:t>2</a:t>
            </a:fld>
            <a:endParaRPr spc="9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35" dirty="0"/>
              <a:t>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4867" y="1358836"/>
            <a:ext cx="4693920" cy="4888518"/>
          </a:xfrm>
          <a:prstGeom prst="rect">
            <a:avLst/>
          </a:prstGeom>
        </p:spPr>
        <p:txBody>
          <a:bodyPr vert="horz" wrap="square" lIns="0" tIns="12700" rIns="0" bIns="0" rtlCol="0">
            <a:spAutoFit/>
          </a:bodyPr>
          <a:lstStyle/>
          <a:p>
            <a:pPr marL="12700">
              <a:lnSpc>
                <a:spcPct val="100000"/>
              </a:lnSpc>
              <a:spcBef>
                <a:spcPts val="100"/>
              </a:spcBef>
            </a:pPr>
            <a:r>
              <a:rPr lang="en-GB" sz="1600" dirty="0"/>
              <a:t>Methodological Overview</a:t>
            </a:r>
          </a:p>
          <a:p>
            <a:pPr marL="12700">
              <a:lnSpc>
                <a:spcPct val="100000"/>
              </a:lnSpc>
              <a:spcBef>
                <a:spcPts val="100"/>
              </a:spcBef>
            </a:pPr>
            <a:endParaRPr lang="en-GB" sz="1200" dirty="0">
              <a:solidFill>
                <a:srgbClr val="7B7B7B"/>
              </a:solidFill>
              <a:latin typeface="Calibri"/>
              <a:cs typeface="Calibri"/>
            </a:endParaRPr>
          </a:p>
          <a:p>
            <a:pPr marL="12700">
              <a:lnSpc>
                <a:spcPct val="100000"/>
              </a:lnSpc>
            </a:pPr>
            <a:r>
              <a:rPr lang="en-GB" sz="1200" dirty="0">
                <a:solidFill>
                  <a:srgbClr val="7B7B7B"/>
                </a:solidFill>
                <a:latin typeface="Calibri"/>
                <a:cs typeface="Calibri"/>
              </a:rPr>
              <a:t>1. </a:t>
            </a:r>
            <a:r>
              <a:rPr lang="en-GB" sz="1200" b="1" u="sng" dirty="0">
                <a:solidFill>
                  <a:srgbClr val="7B7B7B"/>
                </a:solidFill>
                <a:latin typeface="Calibri"/>
                <a:cs typeface="Calibri"/>
              </a:rPr>
              <a:t>Data Acquisition</a:t>
            </a:r>
            <a:r>
              <a:rPr lang="en-GB" sz="1200" dirty="0">
                <a:solidFill>
                  <a:srgbClr val="7B7B7B"/>
                </a:solidFill>
                <a:latin typeface="Calibri"/>
                <a:cs typeface="Calibri"/>
              </a:rPr>
              <a:t>: Gathered primary SpaceX mission data through API integration and supplementary historical records via Wikipedia web scraping.</a:t>
            </a:r>
          </a:p>
          <a:p>
            <a:pPr marL="12700">
              <a:lnSpc>
                <a:spcPct val="100000"/>
              </a:lnSpc>
            </a:pPr>
            <a:endParaRPr lang="en-GB" sz="1200" dirty="0">
              <a:solidFill>
                <a:srgbClr val="7B7B7B"/>
              </a:solidFill>
              <a:latin typeface="Calibri"/>
              <a:cs typeface="Calibri"/>
            </a:endParaRPr>
          </a:p>
          <a:p>
            <a:pPr marL="12700">
              <a:lnSpc>
                <a:spcPct val="100000"/>
              </a:lnSpc>
            </a:pPr>
            <a:r>
              <a:rPr lang="en-GB" sz="1200" dirty="0">
                <a:solidFill>
                  <a:srgbClr val="7B7B7B"/>
                </a:solidFill>
                <a:latin typeface="Calibri"/>
                <a:cs typeface="Calibri"/>
              </a:rPr>
              <a:t>2. </a:t>
            </a:r>
            <a:r>
              <a:rPr lang="en-GB" sz="1200" b="1" u="sng" dirty="0">
                <a:solidFill>
                  <a:srgbClr val="7B7B7B"/>
                </a:solidFill>
                <a:latin typeface="Calibri"/>
                <a:cs typeface="Calibri"/>
              </a:rPr>
              <a:t>Processing &amp; Exploratory Analysis</a:t>
            </a:r>
            <a:r>
              <a:rPr lang="en-GB" sz="1200" dirty="0">
                <a:solidFill>
                  <a:srgbClr val="7B7B7B"/>
                </a:solidFill>
                <a:latin typeface="Calibri"/>
                <a:cs typeface="Calibri"/>
              </a:rPr>
              <a:t>:  Executed data scrubbing and standardization protocols.</a:t>
            </a:r>
          </a:p>
          <a:p>
            <a:pPr marL="12700">
              <a:lnSpc>
                <a:spcPct val="100000"/>
              </a:lnSpc>
            </a:pPr>
            <a:endParaRPr lang="en-GB" sz="1200" dirty="0">
              <a:solidFill>
                <a:srgbClr val="7B7B7B"/>
              </a:solidFill>
              <a:latin typeface="Calibri"/>
              <a:cs typeface="Calibri"/>
            </a:endParaRPr>
          </a:p>
          <a:p>
            <a:pPr marL="241300" lvl="3" indent="-228600">
              <a:buFont typeface="Arial" panose="020B0604020202020204" pitchFamily="34" charset="0"/>
              <a:buChar char="•"/>
            </a:pPr>
            <a:r>
              <a:rPr lang="en-GB" sz="1200" dirty="0">
                <a:solidFill>
                  <a:srgbClr val="7B7B7B"/>
                </a:solidFill>
                <a:latin typeface="Calibri"/>
                <a:cs typeface="Calibri"/>
              </a:rPr>
              <a:t>Migrated datasets to a Db2 database for complex SQL querying.</a:t>
            </a:r>
          </a:p>
          <a:p>
            <a:pPr marL="241300" lvl="3" indent="-228600">
              <a:buFont typeface="Arial" panose="020B0604020202020204" pitchFamily="34" charset="0"/>
              <a:buChar char="•"/>
            </a:pPr>
            <a:r>
              <a:rPr lang="en-GB" sz="1200" dirty="0">
                <a:solidFill>
                  <a:srgbClr val="7B7B7B"/>
                </a:solidFill>
                <a:latin typeface="Calibri"/>
                <a:cs typeface="Calibri"/>
              </a:rPr>
              <a:t>Performed Exploratory Data Analysis (EDA) to uncover initial trends.</a:t>
            </a:r>
          </a:p>
          <a:p>
            <a:pPr marL="12700">
              <a:lnSpc>
                <a:spcPct val="100000"/>
              </a:lnSpc>
            </a:pPr>
            <a:endParaRPr lang="en-GB" sz="1200" dirty="0">
              <a:solidFill>
                <a:srgbClr val="7B7B7B"/>
              </a:solidFill>
              <a:latin typeface="Calibri"/>
              <a:cs typeface="Calibri"/>
            </a:endParaRPr>
          </a:p>
          <a:p>
            <a:pPr marL="12700">
              <a:lnSpc>
                <a:spcPct val="100000"/>
              </a:lnSpc>
            </a:pPr>
            <a:r>
              <a:rPr lang="en-GB" sz="1200" dirty="0">
                <a:solidFill>
                  <a:srgbClr val="7B7B7B"/>
                </a:solidFill>
                <a:latin typeface="Calibri"/>
                <a:cs typeface="Calibri"/>
              </a:rPr>
              <a:t>3. </a:t>
            </a:r>
            <a:r>
              <a:rPr lang="en-GB" sz="1200" b="1" u="sng" dirty="0">
                <a:solidFill>
                  <a:srgbClr val="7B7B7B"/>
                </a:solidFill>
                <a:latin typeface="Calibri"/>
                <a:cs typeface="Calibri"/>
              </a:rPr>
              <a:t>Feature Engineering</a:t>
            </a:r>
            <a:r>
              <a:rPr lang="en-GB" sz="1200" dirty="0">
                <a:solidFill>
                  <a:srgbClr val="7B7B7B"/>
                </a:solidFill>
                <a:latin typeface="Calibri"/>
                <a:cs typeface="Calibri"/>
              </a:rPr>
              <a:t>: Developed custom variables and applied data scaling/standardization to optimize model input.</a:t>
            </a:r>
          </a:p>
          <a:p>
            <a:pPr marL="12700">
              <a:lnSpc>
                <a:spcPct val="100000"/>
              </a:lnSpc>
            </a:pPr>
            <a:endParaRPr lang="en-GB" sz="1200" dirty="0">
              <a:solidFill>
                <a:srgbClr val="7B7B7B"/>
              </a:solidFill>
              <a:latin typeface="Calibri"/>
              <a:cs typeface="Calibri"/>
            </a:endParaRPr>
          </a:p>
          <a:p>
            <a:pPr marL="12700">
              <a:lnSpc>
                <a:spcPct val="100000"/>
              </a:lnSpc>
            </a:pPr>
            <a:r>
              <a:rPr lang="en-GB" sz="1200" dirty="0">
                <a:solidFill>
                  <a:srgbClr val="7B7B7B"/>
                </a:solidFill>
                <a:latin typeface="Calibri"/>
                <a:cs typeface="Calibri"/>
              </a:rPr>
              <a:t>4. </a:t>
            </a:r>
            <a:r>
              <a:rPr lang="en-GB" sz="1200" b="1" u="sng" dirty="0">
                <a:solidFill>
                  <a:srgbClr val="7B7B7B"/>
                </a:solidFill>
                <a:latin typeface="Calibri"/>
                <a:cs typeface="Calibri"/>
              </a:rPr>
              <a:t>Visual Analytics</a:t>
            </a:r>
            <a:r>
              <a:rPr lang="en-GB" sz="1200" dirty="0">
                <a:solidFill>
                  <a:srgbClr val="7B7B7B"/>
                </a:solidFill>
                <a:latin typeface="Calibri"/>
                <a:cs typeface="Calibri"/>
              </a:rPr>
              <a:t>: Generated geospatial maps of launch facilities and recovery zones using Folium.</a:t>
            </a:r>
          </a:p>
          <a:p>
            <a:pPr marL="12700">
              <a:lnSpc>
                <a:spcPct val="100000"/>
              </a:lnSpc>
            </a:pPr>
            <a:endParaRPr lang="en-GB" sz="1200" dirty="0">
              <a:solidFill>
                <a:srgbClr val="7B7B7B"/>
              </a:solidFill>
              <a:latin typeface="Calibri"/>
              <a:cs typeface="Calibri"/>
            </a:endParaRPr>
          </a:p>
          <a:p>
            <a:pPr marL="184150" lvl="1" indent="-171450">
              <a:buFont typeface="Arial" panose="020B0604020202020204" pitchFamily="34" charset="0"/>
              <a:buChar char="•"/>
            </a:pPr>
            <a:r>
              <a:rPr lang="en-GB" sz="1200" dirty="0">
                <a:solidFill>
                  <a:srgbClr val="7B7B7B"/>
                </a:solidFill>
                <a:latin typeface="Calibri"/>
                <a:cs typeface="Calibri"/>
              </a:rPr>
              <a:t>Engineered a dynamic, interactive dashboard via </a:t>
            </a:r>
            <a:r>
              <a:rPr lang="en-GB" sz="1200" dirty="0" err="1">
                <a:solidFill>
                  <a:srgbClr val="7B7B7B"/>
                </a:solidFill>
                <a:latin typeface="Calibri"/>
                <a:cs typeface="Calibri"/>
              </a:rPr>
              <a:t>Plotly</a:t>
            </a:r>
            <a:r>
              <a:rPr lang="en-GB" sz="1200" dirty="0">
                <a:solidFill>
                  <a:srgbClr val="7B7B7B"/>
                </a:solidFill>
                <a:latin typeface="Calibri"/>
                <a:cs typeface="Calibri"/>
              </a:rPr>
              <a:t> Dash.</a:t>
            </a:r>
          </a:p>
          <a:p>
            <a:pPr marL="12700">
              <a:lnSpc>
                <a:spcPct val="100000"/>
              </a:lnSpc>
            </a:pPr>
            <a:endParaRPr lang="en-GB" sz="1200" dirty="0">
              <a:solidFill>
                <a:srgbClr val="7B7B7B"/>
              </a:solidFill>
              <a:latin typeface="Calibri"/>
              <a:cs typeface="Calibri"/>
            </a:endParaRPr>
          </a:p>
          <a:p>
            <a:pPr marL="12700">
              <a:lnSpc>
                <a:spcPct val="100000"/>
              </a:lnSpc>
            </a:pPr>
            <a:r>
              <a:rPr lang="en-GB" sz="1200" dirty="0">
                <a:solidFill>
                  <a:srgbClr val="7B7B7B"/>
                </a:solidFill>
                <a:latin typeface="Calibri"/>
                <a:cs typeface="Calibri"/>
              </a:rPr>
              <a:t>5. </a:t>
            </a:r>
            <a:r>
              <a:rPr lang="en-GB" sz="1200" b="1" u="sng" dirty="0" err="1">
                <a:solidFill>
                  <a:srgbClr val="7B7B7B"/>
                </a:solidFill>
                <a:latin typeface="Calibri"/>
                <a:cs typeface="Calibri"/>
              </a:rPr>
              <a:t>Modeling</a:t>
            </a:r>
            <a:r>
              <a:rPr lang="en-GB" sz="1200" b="1" u="sng" dirty="0">
                <a:solidFill>
                  <a:srgbClr val="7B7B7B"/>
                </a:solidFill>
                <a:latin typeface="Calibri"/>
                <a:cs typeface="Calibri"/>
              </a:rPr>
              <a:t> &amp; Validation</a:t>
            </a:r>
            <a:r>
              <a:rPr lang="en-GB" sz="1200" dirty="0">
                <a:solidFill>
                  <a:srgbClr val="7B7B7B"/>
                </a:solidFill>
                <a:latin typeface="Calibri"/>
                <a:cs typeface="Calibri"/>
              </a:rPr>
              <a:t>: Deployed multiple classification algorithms: Support Vector Machines (SVM), Decision Trees, and K-Nearest </a:t>
            </a:r>
            <a:r>
              <a:rPr lang="en-GB" sz="1200" dirty="0" err="1">
                <a:solidFill>
                  <a:srgbClr val="7B7B7B"/>
                </a:solidFill>
                <a:latin typeface="Calibri"/>
                <a:cs typeface="Calibri"/>
              </a:rPr>
              <a:t>Neighbors</a:t>
            </a:r>
            <a:r>
              <a:rPr lang="en-GB" sz="1200" dirty="0">
                <a:solidFill>
                  <a:srgbClr val="7B7B7B"/>
                </a:solidFill>
                <a:latin typeface="Calibri"/>
                <a:cs typeface="Calibri"/>
              </a:rPr>
              <a:t> (KNN).</a:t>
            </a:r>
          </a:p>
          <a:p>
            <a:pPr marL="12700">
              <a:lnSpc>
                <a:spcPct val="100000"/>
              </a:lnSpc>
            </a:pPr>
            <a:endParaRPr lang="en-GB" sz="1200" dirty="0">
              <a:solidFill>
                <a:srgbClr val="7B7B7B"/>
              </a:solidFill>
              <a:latin typeface="Calibri"/>
              <a:cs typeface="Calibri"/>
            </a:endParaRPr>
          </a:p>
          <a:p>
            <a:pPr marL="184150" indent="-171450">
              <a:lnSpc>
                <a:spcPct val="100000"/>
              </a:lnSpc>
              <a:buFont typeface="Arial" panose="020B0604020202020204" pitchFamily="34" charset="0"/>
              <a:buChar char="•"/>
            </a:pPr>
            <a:r>
              <a:rPr lang="en-GB" sz="1200" dirty="0">
                <a:solidFill>
                  <a:srgbClr val="7B7B7B"/>
                </a:solidFill>
                <a:latin typeface="Calibri"/>
                <a:cs typeface="Calibri"/>
              </a:rPr>
              <a:t>Utilized </a:t>
            </a:r>
            <a:r>
              <a:rPr lang="en-GB" sz="1200" dirty="0" err="1">
                <a:solidFill>
                  <a:srgbClr val="7B7B7B"/>
                </a:solidFill>
                <a:latin typeface="Calibri"/>
                <a:cs typeface="Calibri"/>
              </a:rPr>
              <a:t>GridSearchCV</a:t>
            </a:r>
            <a:r>
              <a:rPr lang="en-GB" sz="1200" dirty="0">
                <a:solidFill>
                  <a:srgbClr val="7B7B7B"/>
                </a:solidFill>
                <a:latin typeface="Calibri"/>
                <a:cs typeface="Calibri"/>
              </a:rPr>
              <a:t> for rigorous hyperparameter optimization.</a:t>
            </a:r>
          </a:p>
          <a:p>
            <a:pPr marL="184150" indent="-171450">
              <a:lnSpc>
                <a:spcPct val="100000"/>
              </a:lnSpc>
              <a:buFont typeface="Arial" panose="020B0604020202020204" pitchFamily="34" charset="0"/>
              <a:buChar char="•"/>
            </a:pPr>
            <a:r>
              <a:rPr lang="en-GB" sz="1200" dirty="0">
                <a:solidFill>
                  <a:srgbClr val="7B7B7B"/>
                </a:solidFill>
                <a:latin typeface="Calibri"/>
                <a:cs typeface="Calibri"/>
              </a:rPr>
              <a:t>Validated predictive power using test-set accuracy metrics.</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90" dirty="0"/>
              <a:t>3</a:t>
            </a:fld>
            <a:endParaRPr spc="9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10" dirty="0"/>
              <a:t>Executive</a:t>
            </a:r>
            <a:r>
              <a:rPr spc="-90" dirty="0"/>
              <a:t> </a:t>
            </a:r>
            <a:r>
              <a:rPr spc="-145" dirty="0"/>
              <a:t>Summary</a:t>
            </a:r>
          </a:p>
        </p:txBody>
      </p:sp>
      <p:sp>
        <p:nvSpPr>
          <p:cNvPr id="13" name="object 2">
            <a:extLst>
              <a:ext uri="{FF2B5EF4-FFF2-40B4-BE49-F238E27FC236}">
                <a16:creationId xmlns:a16="http://schemas.microsoft.com/office/drawing/2014/main" id="{51346FDB-3864-1D88-0CE5-3CEB9BD30178}"/>
              </a:ext>
            </a:extLst>
          </p:cNvPr>
          <p:cNvSpPr txBox="1"/>
          <p:nvPr/>
        </p:nvSpPr>
        <p:spPr>
          <a:xfrm>
            <a:off x="5867400" y="1351045"/>
            <a:ext cx="4693920" cy="3595856"/>
          </a:xfrm>
          <a:prstGeom prst="rect">
            <a:avLst/>
          </a:prstGeom>
        </p:spPr>
        <p:txBody>
          <a:bodyPr vert="horz" wrap="square" lIns="0" tIns="12700" rIns="0" bIns="0" rtlCol="0">
            <a:spAutoFit/>
          </a:bodyPr>
          <a:lstStyle/>
          <a:p>
            <a:pPr marL="12700">
              <a:lnSpc>
                <a:spcPct val="100000"/>
              </a:lnSpc>
              <a:spcBef>
                <a:spcPts val="100"/>
              </a:spcBef>
            </a:pPr>
            <a:r>
              <a:rPr lang="en-GB" sz="1600" dirty="0"/>
              <a:t>Summary of Results</a:t>
            </a:r>
          </a:p>
          <a:p>
            <a:pPr marL="12700">
              <a:lnSpc>
                <a:spcPct val="100000"/>
              </a:lnSpc>
              <a:spcBef>
                <a:spcPts val="100"/>
              </a:spcBef>
            </a:pPr>
            <a:endParaRPr lang="en-GB" sz="1200" dirty="0">
              <a:solidFill>
                <a:srgbClr val="7B7B7B"/>
              </a:solidFill>
              <a:latin typeface="Calibri"/>
              <a:cs typeface="Calibri"/>
            </a:endParaRPr>
          </a:p>
          <a:p>
            <a:pPr marL="241300" indent="-228600">
              <a:lnSpc>
                <a:spcPct val="100000"/>
              </a:lnSpc>
              <a:buAutoNum type="arabicPeriod"/>
            </a:pPr>
            <a:r>
              <a:rPr lang="en-GB" sz="1200" b="1" u="sng" dirty="0">
                <a:solidFill>
                  <a:srgbClr val="7B7B7B"/>
                </a:solidFill>
                <a:latin typeface="Calibri"/>
                <a:cs typeface="Calibri"/>
              </a:rPr>
              <a:t>Data Insights</a:t>
            </a:r>
          </a:p>
          <a:p>
            <a:pPr marL="241300" indent="-228600">
              <a:lnSpc>
                <a:spcPct val="100000"/>
              </a:lnSpc>
              <a:buAutoNum type="arabicPeriod"/>
            </a:pPr>
            <a:endParaRPr lang="en-GB" sz="1200" b="1" u="sng" dirty="0">
              <a:solidFill>
                <a:srgbClr val="7B7B7B"/>
              </a:solidFill>
              <a:latin typeface="Calibri"/>
              <a:cs typeface="Calibri"/>
            </a:endParaRPr>
          </a:p>
          <a:p>
            <a:pPr marL="241300" indent="-228600">
              <a:lnSpc>
                <a:spcPct val="100000"/>
              </a:lnSpc>
              <a:buFont typeface="Arial" panose="020B0604020202020204" pitchFamily="34" charset="0"/>
              <a:buChar char="•"/>
            </a:pPr>
            <a:r>
              <a:rPr lang="en-GB" sz="1200" dirty="0">
                <a:solidFill>
                  <a:srgbClr val="7B7B7B"/>
                </a:solidFill>
                <a:latin typeface="Calibri"/>
                <a:cs typeface="Calibri"/>
              </a:rPr>
              <a:t>Isolated the key operational variables that correlate with booster recovery success.</a:t>
            </a:r>
          </a:p>
          <a:p>
            <a:pPr marL="241300" indent="-228600">
              <a:lnSpc>
                <a:spcPct val="100000"/>
              </a:lnSpc>
              <a:buFont typeface="Arial" panose="020B0604020202020204" pitchFamily="34" charset="0"/>
              <a:buChar char="•"/>
            </a:pPr>
            <a:r>
              <a:rPr lang="en-GB" sz="1200" dirty="0">
                <a:solidFill>
                  <a:srgbClr val="7B7B7B"/>
                </a:solidFill>
                <a:latin typeface="Calibri"/>
                <a:cs typeface="Calibri"/>
              </a:rPr>
              <a:t>Mapped spatial distribution and mission-specific success rates.</a:t>
            </a:r>
          </a:p>
          <a:p>
            <a:pPr marL="241300" indent="-228600">
              <a:lnSpc>
                <a:spcPct val="100000"/>
              </a:lnSpc>
              <a:buFont typeface="Arial" panose="020B0604020202020204" pitchFamily="34" charset="0"/>
              <a:buChar char="•"/>
            </a:pPr>
            <a:endParaRPr lang="en-GB" sz="1200" dirty="0">
              <a:solidFill>
                <a:srgbClr val="7B7B7B"/>
              </a:solidFill>
              <a:latin typeface="Calibri"/>
              <a:cs typeface="Calibri"/>
            </a:endParaRPr>
          </a:p>
          <a:p>
            <a:pPr marL="12700">
              <a:lnSpc>
                <a:spcPct val="100000"/>
              </a:lnSpc>
            </a:pPr>
            <a:r>
              <a:rPr lang="en-GB" sz="1200" dirty="0">
                <a:solidFill>
                  <a:srgbClr val="7B7B7B"/>
                </a:solidFill>
                <a:latin typeface="Calibri"/>
                <a:cs typeface="Calibri"/>
              </a:rPr>
              <a:t>2. </a:t>
            </a:r>
            <a:r>
              <a:rPr lang="en-GB" sz="1200" b="1" u="sng" dirty="0">
                <a:solidFill>
                  <a:srgbClr val="7B7B7B"/>
                </a:solidFill>
                <a:latin typeface="Calibri"/>
                <a:cs typeface="Calibri"/>
              </a:rPr>
              <a:t>Model Benchmarking</a:t>
            </a:r>
          </a:p>
          <a:p>
            <a:pPr marL="12700">
              <a:lnSpc>
                <a:spcPct val="100000"/>
              </a:lnSpc>
            </a:pPr>
            <a:endParaRPr lang="en-GB" sz="1200" b="1" u="sng" dirty="0">
              <a:solidFill>
                <a:srgbClr val="7B7B7B"/>
              </a:solidFill>
              <a:latin typeface="Calibri"/>
              <a:cs typeface="Calibri"/>
            </a:endParaRPr>
          </a:p>
          <a:p>
            <a:pPr marL="184150" indent="-171450">
              <a:lnSpc>
                <a:spcPct val="100000"/>
              </a:lnSpc>
              <a:buFont typeface="Arial" panose="020B0604020202020204" pitchFamily="34" charset="0"/>
              <a:buChar char="•"/>
            </a:pPr>
            <a:r>
              <a:rPr lang="en-GB" sz="1200" dirty="0">
                <a:solidFill>
                  <a:srgbClr val="7B7B7B"/>
                </a:solidFill>
                <a:latin typeface="Calibri"/>
                <a:cs typeface="Calibri"/>
              </a:rPr>
              <a:t>Decision Tree: Achieved the highest performance with 94.44% accuracy.</a:t>
            </a:r>
          </a:p>
          <a:p>
            <a:pPr marL="184150" indent="-171450">
              <a:lnSpc>
                <a:spcPct val="100000"/>
              </a:lnSpc>
              <a:buFont typeface="Arial" panose="020B0604020202020204" pitchFamily="34" charset="0"/>
              <a:buChar char="•"/>
            </a:pPr>
            <a:r>
              <a:rPr lang="en-GB" sz="1200" dirty="0">
                <a:solidFill>
                  <a:srgbClr val="7B7B7B"/>
                </a:solidFill>
                <a:latin typeface="Calibri"/>
                <a:cs typeface="Calibri"/>
              </a:rPr>
              <a:t>SVM &amp; KNN: Tied with a strong performance of 83.33% accuracy</a:t>
            </a:r>
          </a:p>
          <a:p>
            <a:pPr marL="12700">
              <a:lnSpc>
                <a:spcPct val="100000"/>
              </a:lnSpc>
            </a:pPr>
            <a:endParaRPr lang="en-GB" sz="1200" dirty="0">
              <a:solidFill>
                <a:srgbClr val="7B7B7B"/>
              </a:solidFill>
              <a:latin typeface="Calibri"/>
              <a:cs typeface="Calibri"/>
            </a:endParaRPr>
          </a:p>
          <a:p>
            <a:pPr marL="12700">
              <a:lnSpc>
                <a:spcPct val="100000"/>
              </a:lnSpc>
            </a:pPr>
            <a:r>
              <a:rPr lang="en-GB" sz="1200" dirty="0">
                <a:solidFill>
                  <a:srgbClr val="7B7B7B"/>
                </a:solidFill>
                <a:latin typeface="Calibri"/>
                <a:cs typeface="Calibri"/>
              </a:rPr>
              <a:t>3. </a:t>
            </a:r>
            <a:r>
              <a:rPr lang="en-GB" sz="1200" b="1" u="sng" dirty="0">
                <a:solidFill>
                  <a:srgbClr val="7B7B7B"/>
                </a:solidFill>
                <a:latin typeface="Calibri"/>
                <a:cs typeface="Calibri"/>
              </a:rPr>
              <a:t>Final Conclusions</a:t>
            </a:r>
          </a:p>
          <a:p>
            <a:pPr marL="12700">
              <a:lnSpc>
                <a:spcPct val="100000"/>
              </a:lnSpc>
            </a:pPr>
            <a:endParaRPr lang="en-GB" sz="1200" dirty="0">
              <a:solidFill>
                <a:srgbClr val="7B7B7B"/>
              </a:solidFill>
              <a:latin typeface="Calibri"/>
              <a:cs typeface="Calibri"/>
            </a:endParaRPr>
          </a:p>
          <a:p>
            <a:pPr marL="184150" indent="-171450">
              <a:lnSpc>
                <a:spcPct val="100000"/>
              </a:lnSpc>
              <a:buFont typeface="Arial" panose="020B0604020202020204" pitchFamily="34" charset="0"/>
              <a:buChar char="•"/>
            </a:pPr>
            <a:r>
              <a:rPr lang="en-GB" sz="1200" dirty="0">
                <a:solidFill>
                  <a:srgbClr val="7B7B7B"/>
                </a:solidFill>
                <a:latin typeface="Calibri"/>
                <a:cs typeface="Calibri"/>
              </a:rPr>
              <a:t>Critical Drivers: Statistical analysis confirms that launch site location and payload weight are the primary predictors of landing outcomes.</a:t>
            </a:r>
          </a:p>
          <a:p>
            <a:pPr marL="184150" indent="-171450">
              <a:lnSpc>
                <a:spcPct val="100000"/>
              </a:lnSpc>
              <a:buFont typeface="Arial" panose="020B0604020202020204" pitchFamily="34" charset="0"/>
              <a:buChar char="•"/>
            </a:pPr>
            <a:r>
              <a:rPr lang="en-GB" sz="1200" dirty="0">
                <a:solidFill>
                  <a:srgbClr val="7B7B7B"/>
                </a:solidFill>
                <a:latin typeface="Calibri"/>
                <a:cs typeface="Calibri"/>
              </a:rPr>
              <a:t>Optimal Solution: The Decision Tree model stands as the superior predictive tool for estimating Falcon 9 reusability.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70485">
              <a:lnSpc>
                <a:spcPct val="100000"/>
              </a:lnSpc>
              <a:spcBef>
                <a:spcPts val="130"/>
              </a:spcBef>
            </a:pPr>
            <a:r>
              <a:rPr spc="-10" dirty="0"/>
              <a:t>Introduction</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90" dirty="0"/>
              <a:t>4</a:t>
            </a:fld>
            <a:endParaRPr spc="90" dirty="0"/>
          </a:p>
        </p:txBody>
      </p:sp>
      <p:sp>
        <p:nvSpPr>
          <p:cNvPr id="3" name="object 3"/>
          <p:cNvSpPr txBox="1"/>
          <p:nvPr/>
        </p:nvSpPr>
        <p:spPr>
          <a:xfrm>
            <a:off x="1038225" y="1376362"/>
            <a:ext cx="9719310" cy="5010987"/>
          </a:xfrm>
          <a:prstGeom prst="rect">
            <a:avLst/>
          </a:prstGeom>
        </p:spPr>
        <p:txBody>
          <a:bodyPr vert="horz" wrap="square" lIns="0" tIns="136525" rIns="0" bIns="0" rtlCol="0">
            <a:spAutoFit/>
          </a:bodyPr>
          <a:lstStyle/>
          <a:p>
            <a:pPr marL="12700">
              <a:lnSpc>
                <a:spcPct val="100000"/>
              </a:lnSpc>
              <a:spcBef>
                <a:spcPts val="1075"/>
              </a:spcBef>
            </a:pPr>
            <a:r>
              <a:rPr sz="2000" b="1" dirty="0">
                <a:solidFill>
                  <a:srgbClr val="292929"/>
                </a:solidFill>
                <a:latin typeface="Calibri" panose="020F0502020204030204" pitchFamily="34" charset="0"/>
                <a:ea typeface="Calibri" panose="020F0502020204030204" pitchFamily="34" charset="0"/>
                <a:cs typeface="Calibri" panose="020F0502020204030204" pitchFamily="34" charset="0"/>
              </a:rPr>
              <a:t>Project</a:t>
            </a:r>
            <a:r>
              <a:rPr sz="2000" b="1" spc="-80" dirty="0">
                <a:solidFill>
                  <a:srgbClr val="292929"/>
                </a:solidFill>
                <a:latin typeface="Calibri" panose="020F0502020204030204" pitchFamily="34" charset="0"/>
                <a:ea typeface="Calibri" panose="020F0502020204030204" pitchFamily="34" charset="0"/>
                <a:cs typeface="Calibri" panose="020F0502020204030204" pitchFamily="34" charset="0"/>
              </a:rPr>
              <a:t> </a:t>
            </a:r>
            <a:r>
              <a:rPr sz="2000" b="1" dirty="0">
                <a:solidFill>
                  <a:srgbClr val="292929"/>
                </a:solidFill>
                <a:latin typeface="Calibri" panose="020F0502020204030204" pitchFamily="34" charset="0"/>
                <a:ea typeface="Calibri" panose="020F0502020204030204" pitchFamily="34" charset="0"/>
                <a:cs typeface="Calibri" panose="020F0502020204030204" pitchFamily="34" charset="0"/>
              </a:rPr>
              <a:t>Background</a:t>
            </a:r>
            <a:r>
              <a:rPr sz="2000" b="1" spc="-25" dirty="0">
                <a:solidFill>
                  <a:srgbClr val="292929"/>
                </a:solidFill>
                <a:latin typeface="Calibri" panose="020F0502020204030204" pitchFamily="34" charset="0"/>
                <a:ea typeface="Calibri" panose="020F0502020204030204" pitchFamily="34" charset="0"/>
                <a:cs typeface="Calibri" panose="020F0502020204030204" pitchFamily="34" charset="0"/>
              </a:rPr>
              <a:t> </a:t>
            </a:r>
            <a:r>
              <a:rPr sz="2000" b="1" dirty="0">
                <a:solidFill>
                  <a:srgbClr val="292929"/>
                </a:solidFill>
                <a:latin typeface="Calibri" panose="020F0502020204030204" pitchFamily="34" charset="0"/>
                <a:ea typeface="Calibri" panose="020F0502020204030204" pitchFamily="34" charset="0"/>
                <a:cs typeface="Calibri" panose="020F0502020204030204" pitchFamily="34" charset="0"/>
              </a:rPr>
              <a:t>and</a:t>
            </a:r>
            <a:r>
              <a:rPr sz="2000" b="1" spc="-25" dirty="0">
                <a:solidFill>
                  <a:srgbClr val="292929"/>
                </a:solidFill>
                <a:latin typeface="Calibri" panose="020F0502020204030204" pitchFamily="34" charset="0"/>
                <a:ea typeface="Calibri" panose="020F0502020204030204" pitchFamily="34" charset="0"/>
                <a:cs typeface="Calibri" panose="020F0502020204030204" pitchFamily="34" charset="0"/>
              </a:rPr>
              <a:t> </a:t>
            </a:r>
            <a:r>
              <a:rPr sz="2000" b="1" spc="-10" dirty="0">
                <a:solidFill>
                  <a:srgbClr val="292929"/>
                </a:solidFill>
                <a:latin typeface="Calibri" panose="020F0502020204030204" pitchFamily="34" charset="0"/>
                <a:ea typeface="Calibri" panose="020F0502020204030204" pitchFamily="34" charset="0"/>
                <a:cs typeface="Calibri" panose="020F0502020204030204" pitchFamily="34" charset="0"/>
              </a:rPr>
              <a:t>Context:</a:t>
            </a:r>
            <a:endParaRPr sz="2000" dirty="0">
              <a:latin typeface="Calibri" panose="020F0502020204030204" pitchFamily="34" charset="0"/>
              <a:ea typeface="Calibri" panose="020F0502020204030204" pitchFamily="34" charset="0"/>
              <a:cs typeface="Calibri" panose="020F0502020204030204" pitchFamily="34" charset="0"/>
            </a:endParaRPr>
          </a:p>
          <a:p>
            <a:pPr marL="241300" marR="5080">
              <a:lnSpc>
                <a:spcPct val="100000"/>
              </a:lnSpc>
              <a:spcBef>
                <a:spcPts val="980"/>
              </a:spcBef>
            </a:pPr>
            <a:r>
              <a:rPr lang="en-GB" sz="2000" dirty="0">
                <a:latin typeface="Calibri" panose="020F0502020204030204" pitchFamily="34" charset="0"/>
                <a:ea typeface="Calibri" panose="020F0502020204030204" pitchFamily="34" charset="0"/>
                <a:cs typeface="Calibri" panose="020F0502020204030204" pitchFamily="34" charset="0"/>
              </a:rPr>
              <a:t>The primary objective of this capstone project is to forecast whether the Falcon 9 first stage will land successfully. SpaceX’s competitive pricing strategy is built upon the reusability of its rocket stages; therefore, establishing a reliable prediction model allows us to approximate launch expenses and offers a strategic edge to competitors during the bidding process.</a:t>
            </a:r>
          </a:p>
          <a:p>
            <a:pPr marL="241300" marR="5080">
              <a:lnSpc>
                <a:spcPct val="100000"/>
              </a:lnSpc>
              <a:spcBef>
                <a:spcPts val="980"/>
              </a:spcBef>
            </a:pPr>
            <a:endParaRPr sz="2000" dirty="0">
              <a:latin typeface="Calibri" panose="020F0502020204030204" pitchFamily="34" charset="0"/>
              <a:ea typeface="Calibri" panose="020F0502020204030204" pitchFamily="34" charset="0"/>
              <a:cs typeface="Calibri" panose="020F0502020204030204" pitchFamily="34" charset="0"/>
            </a:endParaRPr>
          </a:p>
          <a:p>
            <a:r>
              <a:rPr lang="en-GB" sz="2000" b="1" dirty="0">
                <a:latin typeface="Calibri" panose="020F0502020204030204" pitchFamily="34" charset="0"/>
                <a:ea typeface="Calibri" panose="020F0502020204030204" pitchFamily="34" charset="0"/>
                <a:cs typeface="Calibri" panose="020F0502020204030204" pitchFamily="34" charset="0"/>
              </a:rPr>
              <a:t>Core Research Questions:</a:t>
            </a:r>
          </a:p>
          <a:p>
            <a:endParaRPr lang="en-GB" sz="1050" b="1" dirty="0">
              <a:latin typeface="Calibri" panose="020F0502020204030204" pitchFamily="34" charset="0"/>
              <a:ea typeface="Calibri" panose="020F0502020204030204" pitchFamily="34" charset="0"/>
              <a:cs typeface="Calibri" panose="020F0502020204030204" pitchFamily="34" charset="0"/>
            </a:endParaRPr>
          </a:p>
          <a:p>
            <a:pPr lvl="1"/>
            <a:r>
              <a:rPr lang="en-GB" sz="2000" b="1" dirty="0">
                <a:latin typeface="Calibri" panose="020F0502020204030204" pitchFamily="34" charset="0"/>
                <a:ea typeface="Calibri" panose="020F0502020204030204" pitchFamily="34" charset="0"/>
                <a:cs typeface="Calibri" panose="020F0502020204030204" pitchFamily="34" charset="0"/>
              </a:rPr>
              <a:t>	</a:t>
            </a:r>
            <a:r>
              <a:rPr lang="en-GB" sz="2000" b="1" u="sng" dirty="0">
                <a:latin typeface="Calibri" panose="020F0502020204030204" pitchFamily="34" charset="0"/>
                <a:ea typeface="Calibri" panose="020F0502020204030204" pitchFamily="34" charset="0"/>
                <a:cs typeface="Calibri" panose="020F0502020204030204" pitchFamily="34" charset="0"/>
              </a:rPr>
              <a:t>Variable Analysis:</a:t>
            </a:r>
            <a:r>
              <a:rPr lang="en-GB" sz="2000" u="sng" dirty="0">
                <a:latin typeface="Calibri" panose="020F0502020204030204" pitchFamily="34" charset="0"/>
                <a:ea typeface="Calibri" panose="020F0502020204030204" pitchFamily="34" charset="0"/>
                <a:cs typeface="Calibri" panose="020F0502020204030204" pitchFamily="34" charset="0"/>
              </a:rPr>
              <a:t> </a:t>
            </a:r>
            <a:r>
              <a:rPr lang="en-GB" sz="2000" dirty="0">
                <a:latin typeface="Calibri" panose="020F0502020204030204" pitchFamily="34" charset="0"/>
                <a:ea typeface="Calibri" panose="020F0502020204030204" pitchFamily="34" charset="0"/>
                <a:cs typeface="Calibri" panose="020F0502020204030204" pitchFamily="34" charset="0"/>
              </a:rPr>
              <a:t>What specific parameters play the most critical role in the 	successful recovery of a Falcon 9 first stage?</a:t>
            </a:r>
          </a:p>
          <a:p>
            <a:pPr lvl="1"/>
            <a:r>
              <a:rPr lang="en-GB" sz="2000" b="1" dirty="0">
                <a:latin typeface="Calibri" panose="020F0502020204030204" pitchFamily="34" charset="0"/>
                <a:ea typeface="Calibri" panose="020F0502020204030204" pitchFamily="34" charset="0"/>
                <a:cs typeface="Calibri" panose="020F0502020204030204" pitchFamily="34" charset="0"/>
              </a:rPr>
              <a:t>	</a:t>
            </a:r>
            <a:r>
              <a:rPr lang="en-GB" sz="2000" b="1" u="sng" dirty="0">
                <a:latin typeface="Calibri" panose="020F0502020204030204" pitchFamily="34" charset="0"/>
                <a:ea typeface="Calibri" panose="020F0502020204030204" pitchFamily="34" charset="0"/>
                <a:cs typeface="Calibri" panose="020F0502020204030204" pitchFamily="34" charset="0"/>
              </a:rPr>
              <a:t>Predictive </a:t>
            </a:r>
            <a:r>
              <a:rPr lang="en-GB" sz="2000" b="1" u="sng" dirty="0" err="1">
                <a:latin typeface="Calibri" panose="020F0502020204030204" pitchFamily="34" charset="0"/>
                <a:ea typeface="Calibri" panose="020F0502020204030204" pitchFamily="34" charset="0"/>
                <a:cs typeface="Calibri" panose="020F0502020204030204" pitchFamily="34" charset="0"/>
              </a:rPr>
              <a:t>Modeling</a:t>
            </a:r>
            <a:r>
              <a:rPr lang="en-GB" sz="2000" b="1" dirty="0">
                <a:latin typeface="Calibri" panose="020F0502020204030204" pitchFamily="34" charset="0"/>
                <a:ea typeface="Calibri" panose="020F0502020204030204" pitchFamily="34" charset="0"/>
                <a:cs typeface="Calibri" panose="020F0502020204030204" pitchFamily="34" charset="0"/>
              </a:rPr>
              <a:t>:</a:t>
            </a:r>
            <a:r>
              <a:rPr lang="en-GB" sz="2000" dirty="0">
                <a:latin typeface="Calibri" panose="020F0502020204030204" pitchFamily="34" charset="0"/>
                <a:ea typeface="Calibri" panose="020F0502020204030204" pitchFamily="34" charset="0"/>
                <a:cs typeface="Calibri" panose="020F0502020204030204" pitchFamily="34" charset="0"/>
              </a:rPr>
              <a:t> In what ways can we utilize machine learning architectures to 	anticipate landing results with high precision?</a:t>
            </a:r>
          </a:p>
          <a:p>
            <a:pPr lvl="1"/>
            <a:r>
              <a:rPr lang="en-GB" sz="2000" b="1" dirty="0">
                <a:latin typeface="Calibri" panose="020F0502020204030204" pitchFamily="34" charset="0"/>
                <a:ea typeface="Calibri" panose="020F0502020204030204" pitchFamily="34" charset="0"/>
                <a:cs typeface="Calibri" panose="020F0502020204030204" pitchFamily="34" charset="0"/>
              </a:rPr>
              <a:t>	</a:t>
            </a:r>
            <a:r>
              <a:rPr lang="en-GB" sz="2000" b="1" u="sng" dirty="0">
                <a:latin typeface="Calibri" panose="020F0502020204030204" pitchFamily="34" charset="0"/>
                <a:ea typeface="Calibri" panose="020F0502020204030204" pitchFamily="34" charset="0"/>
                <a:cs typeface="Calibri" panose="020F0502020204030204" pitchFamily="34" charset="0"/>
              </a:rPr>
              <a:t>Comparative Performance</a:t>
            </a:r>
            <a:r>
              <a:rPr lang="en-GB" sz="2000" b="1" dirty="0">
                <a:latin typeface="Calibri" panose="020F0502020204030204" pitchFamily="34" charset="0"/>
                <a:ea typeface="Calibri" panose="020F0502020204030204" pitchFamily="34" charset="0"/>
                <a:cs typeface="Calibri" panose="020F0502020204030204" pitchFamily="34" charset="0"/>
              </a:rPr>
              <a:t>:</a:t>
            </a:r>
            <a:r>
              <a:rPr lang="en-GB" sz="2000" dirty="0">
                <a:latin typeface="Calibri" panose="020F0502020204030204" pitchFamily="34" charset="0"/>
                <a:ea typeface="Calibri" panose="020F0502020204030204" pitchFamily="34" charset="0"/>
                <a:cs typeface="Calibri" panose="020F0502020204030204" pitchFamily="34" charset="0"/>
              </a:rPr>
              <a:t> Which specific machine learning algorithm yields the 	highest accuracy for this classification task?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6857998"/>
          </a:xfrm>
          <a:prstGeom prst="rect">
            <a:avLst/>
          </a:prstGeom>
        </p:spPr>
      </p:pic>
      <p:sp>
        <p:nvSpPr>
          <p:cNvPr id="3" name="object 3"/>
          <p:cNvSpPr txBox="1"/>
          <p:nvPr/>
        </p:nvSpPr>
        <p:spPr>
          <a:xfrm>
            <a:off x="11973559" y="6403657"/>
            <a:ext cx="146685" cy="266065"/>
          </a:xfrm>
          <a:prstGeom prst="rect">
            <a:avLst/>
          </a:prstGeom>
        </p:spPr>
        <p:txBody>
          <a:bodyPr vert="horz" wrap="square" lIns="0" tIns="15875" rIns="0" bIns="0" rtlCol="0">
            <a:spAutoFit/>
          </a:bodyPr>
          <a:lstStyle/>
          <a:p>
            <a:pPr marL="12700">
              <a:lnSpc>
                <a:spcPct val="100000"/>
              </a:lnSpc>
              <a:spcBef>
                <a:spcPts val="125"/>
              </a:spcBef>
            </a:pPr>
            <a:r>
              <a:rPr sz="1550" spc="90" dirty="0">
                <a:solidFill>
                  <a:srgbClr val="1C7CDB"/>
                </a:solidFill>
                <a:latin typeface="Microsoft Sans Serif"/>
                <a:cs typeface="Microsoft Sans Serif"/>
              </a:rPr>
              <a:t>5</a:t>
            </a:r>
            <a:endParaRPr sz="1550">
              <a:latin typeface="Microsoft Sans Serif"/>
              <a:cs typeface="Microsoft Sans Serif"/>
            </a:endParaRPr>
          </a:p>
        </p:txBody>
      </p:sp>
      <p:sp>
        <p:nvSpPr>
          <p:cNvPr id="4" name="object 4"/>
          <p:cNvSpPr txBox="1"/>
          <p:nvPr/>
        </p:nvSpPr>
        <p:spPr>
          <a:xfrm>
            <a:off x="762000" y="2809875"/>
            <a:ext cx="1057275" cy="371475"/>
          </a:xfrm>
          <a:prstGeom prst="rect">
            <a:avLst/>
          </a:prstGeom>
          <a:solidFill>
            <a:srgbClr val="0947CA"/>
          </a:solidFill>
        </p:spPr>
        <p:txBody>
          <a:bodyPr vert="horz" wrap="square" lIns="0" tIns="33655" rIns="0" bIns="0" rtlCol="0">
            <a:spAutoFit/>
          </a:bodyPr>
          <a:lstStyle/>
          <a:p>
            <a:pPr marL="95250">
              <a:lnSpc>
                <a:spcPct val="100000"/>
              </a:lnSpc>
              <a:spcBef>
                <a:spcPts val="265"/>
              </a:spcBef>
            </a:pPr>
            <a:r>
              <a:rPr sz="1800" dirty="0">
                <a:solidFill>
                  <a:srgbClr val="FFFFFF"/>
                </a:solidFill>
                <a:latin typeface="Calibri"/>
                <a:cs typeface="Calibri"/>
              </a:rPr>
              <a:t>Section</a:t>
            </a:r>
            <a:r>
              <a:rPr sz="1800" spc="15" dirty="0">
                <a:solidFill>
                  <a:srgbClr val="FFFFFF"/>
                </a:solidFill>
                <a:latin typeface="Calibri"/>
                <a:cs typeface="Calibri"/>
              </a:rPr>
              <a:t> </a:t>
            </a:r>
            <a:r>
              <a:rPr sz="1800" spc="-50" dirty="0">
                <a:solidFill>
                  <a:srgbClr val="FFFFFF"/>
                </a:solidFill>
                <a:latin typeface="Calibri"/>
                <a:cs typeface="Calibri"/>
              </a:rPr>
              <a:t>1</a:t>
            </a:r>
            <a:endParaRPr sz="18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414716"/>
            <a:ext cx="10194925" cy="4935325"/>
          </a:xfrm>
          <a:prstGeom prst="rect">
            <a:avLst/>
          </a:prstGeom>
        </p:spPr>
        <p:txBody>
          <a:bodyPr vert="horz" wrap="square" lIns="0" tIns="10795" rIns="0" bIns="0" rtlCol="0">
            <a:spAutoFit/>
          </a:bodyPr>
          <a:lstStyle/>
          <a:p>
            <a:r>
              <a:rPr lang="en-GB" sz="1600" b="1" dirty="0">
                <a:latin typeface="+mn-lt"/>
              </a:rPr>
              <a:t>Executive Summary</a:t>
            </a:r>
          </a:p>
          <a:p>
            <a:r>
              <a:rPr lang="en-GB" sz="1600" dirty="0">
                <a:latin typeface="+mn-lt"/>
              </a:rPr>
              <a:t>This study utilizes an end-to-end data science pipeline to forecast the landing success of the Falcon 9 first stage. The workflow integrates automated data acquisition, rigorous preprocessing, exploratory analytics, interactive mapping, and machine learning classification.</a:t>
            </a:r>
          </a:p>
          <a:p>
            <a:endParaRPr lang="en-GB" sz="1600" dirty="0">
              <a:latin typeface="+mn-lt"/>
            </a:endParaRPr>
          </a:p>
          <a:p>
            <a:r>
              <a:rPr lang="en-GB" sz="1600" b="1" dirty="0">
                <a:latin typeface="+mn-lt"/>
              </a:rPr>
              <a:t>Data Acquisition Strategy</a:t>
            </a:r>
          </a:p>
          <a:p>
            <a:r>
              <a:rPr lang="en-GB" sz="1600" dirty="0">
                <a:latin typeface="+mn-lt"/>
              </a:rPr>
              <a:t>Primary data was retrieved via the </a:t>
            </a:r>
            <a:r>
              <a:rPr lang="en-GB" sz="1600" b="1" dirty="0">
                <a:latin typeface="+mn-lt"/>
              </a:rPr>
              <a:t>SpaceX REST API</a:t>
            </a:r>
            <a:r>
              <a:rPr lang="en-GB" sz="1600" dirty="0">
                <a:latin typeface="+mn-lt"/>
              </a:rPr>
              <a:t>, yielding a comprehensive dataset of flight history, including launch coordinates, payload specifics, and mission recovery statuses.</a:t>
            </a:r>
          </a:p>
          <a:p>
            <a:endParaRPr lang="en-GB" sz="1600" dirty="0">
              <a:latin typeface="+mn-lt"/>
            </a:endParaRPr>
          </a:p>
          <a:p>
            <a:r>
              <a:rPr lang="en-GB" sz="1600" b="1" dirty="0">
                <a:latin typeface="+mn-lt"/>
              </a:rPr>
              <a:t>Data Wrangling &amp; Engineering</a:t>
            </a:r>
          </a:p>
          <a:p>
            <a:r>
              <a:rPr lang="en-GB" sz="1600" dirty="0">
                <a:latin typeface="+mn-lt"/>
              </a:rPr>
              <a:t>The raw data underwent a systematic cleaning process to address null values and standardize formatting. Beyond basic cleanup, we performed </a:t>
            </a:r>
            <a:r>
              <a:rPr lang="en-GB" sz="1600" b="1" dirty="0">
                <a:latin typeface="+mn-lt"/>
              </a:rPr>
              <a:t>feature engineering</a:t>
            </a:r>
            <a:r>
              <a:rPr lang="en-GB" sz="1600" dirty="0">
                <a:latin typeface="+mn-lt"/>
              </a:rPr>
              <a:t> to derive new predictors and enrich the model's training environment.</a:t>
            </a:r>
          </a:p>
          <a:p>
            <a:endParaRPr lang="en-GB" sz="1600" dirty="0">
              <a:latin typeface="+mn-lt"/>
            </a:endParaRPr>
          </a:p>
          <a:p>
            <a:r>
              <a:rPr lang="en-GB" sz="1600" b="1" dirty="0">
                <a:latin typeface="+mn-lt"/>
              </a:rPr>
              <a:t>Exploratory Data Analysis (EDA)</a:t>
            </a:r>
          </a:p>
          <a:p>
            <a:r>
              <a:rPr lang="en-GB" sz="1600" dirty="0">
                <a:latin typeface="+mn-lt"/>
              </a:rPr>
              <a:t>We combined the power of visual storytelling and structured querying to audit the dataset:</a:t>
            </a:r>
          </a:p>
          <a:p>
            <a:endParaRPr lang="en-GB" sz="1600" dirty="0">
              <a:latin typeface="+mn-lt"/>
            </a:endParaRPr>
          </a:p>
          <a:p>
            <a:pPr marL="285750" lvl="1" indent="-285750">
              <a:buFont typeface="Arial" panose="020B0604020202020204" pitchFamily="34" charset="0"/>
              <a:buChar char="•"/>
            </a:pPr>
            <a:r>
              <a:rPr lang="en-GB" sz="1600" b="1" dirty="0">
                <a:latin typeface="+mn-lt"/>
              </a:rPr>
              <a:t>Visual Discovery:</a:t>
            </a:r>
            <a:r>
              <a:rPr lang="en-GB" sz="1600" dirty="0">
                <a:latin typeface="+mn-lt"/>
              </a:rPr>
              <a:t> Utilized </a:t>
            </a:r>
            <a:r>
              <a:rPr lang="en-GB" sz="1600" b="1" dirty="0">
                <a:latin typeface="+mn-lt"/>
              </a:rPr>
              <a:t>Matplotlib</a:t>
            </a:r>
            <a:r>
              <a:rPr lang="en-GB" sz="1600" dirty="0">
                <a:latin typeface="+mn-lt"/>
              </a:rPr>
              <a:t> and </a:t>
            </a:r>
            <a:r>
              <a:rPr lang="en-GB" sz="1600" b="1" dirty="0">
                <a:latin typeface="+mn-lt"/>
              </a:rPr>
              <a:t>Seaborn</a:t>
            </a:r>
            <a:r>
              <a:rPr lang="en-GB" sz="1600" dirty="0">
                <a:latin typeface="+mn-lt"/>
              </a:rPr>
              <a:t> to map correlations between mission success, payload mass, 		                   and launch geography.</a:t>
            </a:r>
          </a:p>
          <a:p>
            <a:pPr marL="285750" indent="-285750">
              <a:buFont typeface="Arial" panose="020B0604020202020204" pitchFamily="34" charset="0"/>
              <a:buChar char="•"/>
            </a:pPr>
            <a:r>
              <a:rPr lang="en-GB" sz="1600" b="1" dirty="0">
                <a:latin typeface="+mn-lt"/>
              </a:rPr>
              <a:t>Structured Analysis:</a:t>
            </a:r>
            <a:r>
              <a:rPr lang="en-GB" sz="1600" dirty="0">
                <a:latin typeface="+mn-lt"/>
              </a:rPr>
              <a:t> Employed </a:t>
            </a:r>
            <a:r>
              <a:rPr lang="en-GB" sz="1600" b="1" dirty="0">
                <a:latin typeface="+mn-lt"/>
              </a:rPr>
              <a:t>SQL</a:t>
            </a:r>
            <a:r>
              <a:rPr lang="en-GB" sz="1600" dirty="0">
                <a:latin typeface="+mn-lt"/>
              </a:rPr>
              <a:t> to perform deep-dive queries, extracting nuanced insights and statistical 			     summaries from the flight logs.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90" dirty="0"/>
              <a:t>6</a:t>
            </a:fld>
            <a:endParaRPr spc="9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20" dirty="0"/>
              <a:t>Methodology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414716"/>
            <a:ext cx="9856470" cy="4983416"/>
          </a:xfrm>
          <a:prstGeom prst="rect">
            <a:avLst/>
          </a:prstGeom>
        </p:spPr>
        <p:txBody>
          <a:bodyPr vert="horz" wrap="square" lIns="0" tIns="12700" rIns="0" bIns="0" rtlCol="0">
            <a:spAutoFit/>
          </a:bodyPr>
          <a:lstStyle/>
          <a:p>
            <a:pPr marL="12700">
              <a:lnSpc>
                <a:spcPct val="100000"/>
              </a:lnSpc>
              <a:spcBef>
                <a:spcPts val="100"/>
              </a:spcBef>
            </a:pPr>
            <a:r>
              <a:rPr lang="en-GB" sz="1800" b="1" dirty="0">
                <a:solidFill>
                  <a:srgbClr val="292929"/>
                </a:solidFill>
                <a:latin typeface="Calibri"/>
                <a:cs typeface="Calibri"/>
              </a:rPr>
              <a:t>Interactive Visual Analytics</a:t>
            </a:r>
          </a:p>
          <a:p>
            <a:pPr marL="12700">
              <a:lnSpc>
                <a:spcPct val="100000"/>
              </a:lnSpc>
              <a:spcBef>
                <a:spcPts val="100"/>
              </a:spcBef>
            </a:pPr>
            <a:r>
              <a:rPr lang="en-GB" sz="1800" dirty="0">
                <a:solidFill>
                  <a:srgbClr val="292929"/>
                </a:solidFill>
                <a:latin typeface="Calibri"/>
                <a:cs typeface="Calibri"/>
              </a:rPr>
              <a:t>Geospatial Mapping: Leveraged Folium to design dynamic maps that pinpoint launch locations and visualize mission success trends across different regions.</a:t>
            </a:r>
          </a:p>
          <a:p>
            <a:pPr marL="12700">
              <a:lnSpc>
                <a:spcPct val="100000"/>
              </a:lnSpc>
              <a:spcBef>
                <a:spcPts val="100"/>
              </a:spcBef>
            </a:pPr>
            <a:endParaRPr lang="en-GB" sz="1100" dirty="0">
              <a:solidFill>
                <a:srgbClr val="292929"/>
              </a:solidFill>
              <a:latin typeface="Calibri"/>
              <a:cs typeface="Calibri"/>
            </a:endParaRPr>
          </a:p>
          <a:p>
            <a:pPr marL="12700">
              <a:lnSpc>
                <a:spcPct val="100000"/>
              </a:lnSpc>
              <a:spcBef>
                <a:spcPts val="100"/>
              </a:spcBef>
            </a:pPr>
            <a:r>
              <a:rPr lang="en-GB" sz="1800" b="1" dirty="0">
                <a:solidFill>
                  <a:srgbClr val="292929"/>
                </a:solidFill>
                <a:latin typeface="Calibri"/>
                <a:cs typeface="Calibri"/>
              </a:rPr>
              <a:t>Dash Application Development</a:t>
            </a:r>
            <a:r>
              <a:rPr lang="en-GB" sz="1800" dirty="0">
                <a:solidFill>
                  <a:srgbClr val="292929"/>
                </a:solidFill>
                <a:latin typeface="Calibri"/>
                <a:cs typeface="Calibri"/>
              </a:rPr>
              <a:t>: Built a custom </a:t>
            </a:r>
            <a:r>
              <a:rPr lang="en-GB" sz="1800" dirty="0" err="1">
                <a:solidFill>
                  <a:srgbClr val="292929"/>
                </a:solidFill>
                <a:latin typeface="Calibri"/>
                <a:cs typeface="Calibri"/>
              </a:rPr>
              <a:t>Plotly</a:t>
            </a:r>
            <a:r>
              <a:rPr lang="en-GB" sz="1800" dirty="0">
                <a:solidFill>
                  <a:srgbClr val="292929"/>
                </a:solidFill>
                <a:latin typeface="Calibri"/>
                <a:cs typeface="Calibri"/>
              </a:rPr>
              <a:t> Dash interface featuring interactive filters, such as dropdown menus and range sliders, to facilitate deep dives into payload performance and success probabilities.</a:t>
            </a:r>
          </a:p>
          <a:p>
            <a:pPr marL="12700">
              <a:lnSpc>
                <a:spcPct val="100000"/>
              </a:lnSpc>
              <a:spcBef>
                <a:spcPts val="100"/>
              </a:spcBef>
            </a:pPr>
            <a:endParaRPr lang="en-GB" sz="1100" dirty="0">
              <a:solidFill>
                <a:srgbClr val="292929"/>
              </a:solidFill>
              <a:latin typeface="Calibri"/>
              <a:cs typeface="Calibri"/>
            </a:endParaRPr>
          </a:p>
          <a:p>
            <a:pPr marL="12700">
              <a:lnSpc>
                <a:spcPct val="100000"/>
              </a:lnSpc>
              <a:spcBef>
                <a:spcPts val="100"/>
              </a:spcBef>
            </a:pPr>
            <a:r>
              <a:rPr lang="en-GB" sz="1800" b="1" dirty="0">
                <a:solidFill>
                  <a:srgbClr val="292929"/>
                </a:solidFill>
                <a:latin typeface="Calibri"/>
                <a:cs typeface="Calibri"/>
              </a:rPr>
              <a:t>Predictive </a:t>
            </a:r>
            <a:r>
              <a:rPr lang="en-GB" sz="1800" b="1" dirty="0" err="1">
                <a:solidFill>
                  <a:srgbClr val="292929"/>
                </a:solidFill>
                <a:latin typeface="Calibri"/>
                <a:cs typeface="Calibri"/>
              </a:rPr>
              <a:t>Modeling</a:t>
            </a:r>
            <a:r>
              <a:rPr lang="en-GB" sz="1800" b="1" dirty="0">
                <a:solidFill>
                  <a:srgbClr val="292929"/>
                </a:solidFill>
                <a:latin typeface="Calibri"/>
                <a:cs typeface="Calibri"/>
              </a:rPr>
              <a:t> &amp; Classification</a:t>
            </a:r>
          </a:p>
          <a:p>
            <a:pPr marL="12700">
              <a:lnSpc>
                <a:spcPct val="100000"/>
              </a:lnSpc>
              <a:spcBef>
                <a:spcPts val="100"/>
              </a:spcBef>
            </a:pPr>
            <a:r>
              <a:rPr lang="en-GB" sz="1800" dirty="0">
                <a:solidFill>
                  <a:srgbClr val="292929"/>
                </a:solidFill>
                <a:latin typeface="Calibri"/>
                <a:cs typeface="Calibri"/>
              </a:rPr>
              <a:t>Algorithm Deployment: Developed and benchmarked a variety of classification algorithms, including Logistic Regression, Support Vector Machines (SVM), K-Nearest </a:t>
            </a:r>
            <a:r>
              <a:rPr lang="en-GB" sz="1800" dirty="0" err="1">
                <a:solidFill>
                  <a:srgbClr val="292929"/>
                </a:solidFill>
                <a:latin typeface="Calibri"/>
                <a:cs typeface="Calibri"/>
              </a:rPr>
              <a:t>Neighbors</a:t>
            </a:r>
            <a:r>
              <a:rPr lang="en-GB" sz="1800" dirty="0">
                <a:solidFill>
                  <a:srgbClr val="292929"/>
                </a:solidFill>
                <a:latin typeface="Calibri"/>
                <a:cs typeface="Calibri"/>
              </a:rPr>
              <a:t> (KNN), and Decision Trees.</a:t>
            </a:r>
          </a:p>
          <a:p>
            <a:pPr marL="12700">
              <a:lnSpc>
                <a:spcPct val="100000"/>
              </a:lnSpc>
              <a:spcBef>
                <a:spcPts val="100"/>
              </a:spcBef>
            </a:pPr>
            <a:endParaRPr lang="en-GB" sz="1100" dirty="0">
              <a:solidFill>
                <a:srgbClr val="292929"/>
              </a:solidFill>
              <a:latin typeface="Calibri"/>
              <a:cs typeface="Calibri"/>
            </a:endParaRPr>
          </a:p>
          <a:p>
            <a:pPr marL="12700">
              <a:lnSpc>
                <a:spcPct val="100000"/>
              </a:lnSpc>
              <a:spcBef>
                <a:spcPts val="100"/>
              </a:spcBef>
            </a:pPr>
            <a:r>
              <a:rPr lang="en-GB" sz="1800" b="1" dirty="0">
                <a:solidFill>
                  <a:srgbClr val="292929"/>
                </a:solidFill>
                <a:latin typeface="Calibri"/>
                <a:cs typeface="Calibri"/>
              </a:rPr>
              <a:t>Optimization</a:t>
            </a:r>
            <a:r>
              <a:rPr lang="en-GB" sz="1800" dirty="0">
                <a:solidFill>
                  <a:srgbClr val="292929"/>
                </a:solidFill>
                <a:latin typeface="Calibri"/>
                <a:cs typeface="Calibri"/>
              </a:rPr>
              <a:t>: Utilized </a:t>
            </a:r>
            <a:r>
              <a:rPr lang="en-GB" sz="1800" dirty="0" err="1">
                <a:solidFill>
                  <a:srgbClr val="292929"/>
                </a:solidFill>
                <a:latin typeface="Calibri"/>
                <a:cs typeface="Calibri"/>
              </a:rPr>
              <a:t>GridSearchCV</a:t>
            </a:r>
            <a:r>
              <a:rPr lang="en-GB" sz="1800" dirty="0">
                <a:solidFill>
                  <a:srgbClr val="292929"/>
                </a:solidFill>
                <a:latin typeface="Calibri"/>
                <a:cs typeface="Calibri"/>
              </a:rPr>
              <a:t> to conduct an exhaustive search for the optimal hyperparameters, ensuring maximum model robustness.</a:t>
            </a:r>
          </a:p>
          <a:p>
            <a:pPr marL="12700">
              <a:lnSpc>
                <a:spcPct val="100000"/>
              </a:lnSpc>
              <a:spcBef>
                <a:spcPts val="100"/>
              </a:spcBef>
            </a:pPr>
            <a:endParaRPr lang="en-GB" sz="1100" dirty="0">
              <a:solidFill>
                <a:srgbClr val="292929"/>
              </a:solidFill>
              <a:latin typeface="Calibri"/>
              <a:cs typeface="Calibri"/>
            </a:endParaRPr>
          </a:p>
          <a:p>
            <a:pPr marL="12700">
              <a:lnSpc>
                <a:spcPct val="100000"/>
              </a:lnSpc>
              <a:spcBef>
                <a:spcPts val="100"/>
              </a:spcBef>
            </a:pPr>
            <a:r>
              <a:rPr lang="en-GB" sz="1800" b="1" dirty="0">
                <a:solidFill>
                  <a:srgbClr val="292929"/>
                </a:solidFill>
                <a:latin typeface="Calibri"/>
                <a:cs typeface="Calibri"/>
              </a:rPr>
              <a:t>Performance Evaluation</a:t>
            </a:r>
            <a:r>
              <a:rPr lang="en-GB" sz="1800" dirty="0">
                <a:solidFill>
                  <a:srgbClr val="292929"/>
                </a:solidFill>
                <a:latin typeface="Calibri"/>
                <a:cs typeface="Calibri"/>
              </a:rPr>
              <a:t>: Assessed each model's predictive accuracy to determine the most reliable architecture for forecasting successful first-stage landings.</a:t>
            </a:r>
          </a:p>
          <a:p>
            <a:pPr marL="12700">
              <a:lnSpc>
                <a:spcPct val="100000"/>
              </a:lnSpc>
              <a:spcBef>
                <a:spcPts val="100"/>
              </a:spcBef>
            </a:pPr>
            <a:endParaRPr lang="en-GB" sz="900" b="1" dirty="0">
              <a:solidFill>
                <a:srgbClr val="292929"/>
              </a:solidFill>
              <a:latin typeface="Calibri"/>
              <a:cs typeface="Calibri"/>
            </a:endParaRPr>
          </a:p>
          <a:p>
            <a:pPr marL="12700">
              <a:lnSpc>
                <a:spcPct val="100000"/>
              </a:lnSpc>
              <a:spcBef>
                <a:spcPts val="100"/>
              </a:spcBef>
            </a:pPr>
            <a:r>
              <a:rPr lang="en-GB" sz="1800" b="1" dirty="0">
                <a:solidFill>
                  <a:srgbClr val="292929"/>
                </a:solidFill>
                <a:latin typeface="Calibri"/>
                <a:cs typeface="Calibri"/>
              </a:rPr>
              <a:t>Source Code: </a:t>
            </a:r>
            <a:r>
              <a:rPr lang="en-GB" sz="1800" dirty="0">
                <a:solidFill>
                  <a:srgbClr val="292929"/>
                </a:solidFill>
                <a:latin typeface="Calibri"/>
                <a:cs typeface="Calibri"/>
                <a:hlinkClick r:id="rId2"/>
              </a:rPr>
              <a:t>View GitHub Repository</a:t>
            </a:r>
            <a:endParaRPr sz="18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90" dirty="0"/>
              <a:t>7</a:t>
            </a:fld>
            <a:endParaRPr spc="9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20" dirty="0"/>
              <a:t>Methodology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849312" y="412368"/>
            <a:ext cx="10493375" cy="632460"/>
          </a:xfrm>
        </p:spPr>
        <p:txBody>
          <a:bodyPr vert="horz" wrap="square" lIns="0" tIns="16510" rIns="0" bIns="0" rtlCol="0">
            <a:spAutoFit/>
          </a:bodyPr>
          <a:lstStyle/>
          <a:p>
            <a:r>
              <a:rPr lang="en-GB" dirty="0"/>
              <a:t>Data Collection</a:t>
            </a:r>
          </a:p>
        </p:txBody>
      </p:sp>
      <p:sp>
        <p:nvSpPr>
          <p:cNvPr id="46" name="Text Placeholder 45">
            <a:extLst>
              <a:ext uri="{FF2B5EF4-FFF2-40B4-BE49-F238E27FC236}">
                <a16:creationId xmlns:a16="http://schemas.microsoft.com/office/drawing/2014/main" id="{2E2150EC-9EE5-1F57-6DCB-CCB7F71703AB}"/>
              </a:ext>
            </a:extLst>
          </p:cNvPr>
          <p:cNvSpPr>
            <a:spLocks noGrp="1"/>
          </p:cNvSpPr>
          <p:nvPr>
            <p:ph type="body" idx="1"/>
          </p:nvPr>
        </p:nvSpPr>
        <p:spPr>
          <a:xfrm>
            <a:off x="849312" y="1511617"/>
            <a:ext cx="10333990" cy="4647426"/>
          </a:xfrm>
        </p:spPr>
        <p:txBody>
          <a:bodyPr/>
          <a:lstStyle/>
          <a:p>
            <a:r>
              <a:rPr lang="en-GB" sz="1600" b="1" dirty="0"/>
              <a:t>Data Acquisition Pipeline</a:t>
            </a:r>
          </a:p>
          <a:p>
            <a:endParaRPr lang="en-GB" sz="1600" b="1" dirty="0"/>
          </a:p>
          <a:p>
            <a:r>
              <a:rPr lang="en-GB" sz="1600" b="1" dirty="0"/>
              <a:t>Phase 1: API Integration (SpaceX)</a:t>
            </a:r>
          </a:p>
          <a:p>
            <a:r>
              <a:rPr lang="en-GB" sz="1600" dirty="0"/>
              <a:t>The process begins by programmatically querying the </a:t>
            </a:r>
            <a:r>
              <a:rPr lang="en-GB" sz="1600" b="1" dirty="0"/>
              <a:t>SpaceX API</a:t>
            </a:r>
            <a:r>
              <a:rPr lang="en-GB" sz="1600" dirty="0"/>
              <a:t>:</a:t>
            </a:r>
          </a:p>
          <a:p>
            <a:pPr lvl="1">
              <a:buFont typeface="Arial" panose="020B0604020202020204" pitchFamily="34" charset="0"/>
              <a:buChar char="•"/>
            </a:pPr>
            <a:r>
              <a:rPr lang="en-GB" sz="1400" b="1" dirty="0"/>
              <a:t>Request Initiation:</a:t>
            </a:r>
            <a:r>
              <a:rPr lang="en-GB" sz="1400" dirty="0"/>
              <a:t> Sending authenticated calls to retrieve raw flight records.</a:t>
            </a:r>
          </a:p>
          <a:p>
            <a:pPr lvl="1">
              <a:buFont typeface="Arial" panose="020B0604020202020204" pitchFamily="34" charset="0"/>
              <a:buChar char="•"/>
            </a:pPr>
            <a:r>
              <a:rPr lang="en-GB" sz="1400" b="1" dirty="0"/>
              <a:t>Data Retrieval:</a:t>
            </a:r>
            <a:r>
              <a:rPr lang="en-GB" sz="1400" dirty="0"/>
              <a:t> Fetching specific launch parameters (e.g., core versions, landing pad IDs).</a:t>
            </a:r>
          </a:p>
          <a:p>
            <a:pPr lvl="1">
              <a:buFont typeface="Arial" panose="020B0604020202020204" pitchFamily="34" charset="0"/>
              <a:buChar char="•"/>
            </a:pPr>
            <a:r>
              <a:rPr lang="en-GB" sz="1400" b="1" dirty="0"/>
              <a:t>Local Persistence:</a:t>
            </a:r>
            <a:r>
              <a:rPr lang="en-GB" sz="1400" dirty="0"/>
              <a:t> Storing the JSON responses locally for subsequent processing.</a:t>
            </a:r>
          </a:p>
          <a:p>
            <a:pPr>
              <a:buFont typeface="Arial" panose="020B0604020202020204" pitchFamily="34" charset="0"/>
              <a:buChar char="•"/>
            </a:pPr>
            <a:endParaRPr lang="en-GB" sz="1600" dirty="0"/>
          </a:p>
          <a:p>
            <a:r>
              <a:rPr lang="en-GB" sz="1600" b="1" dirty="0"/>
              <a:t>Phase 2: Web Scraping (Wikipedia)</a:t>
            </a:r>
          </a:p>
          <a:p>
            <a:r>
              <a:rPr lang="en-GB" sz="1600" dirty="0"/>
              <a:t>To supplement the API data, historical records are extracted from Wikipedia:</a:t>
            </a:r>
          </a:p>
          <a:p>
            <a:pPr lvl="1">
              <a:buFont typeface="Arial" panose="020B0604020202020204" pitchFamily="34" charset="0"/>
              <a:buChar char="•"/>
            </a:pPr>
            <a:r>
              <a:rPr lang="en-GB" sz="1400" b="1" dirty="0"/>
              <a:t>Extraction:</a:t>
            </a:r>
            <a:r>
              <a:rPr lang="en-GB" sz="1400" dirty="0"/>
              <a:t> Scoping out the relevant HTML tables containing launch details.</a:t>
            </a:r>
          </a:p>
          <a:p>
            <a:pPr lvl="1">
              <a:buFont typeface="Arial" panose="020B0604020202020204" pitchFamily="34" charset="0"/>
              <a:buChar char="•"/>
            </a:pPr>
            <a:r>
              <a:rPr lang="en-GB" sz="1400" b="1" dirty="0"/>
              <a:t>Parsing:</a:t>
            </a:r>
            <a:r>
              <a:rPr lang="en-GB" sz="1400" dirty="0"/>
              <a:t> Using the </a:t>
            </a:r>
            <a:r>
              <a:rPr lang="en-GB" sz="1400" b="1" dirty="0" err="1"/>
              <a:t>BeautifulSoup</a:t>
            </a:r>
            <a:r>
              <a:rPr lang="en-GB" sz="1400" dirty="0"/>
              <a:t> library to navigate the DOM and isolate key values.</a:t>
            </a:r>
          </a:p>
          <a:p>
            <a:pPr lvl="1">
              <a:buFont typeface="Arial" panose="020B0604020202020204" pitchFamily="34" charset="0"/>
              <a:buChar char="•"/>
            </a:pPr>
            <a:r>
              <a:rPr lang="en-GB" sz="1400" b="1" dirty="0"/>
              <a:t>Structuring:</a:t>
            </a:r>
            <a:r>
              <a:rPr lang="en-GB" sz="1400" dirty="0"/>
              <a:t> Converting the unstructured web data into organized </a:t>
            </a:r>
            <a:r>
              <a:rPr lang="en-GB" sz="1400" b="1" dirty="0"/>
              <a:t>Pandas </a:t>
            </a:r>
            <a:r>
              <a:rPr lang="en-GB" sz="1400" b="1" dirty="0" err="1"/>
              <a:t>DataFrames</a:t>
            </a:r>
            <a:r>
              <a:rPr lang="en-GB" sz="1400" dirty="0"/>
              <a:t>.</a:t>
            </a:r>
          </a:p>
          <a:p>
            <a:pPr>
              <a:buFont typeface="Arial" panose="020B0604020202020204" pitchFamily="34" charset="0"/>
              <a:buChar char="•"/>
            </a:pPr>
            <a:endParaRPr lang="en-GB" sz="1600" dirty="0"/>
          </a:p>
          <a:p>
            <a:r>
              <a:rPr lang="en-GB" sz="1600" b="1" dirty="0"/>
              <a:t>Phase 3: Data Consolidation</a:t>
            </a:r>
          </a:p>
          <a:p>
            <a:r>
              <a:rPr lang="en-GB" sz="1600" dirty="0"/>
              <a:t>The final stage focuses on unifying disparate sources into a single source of truth:</a:t>
            </a:r>
          </a:p>
          <a:p>
            <a:pPr lvl="1">
              <a:buFont typeface="Arial" panose="020B0604020202020204" pitchFamily="34" charset="0"/>
              <a:buChar char="•"/>
            </a:pPr>
            <a:r>
              <a:rPr lang="en-GB" sz="1400" b="1" dirty="0"/>
              <a:t>Preprocessing:</a:t>
            </a:r>
            <a:r>
              <a:rPr lang="en-GB" sz="1400" dirty="0"/>
              <a:t> Aligning indices and features from both the API and Wikipedia datasets.</a:t>
            </a:r>
          </a:p>
          <a:p>
            <a:pPr lvl="1">
              <a:buFont typeface="Arial" panose="020B0604020202020204" pitchFamily="34" charset="0"/>
              <a:buChar char="•"/>
            </a:pPr>
            <a:r>
              <a:rPr lang="en-GB" sz="1400" b="1" dirty="0"/>
              <a:t>Merging:</a:t>
            </a:r>
            <a:r>
              <a:rPr lang="en-GB" sz="1400" dirty="0"/>
              <a:t> Executing a join operation to create a comprehensive mission profile.</a:t>
            </a:r>
          </a:p>
          <a:p>
            <a:pPr lvl="1">
              <a:buFont typeface="Arial" panose="020B0604020202020204" pitchFamily="34" charset="0"/>
              <a:buChar char="•"/>
            </a:pPr>
            <a:r>
              <a:rPr lang="en-GB" sz="1400" b="1" dirty="0"/>
              <a:t>Output:</a:t>
            </a:r>
            <a:r>
              <a:rPr lang="en-GB" sz="1400" dirty="0"/>
              <a:t> Generating the </a:t>
            </a:r>
            <a:r>
              <a:rPr lang="en-GB" sz="1400" b="1" dirty="0"/>
              <a:t>final integrated dataset</a:t>
            </a:r>
            <a:r>
              <a:rPr lang="en-GB" sz="1400" dirty="0"/>
              <a:t> ready for feature engineering and predictive analysis.</a:t>
            </a:r>
          </a:p>
          <a:p>
            <a:endParaRPr lang="en-GB" sz="1600" dirty="0"/>
          </a:p>
        </p:txBody>
      </p:sp>
      <p:sp>
        <p:nvSpPr>
          <p:cNvPr id="42" name="object 42"/>
          <p:cNvSpPr txBox="1">
            <a:spLocks noGrp="1"/>
          </p:cNvSpPr>
          <p:nvPr>
            <p:ph type="sldNum" sz="quarter" idx="7"/>
          </p:nvPr>
        </p:nvSpPr>
        <p:spPr>
          <a:xfrm>
            <a:off x="11091291" y="6113199"/>
            <a:ext cx="336550" cy="252729"/>
          </a:xfrm>
        </p:spPr>
        <p:txBody>
          <a:bodyPr vert="horz" wrap="square" lIns="0" tIns="0" rIns="0" bIns="0" rtlCol="0">
            <a:spAutoFit/>
          </a:bodyPr>
          <a:lstStyle/>
          <a:p>
            <a:fld id="{81D60167-4931-47E6-BA6A-407CBD079E47}" type="slidenum">
              <a:rPr lang="en-GB" dirty="0"/>
              <a:pPr/>
              <a:t>8</a:t>
            </a:fld>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p:txBody>
          <a:bodyPr vert="horz" wrap="square" lIns="0" tIns="16510" rIns="0" bIns="0" rtlCol="0">
            <a:spAutoFit/>
          </a:bodyPr>
          <a:lstStyle/>
          <a:p>
            <a:r>
              <a:rPr lang="en-GB" dirty="0"/>
              <a:t>Data Collection – SpaceX API</a:t>
            </a:r>
          </a:p>
        </p:txBody>
      </p:sp>
      <p:sp>
        <p:nvSpPr>
          <p:cNvPr id="48" name="Content Placeholder 47">
            <a:extLst>
              <a:ext uri="{FF2B5EF4-FFF2-40B4-BE49-F238E27FC236}">
                <a16:creationId xmlns:a16="http://schemas.microsoft.com/office/drawing/2014/main" id="{B976A88B-FFF5-1178-F42A-52058938BD18}"/>
              </a:ext>
            </a:extLst>
          </p:cNvPr>
          <p:cNvSpPr>
            <a:spLocks noGrp="1"/>
          </p:cNvSpPr>
          <p:nvPr>
            <p:ph sz="half" idx="2"/>
          </p:nvPr>
        </p:nvSpPr>
        <p:spPr>
          <a:xfrm>
            <a:off x="849312" y="1403390"/>
            <a:ext cx="5260975" cy="3508653"/>
          </a:xfrm>
        </p:spPr>
        <p:txBody>
          <a:bodyPr/>
          <a:lstStyle/>
          <a:p>
            <a:r>
              <a:rPr lang="en-GB" sz="2000" b="1" dirty="0"/>
              <a:t>Data Collection: SpaceX API Integration</a:t>
            </a:r>
          </a:p>
          <a:p>
            <a:endParaRPr lang="en-GB" dirty="0"/>
          </a:p>
          <a:p>
            <a:r>
              <a:rPr lang="en-GB" dirty="0"/>
              <a:t>The data acquisition process leverages the SpaceX REST API to gather granular mission details through a three-step programmatic workflow.</a:t>
            </a:r>
          </a:p>
          <a:p>
            <a:endParaRPr lang="en-GB" dirty="0"/>
          </a:p>
          <a:p>
            <a:r>
              <a:rPr lang="en-GB" u="sng" dirty="0"/>
              <a:t>1. Request Initiation</a:t>
            </a:r>
          </a:p>
          <a:p>
            <a:endParaRPr lang="en-GB" dirty="0"/>
          </a:p>
          <a:p>
            <a:r>
              <a:rPr lang="en-GB" b="1" dirty="0"/>
              <a:t>Methodology</a:t>
            </a:r>
            <a:r>
              <a:rPr lang="en-GB" dirty="0"/>
              <a:t>: Utilizing Python’s requests library to establish a connection with the SpaceX server.</a:t>
            </a:r>
          </a:p>
          <a:p>
            <a:endParaRPr lang="en-GB" dirty="0"/>
          </a:p>
          <a:p>
            <a:r>
              <a:rPr lang="en-GB" b="1" dirty="0"/>
              <a:t>Endpoint</a:t>
            </a:r>
            <a:r>
              <a:rPr lang="en-GB" dirty="0"/>
              <a:t>: Hits the version 4 launches endpoint: https://api.spacexdata.com/v4/launches.</a:t>
            </a:r>
          </a:p>
          <a:p>
            <a:endParaRPr lang="en-GB" dirty="0"/>
          </a:p>
          <a:p>
            <a:r>
              <a:rPr lang="en-GB" b="1" dirty="0"/>
              <a:t>Action</a:t>
            </a:r>
            <a:r>
              <a:rPr lang="en-GB" dirty="0"/>
              <a:t>: Triggers a GET request to fetch the complete history of rocket launches.</a:t>
            </a:r>
          </a:p>
          <a:p>
            <a:endParaRPr lang="en-GB" dirty="0"/>
          </a:p>
        </p:txBody>
      </p:sp>
      <p:sp>
        <p:nvSpPr>
          <p:cNvPr id="49" name="Content Placeholder 48">
            <a:extLst>
              <a:ext uri="{FF2B5EF4-FFF2-40B4-BE49-F238E27FC236}">
                <a16:creationId xmlns:a16="http://schemas.microsoft.com/office/drawing/2014/main" id="{8B3F34E7-1385-28F8-EA35-F24F0228D927}"/>
              </a:ext>
            </a:extLst>
          </p:cNvPr>
          <p:cNvSpPr>
            <a:spLocks noGrp="1"/>
          </p:cNvSpPr>
          <p:nvPr>
            <p:ph sz="half" idx="3"/>
          </p:nvPr>
        </p:nvSpPr>
        <p:spPr>
          <a:xfrm>
            <a:off x="6544628" y="1373440"/>
            <a:ext cx="4798059" cy="4524315"/>
          </a:xfrm>
        </p:spPr>
        <p:txBody>
          <a:bodyPr/>
          <a:lstStyle/>
          <a:p>
            <a:r>
              <a:rPr lang="en-GB" u="sng" dirty="0"/>
              <a:t>2. Response Parsing &amp; Extraction</a:t>
            </a:r>
          </a:p>
          <a:p>
            <a:endParaRPr lang="en-GB" dirty="0"/>
          </a:p>
          <a:p>
            <a:r>
              <a:rPr lang="en-GB" b="1" dirty="0"/>
              <a:t>Serialization</a:t>
            </a:r>
            <a:r>
              <a:rPr lang="en-GB" dirty="0"/>
              <a:t>: The raw JSON response is converted into a Python dictionary for easy manipulation using .</a:t>
            </a:r>
            <a:r>
              <a:rPr lang="en-GB" dirty="0" err="1"/>
              <a:t>json</a:t>
            </a:r>
            <a:r>
              <a:rPr lang="en-GB" dirty="0"/>
              <a:t>().</a:t>
            </a:r>
          </a:p>
          <a:p>
            <a:endParaRPr lang="en-GB" dirty="0"/>
          </a:p>
          <a:p>
            <a:r>
              <a:rPr lang="en-GB" b="1" dirty="0"/>
              <a:t>Feature Selection</a:t>
            </a:r>
            <a:r>
              <a:rPr lang="en-GB" dirty="0"/>
              <a:t>: We filter the large response object to isolate mission-critical fields, including:</a:t>
            </a:r>
          </a:p>
          <a:p>
            <a:endParaRPr lang="en-GB" dirty="0"/>
          </a:p>
          <a:p>
            <a:pPr marL="285750" indent="-285750">
              <a:buFont typeface="Arial" panose="020B0604020202020204" pitchFamily="34" charset="0"/>
              <a:buChar char="•"/>
            </a:pPr>
            <a:r>
              <a:rPr lang="en-GB" b="1" dirty="0"/>
              <a:t>Temporal Data</a:t>
            </a:r>
            <a:r>
              <a:rPr lang="en-GB" dirty="0"/>
              <a:t>: Launch dates.</a:t>
            </a:r>
          </a:p>
          <a:p>
            <a:pPr marL="285750" indent="-285750">
              <a:buFont typeface="Arial" panose="020B0604020202020204" pitchFamily="34" charset="0"/>
              <a:buChar char="•"/>
            </a:pPr>
            <a:r>
              <a:rPr lang="en-GB" b="1" dirty="0"/>
              <a:t>Geospatial Data</a:t>
            </a:r>
            <a:r>
              <a:rPr lang="en-GB" dirty="0"/>
              <a:t>: Launch site coordinates.</a:t>
            </a:r>
          </a:p>
          <a:p>
            <a:pPr marL="285750" indent="-285750">
              <a:buFont typeface="Arial" panose="020B0604020202020204" pitchFamily="34" charset="0"/>
              <a:buChar char="•"/>
            </a:pPr>
            <a:r>
              <a:rPr lang="en-GB" b="1" dirty="0"/>
              <a:t>Technical Specs</a:t>
            </a:r>
            <a:r>
              <a:rPr lang="en-GB" dirty="0"/>
              <a:t>: Payload mass and rocket configurations.</a:t>
            </a:r>
          </a:p>
          <a:p>
            <a:pPr marL="285750" indent="-285750">
              <a:buFont typeface="Arial" panose="020B0604020202020204" pitchFamily="34" charset="0"/>
              <a:buChar char="•"/>
            </a:pPr>
            <a:r>
              <a:rPr lang="en-GB" b="1" dirty="0"/>
              <a:t>Target Variable</a:t>
            </a:r>
            <a:r>
              <a:rPr lang="en-GB" dirty="0"/>
              <a:t>: Mission outcome (success/failure).</a:t>
            </a:r>
          </a:p>
          <a:p>
            <a:endParaRPr lang="en-GB" dirty="0"/>
          </a:p>
          <a:p>
            <a:r>
              <a:rPr lang="en-GB" u="sng" dirty="0"/>
              <a:t>3. Transformation &amp; Storage</a:t>
            </a:r>
          </a:p>
          <a:p>
            <a:endParaRPr lang="en-GB" u="sng" dirty="0"/>
          </a:p>
          <a:p>
            <a:r>
              <a:rPr lang="en-GB" b="1" dirty="0"/>
              <a:t>Structuring</a:t>
            </a:r>
            <a:r>
              <a:rPr lang="en-GB" dirty="0"/>
              <a:t>: The filtered data is organized into a Pandas </a:t>
            </a:r>
            <a:r>
              <a:rPr lang="en-GB" dirty="0" err="1"/>
              <a:t>DataFrame</a:t>
            </a:r>
            <a:r>
              <a:rPr lang="en-GB" dirty="0"/>
              <a:t>, aligning variables into a tabular format.</a:t>
            </a:r>
          </a:p>
          <a:p>
            <a:endParaRPr lang="en-GB" dirty="0"/>
          </a:p>
          <a:p>
            <a:r>
              <a:rPr lang="en-GB" b="1" dirty="0"/>
              <a:t>Persistence</a:t>
            </a:r>
            <a:r>
              <a:rPr lang="en-GB" dirty="0"/>
              <a:t>: The resulting </a:t>
            </a:r>
            <a:r>
              <a:rPr lang="en-GB" dirty="0" err="1"/>
              <a:t>DataFrame</a:t>
            </a:r>
            <a:r>
              <a:rPr lang="en-GB" dirty="0"/>
              <a:t> is saved locally (typically as a .csv or database file) to provide a stable foundation for the exploratory and predictive phases of the project.</a:t>
            </a:r>
          </a:p>
        </p:txBody>
      </p:sp>
      <p:sp>
        <p:nvSpPr>
          <p:cNvPr id="39" name="object 39"/>
          <p:cNvSpPr txBox="1">
            <a:spLocks noGrp="1"/>
          </p:cNvSpPr>
          <p:nvPr>
            <p:ph type="sldNum" sz="quarter" idx="7"/>
          </p:nvPr>
        </p:nvSpPr>
        <p:spPr/>
        <p:txBody>
          <a:bodyPr vert="horz" wrap="square" lIns="0" tIns="0" rIns="0" bIns="0" rtlCol="0">
            <a:spAutoFit/>
          </a:bodyPr>
          <a:lstStyle/>
          <a:p>
            <a:fld id="{81D60167-4931-47E6-BA6A-407CBD079E47}" type="slidenum">
              <a:rPr lang="en-GB" dirty="0"/>
              <a:pPr/>
              <a:t>9</a:t>
            </a:fld>
            <a:endParaRPr lang="en-GB" dirty="0"/>
          </a:p>
        </p:txBody>
      </p:sp>
      <p:sp>
        <p:nvSpPr>
          <p:cNvPr id="50" name="TextBox 49">
            <a:extLst>
              <a:ext uri="{FF2B5EF4-FFF2-40B4-BE49-F238E27FC236}">
                <a16:creationId xmlns:a16="http://schemas.microsoft.com/office/drawing/2014/main" id="{C8079D15-CD31-7C81-1C7A-5A9040136F10}"/>
              </a:ext>
            </a:extLst>
          </p:cNvPr>
          <p:cNvSpPr txBox="1"/>
          <p:nvPr/>
        </p:nvSpPr>
        <p:spPr>
          <a:xfrm>
            <a:off x="762000" y="5620756"/>
            <a:ext cx="4419600" cy="276999"/>
          </a:xfrm>
          <a:prstGeom prst="rect">
            <a:avLst/>
          </a:prstGeom>
          <a:noFill/>
        </p:spPr>
        <p:txBody>
          <a:bodyPr wrap="square" rtlCol="0">
            <a:spAutoFit/>
          </a:bodyPr>
          <a:lstStyle/>
          <a:p>
            <a:r>
              <a:rPr lang="en-GB" sz="1200" b="1" dirty="0"/>
              <a:t>Technical Source:</a:t>
            </a:r>
            <a:r>
              <a:rPr lang="en-GB" sz="1200" dirty="0"/>
              <a:t> </a:t>
            </a:r>
            <a:r>
              <a:rPr lang="en-GB" sz="1200" dirty="0" err="1">
                <a:hlinkClick r:id="rId2"/>
              </a:rPr>
              <a:t>Jupyter</a:t>
            </a:r>
            <a:r>
              <a:rPr lang="en-GB" sz="1200" dirty="0">
                <a:hlinkClick r:id="rId2"/>
              </a:rPr>
              <a:t> Notebook: API Data Collection</a:t>
            </a:r>
            <a:endParaRPr lang="en-GB"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16691" y="6090602"/>
            <a:ext cx="273050" cy="266065"/>
          </a:xfrm>
          <a:prstGeom prst="rect">
            <a:avLst/>
          </a:prstGeom>
        </p:spPr>
        <p:txBody>
          <a:bodyPr vert="horz" wrap="square" lIns="0" tIns="15875" rIns="0" bIns="0" rtlCol="0">
            <a:spAutoFit/>
          </a:bodyPr>
          <a:lstStyle/>
          <a:p>
            <a:pPr marL="12700">
              <a:lnSpc>
                <a:spcPct val="100000"/>
              </a:lnSpc>
              <a:spcBef>
                <a:spcPts val="125"/>
              </a:spcBef>
            </a:pPr>
            <a:r>
              <a:rPr sz="1550" spc="80" dirty="0">
                <a:solidFill>
                  <a:srgbClr val="1C7CDB"/>
                </a:solidFill>
                <a:latin typeface="Microsoft Sans Serif"/>
                <a:cs typeface="Microsoft Sans Serif"/>
              </a:rPr>
              <a:t>10</a:t>
            </a:r>
            <a:endParaRPr sz="1550">
              <a:latin typeface="Microsoft Sans Serif"/>
              <a:cs typeface="Microsoft Sans Serif"/>
            </a:endParaRPr>
          </a:p>
        </p:txBody>
      </p:sp>
      <p:sp>
        <p:nvSpPr>
          <p:cNvPr id="6" name="object 6"/>
          <p:cNvSpPr txBox="1">
            <a:spLocks noGrp="1"/>
          </p:cNvSpPr>
          <p:nvPr>
            <p:ph type="title"/>
          </p:nvPr>
        </p:nvSpPr>
        <p:spPr>
          <a:xfrm>
            <a:off x="849312" y="412368"/>
            <a:ext cx="10493375" cy="632460"/>
          </a:xfrm>
        </p:spPr>
        <p:txBody>
          <a:bodyPr vert="horz" wrap="square" lIns="0" tIns="16510" rIns="0" bIns="0" rtlCol="0">
            <a:spAutoFit/>
          </a:bodyPr>
          <a:lstStyle/>
          <a:p>
            <a:r>
              <a:rPr lang="en-GB" dirty="0"/>
              <a:t>Data Collection - Scraping</a:t>
            </a:r>
          </a:p>
        </p:txBody>
      </p:sp>
      <p:sp>
        <p:nvSpPr>
          <p:cNvPr id="36" name="Content Placeholder 47">
            <a:extLst>
              <a:ext uri="{FF2B5EF4-FFF2-40B4-BE49-F238E27FC236}">
                <a16:creationId xmlns:a16="http://schemas.microsoft.com/office/drawing/2014/main" id="{DB192080-CE82-323F-CBC1-04DF65E0D783}"/>
              </a:ext>
            </a:extLst>
          </p:cNvPr>
          <p:cNvSpPr txBox="1">
            <a:spLocks/>
          </p:cNvSpPr>
          <p:nvPr/>
        </p:nvSpPr>
        <p:spPr>
          <a:xfrm>
            <a:off x="849312" y="1403390"/>
            <a:ext cx="5260975" cy="415921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GB" sz="1400" b="1" dirty="0"/>
              <a:t>Data Collection: Web Scraping Wikipedia</a:t>
            </a:r>
          </a:p>
          <a:p>
            <a:r>
              <a:rPr lang="en-GB" sz="1400" dirty="0"/>
              <a:t>To augment the dataset with historical context, we performed web scraping on Wikipedia to extract detailed launch records for the Falcon 9 and Falcon Heavy rockets.</a:t>
            </a:r>
          </a:p>
          <a:p>
            <a:endParaRPr lang="en-GB" sz="1200" dirty="0"/>
          </a:p>
          <a:p>
            <a:pPr marL="228600" indent="-228600">
              <a:buAutoNum type="arabicPeriod"/>
            </a:pPr>
            <a:r>
              <a:rPr lang="en-GB" sz="1200" dirty="0"/>
              <a:t>Web Page Retrieval</a:t>
            </a:r>
          </a:p>
          <a:p>
            <a:endParaRPr lang="en-GB" sz="1200" dirty="0"/>
          </a:p>
          <a:p>
            <a:pPr marL="171450" indent="-171450">
              <a:buFont typeface="Arial" panose="020B0604020202020204" pitchFamily="34" charset="0"/>
              <a:buChar char="•"/>
            </a:pPr>
            <a:r>
              <a:rPr lang="en-GB" sz="1200" b="1" dirty="0"/>
              <a:t>Methodology</a:t>
            </a:r>
            <a:r>
              <a:rPr lang="en-GB" sz="1200" dirty="0"/>
              <a:t>: Employed the Python requests library to execute a GET request.</a:t>
            </a:r>
          </a:p>
          <a:p>
            <a:pPr marL="171450" indent="-171450">
              <a:buFont typeface="Arial" panose="020B0604020202020204" pitchFamily="34" charset="0"/>
              <a:buChar char="•"/>
            </a:pPr>
            <a:r>
              <a:rPr lang="en-GB" sz="1200" b="1" dirty="0"/>
              <a:t>Target URL</a:t>
            </a:r>
            <a:r>
              <a:rPr lang="en-GB" sz="1200" dirty="0"/>
              <a:t>: Scraped the specialized Wikipedia entry: https://en.wikipedia.org/wiki/List_of_Falcon_9_and_Falcon_Heavy_launches.</a:t>
            </a:r>
          </a:p>
          <a:p>
            <a:pPr marL="171450" indent="-171450">
              <a:buFont typeface="Arial" panose="020B0604020202020204" pitchFamily="34" charset="0"/>
              <a:buChar char="•"/>
            </a:pPr>
            <a:r>
              <a:rPr lang="en-GB" sz="1200" b="1" dirty="0"/>
              <a:t>Action</a:t>
            </a:r>
            <a:r>
              <a:rPr lang="en-GB" sz="1200" dirty="0"/>
              <a:t>: Captured the raw HTML source code of the page for downstream parsing.</a:t>
            </a:r>
          </a:p>
          <a:p>
            <a:endParaRPr lang="en-GB" sz="1200" dirty="0"/>
          </a:p>
          <a:p>
            <a:r>
              <a:rPr lang="en-GB" sz="1200" dirty="0"/>
              <a:t>2.  HTML Parsing &amp; Extraction</a:t>
            </a:r>
          </a:p>
          <a:p>
            <a:endParaRPr lang="en-GB" sz="1200" dirty="0"/>
          </a:p>
          <a:p>
            <a:pPr marL="171450" indent="-171450">
              <a:buFont typeface="Arial" panose="020B0604020202020204" pitchFamily="34" charset="0"/>
              <a:buChar char="•"/>
            </a:pPr>
            <a:r>
              <a:rPr lang="en-GB" sz="1200" b="1" dirty="0"/>
              <a:t>Library</a:t>
            </a:r>
            <a:r>
              <a:rPr lang="en-GB" sz="1200" dirty="0"/>
              <a:t>: Leveraged </a:t>
            </a:r>
            <a:r>
              <a:rPr lang="en-GB" sz="1200" dirty="0" err="1"/>
              <a:t>BeautifulSoup</a:t>
            </a:r>
            <a:r>
              <a:rPr lang="en-GB" sz="1200" dirty="0"/>
              <a:t> to navigate the complex HTML document object model (DOM).</a:t>
            </a:r>
          </a:p>
          <a:p>
            <a:pPr marL="171450" indent="-171450">
              <a:buFont typeface="Arial" panose="020B0604020202020204" pitchFamily="34" charset="0"/>
              <a:buChar char="•"/>
            </a:pPr>
            <a:r>
              <a:rPr lang="en-GB" sz="1200" b="1" dirty="0"/>
              <a:t>Isolation</a:t>
            </a:r>
            <a:r>
              <a:rPr lang="en-GB" sz="1200" dirty="0"/>
              <a:t>: Specifically targeted and extracted the &lt;table&gt; elements containing the chronological launch history.</a:t>
            </a:r>
          </a:p>
          <a:p>
            <a:pPr marL="171450" indent="-171450">
              <a:buFont typeface="Arial" panose="020B0604020202020204" pitchFamily="34" charset="0"/>
              <a:buChar char="•"/>
            </a:pPr>
            <a:r>
              <a:rPr lang="en-GB" sz="1200" b="1" dirty="0"/>
              <a:t>Data Capture</a:t>
            </a:r>
            <a:r>
              <a:rPr lang="en-GB" sz="1200" dirty="0"/>
              <a:t>: Programmatically iterated through table rows to capture flight numbers, mission details, and recovery outcomes.</a:t>
            </a:r>
          </a:p>
        </p:txBody>
      </p:sp>
      <p:sp>
        <p:nvSpPr>
          <p:cNvPr id="37" name="Content Placeholder 48">
            <a:extLst>
              <a:ext uri="{FF2B5EF4-FFF2-40B4-BE49-F238E27FC236}">
                <a16:creationId xmlns:a16="http://schemas.microsoft.com/office/drawing/2014/main" id="{1196143C-EB19-4FEA-2847-4F5A6BEA398F}"/>
              </a:ext>
            </a:extLst>
          </p:cNvPr>
          <p:cNvSpPr txBox="1">
            <a:spLocks/>
          </p:cNvSpPr>
          <p:nvPr/>
        </p:nvSpPr>
        <p:spPr>
          <a:xfrm>
            <a:off x="6544628" y="1373440"/>
            <a:ext cx="4798059" cy="45243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GB" sz="1400" b="1" dirty="0"/>
              <a:t>3. Transformation &amp; Data Integrity</a:t>
            </a:r>
          </a:p>
          <a:p>
            <a:endParaRPr lang="en-GB" sz="1400" b="1" dirty="0"/>
          </a:p>
          <a:p>
            <a:r>
              <a:rPr lang="en-GB" sz="1400" b="1" dirty="0"/>
              <a:t>Tabular Conversion:</a:t>
            </a:r>
            <a:r>
              <a:rPr lang="en-GB" sz="1400" dirty="0"/>
              <a:t> Transformed the extracted semi-structured data into a structured Pandas </a:t>
            </a:r>
            <a:r>
              <a:rPr lang="en-GB" sz="1400" dirty="0" err="1"/>
              <a:t>DataFrame</a:t>
            </a:r>
            <a:r>
              <a:rPr lang="en-GB" sz="1400" dirty="0"/>
              <a:t>.</a:t>
            </a:r>
          </a:p>
          <a:p>
            <a:endParaRPr lang="en-GB" sz="1400" dirty="0"/>
          </a:p>
          <a:p>
            <a:r>
              <a:rPr lang="en-GB" sz="1400" b="1" dirty="0"/>
              <a:t>Cleaning Protocols:</a:t>
            </a:r>
            <a:r>
              <a:rPr lang="en-GB" sz="1400" dirty="0"/>
              <a:t> Performed critical preprocessing steps, including:</a:t>
            </a:r>
          </a:p>
          <a:p>
            <a:endParaRPr lang="en-GB" sz="1400" dirty="0"/>
          </a:p>
          <a:p>
            <a:pPr marL="742950" lvl="1" indent="-285750">
              <a:buFont typeface="Arial" panose="020B0604020202020204" pitchFamily="34" charset="0"/>
              <a:buChar char="•"/>
            </a:pPr>
            <a:r>
              <a:rPr lang="en-GB" sz="1400" b="1" dirty="0"/>
              <a:t>Null Handling:</a:t>
            </a:r>
            <a:r>
              <a:rPr lang="en-GB" sz="1400" dirty="0"/>
              <a:t> Removing or imputing missing mission values.</a:t>
            </a:r>
          </a:p>
          <a:p>
            <a:pPr marL="742950" lvl="1" indent="-285750">
              <a:buFont typeface="Arial" panose="020B0604020202020204" pitchFamily="34" charset="0"/>
              <a:buChar char="•"/>
            </a:pPr>
            <a:r>
              <a:rPr lang="en-GB" sz="1400" b="1" dirty="0"/>
              <a:t>Standardization:</a:t>
            </a:r>
            <a:r>
              <a:rPr lang="en-GB" sz="1400" dirty="0"/>
              <a:t> Normalizing column headers and date formats to ensure compatibility with the API-sourced dataset.</a:t>
            </a:r>
          </a:p>
        </p:txBody>
      </p:sp>
      <p:sp>
        <p:nvSpPr>
          <p:cNvPr id="38" name="TextBox 37">
            <a:extLst>
              <a:ext uri="{FF2B5EF4-FFF2-40B4-BE49-F238E27FC236}">
                <a16:creationId xmlns:a16="http://schemas.microsoft.com/office/drawing/2014/main" id="{2D4F62F3-B2F8-AFC6-F8F8-4C0C0F2D7D31}"/>
              </a:ext>
            </a:extLst>
          </p:cNvPr>
          <p:cNvSpPr txBox="1"/>
          <p:nvPr/>
        </p:nvSpPr>
        <p:spPr>
          <a:xfrm>
            <a:off x="914400" y="5807805"/>
            <a:ext cx="4419600" cy="246221"/>
          </a:xfrm>
          <a:prstGeom prst="rect">
            <a:avLst/>
          </a:prstGeom>
          <a:noFill/>
        </p:spPr>
        <p:txBody>
          <a:bodyPr wrap="square" rtlCol="0">
            <a:spAutoFit/>
          </a:bodyPr>
          <a:lstStyle/>
          <a:p>
            <a:r>
              <a:rPr lang="en-GB" sz="1000" b="1" dirty="0"/>
              <a:t>Technical Source:</a:t>
            </a:r>
            <a:r>
              <a:rPr lang="en-GB" sz="1000" dirty="0"/>
              <a:t> </a:t>
            </a:r>
            <a:r>
              <a:rPr lang="en-GB" sz="1000" dirty="0" err="1">
                <a:hlinkClick r:id="rId2"/>
              </a:rPr>
              <a:t>Jupyter</a:t>
            </a:r>
            <a:r>
              <a:rPr lang="en-GB" sz="1000" dirty="0">
                <a:hlinkClick r:id="rId2"/>
              </a:rPr>
              <a:t> Notebook: Web Scraping Lab</a:t>
            </a:r>
            <a:endParaRPr lang="en-GB"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Data</a:t>
            </a:r>
            <a:r>
              <a:rPr spc="-240" dirty="0"/>
              <a:t> </a:t>
            </a:r>
            <a:r>
              <a:rPr spc="-55" dirty="0"/>
              <a:t>Wrangling</a:t>
            </a:r>
          </a:p>
        </p:txBody>
      </p:sp>
      <p:sp>
        <p:nvSpPr>
          <p:cNvPr id="5" name="Content Placeholder 4">
            <a:extLst>
              <a:ext uri="{FF2B5EF4-FFF2-40B4-BE49-F238E27FC236}">
                <a16:creationId xmlns:a16="http://schemas.microsoft.com/office/drawing/2014/main" id="{B89033C2-0D91-0221-1F72-C1736733573B}"/>
              </a:ext>
            </a:extLst>
          </p:cNvPr>
          <p:cNvSpPr>
            <a:spLocks noGrp="1"/>
          </p:cNvSpPr>
          <p:nvPr>
            <p:ph sz="half" idx="2"/>
          </p:nvPr>
        </p:nvSpPr>
        <p:spPr>
          <a:xfrm>
            <a:off x="849312" y="1665795"/>
            <a:ext cx="5260975" cy="1001205"/>
          </a:xfrm>
        </p:spPr>
        <p:txBody>
          <a:bodyPr/>
          <a:lstStyle/>
          <a:p>
            <a:r>
              <a:rPr lang="en-GB" b="1" dirty="0"/>
              <a:t>Data Wrangling Strategy</a:t>
            </a:r>
          </a:p>
          <a:p>
            <a:r>
              <a:rPr lang="en-GB" dirty="0"/>
              <a:t>Data wrangling serves as the bridge between raw data collection and actionable analysis. In this project, we converted disorganized inputs from multiple sources into a refined, high-quality dataset.</a:t>
            </a:r>
          </a:p>
          <a:p>
            <a:endParaRPr lang="en-GB" dirty="0"/>
          </a:p>
          <a:p>
            <a:endParaRPr lang="en-GB" dirty="0"/>
          </a:p>
          <a:p>
            <a:endParaRPr lang="en-GB" dirty="0"/>
          </a:p>
        </p:txBody>
      </p:sp>
      <p:sp>
        <p:nvSpPr>
          <p:cNvPr id="6" name="Content Placeholder 5">
            <a:extLst>
              <a:ext uri="{FF2B5EF4-FFF2-40B4-BE49-F238E27FC236}">
                <a16:creationId xmlns:a16="http://schemas.microsoft.com/office/drawing/2014/main" id="{BB7D1E68-BD55-6668-7494-78193B63E353}"/>
              </a:ext>
            </a:extLst>
          </p:cNvPr>
          <p:cNvSpPr>
            <a:spLocks noGrp="1"/>
          </p:cNvSpPr>
          <p:nvPr>
            <p:ph sz="half" idx="3"/>
          </p:nvPr>
        </p:nvSpPr>
        <p:spPr>
          <a:xfrm>
            <a:off x="6584315" y="1716341"/>
            <a:ext cx="4798059" cy="3447098"/>
          </a:xfrm>
        </p:spPr>
        <p:txBody>
          <a:bodyPr/>
          <a:lstStyle/>
          <a:p>
            <a:r>
              <a:rPr lang="en-GB" dirty="0"/>
              <a:t>3. Systematic Integration</a:t>
            </a:r>
          </a:p>
          <a:p>
            <a:pPr marL="285750" indent="-285750">
              <a:buFont typeface="Arial" panose="020B0604020202020204" pitchFamily="34" charset="0"/>
              <a:buChar char="•"/>
            </a:pPr>
            <a:r>
              <a:rPr lang="en-GB" b="1" dirty="0"/>
              <a:t>Dataset Merging:</a:t>
            </a:r>
            <a:r>
              <a:rPr lang="en-GB" dirty="0"/>
              <a:t> Executed a unified join of the API-derived launch data and the Wikipedia-scraped historical records.</a:t>
            </a:r>
          </a:p>
          <a:p>
            <a:pPr marL="285750" indent="-285750">
              <a:buFont typeface="Arial" panose="020B0604020202020204" pitchFamily="34" charset="0"/>
              <a:buChar char="•"/>
            </a:pPr>
            <a:r>
              <a:rPr lang="en-GB" b="1" dirty="0"/>
              <a:t>Schema Alignment:</a:t>
            </a:r>
            <a:r>
              <a:rPr lang="en-GB" dirty="0"/>
              <a:t> Enforced strict consistency in column naming conventions and data structures to create a single, cohesive source of truth.</a:t>
            </a:r>
          </a:p>
          <a:p>
            <a:pPr>
              <a:buFont typeface="Arial" panose="020B0604020202020204" pitchFamily="34" charset="0"/>
              <a:buChar char="•"/>
            </a:pPr>
            <a:endParaRPr lang="en-GB" dirty="0"/>
          </a:p>
          <a:p>
            <a:r>
              <a:rPr lang="en-GB" dirty="0"/>
              <a:t>4. Validation &amp; Quality Assurance</a:t>
            </a:r>
          </a:p>
          <a:p>
            <a:pPr marL="285750" indent="-285750">
              <a:buFont typeface="Arial" panose="020B0604020202020204" pitchFamily="34" charset="0"/>
              <a:buChar char="•"/>
            </a:pPr>
            <a:r>
              <a:rPr lang="en-GB" b="1" dirty="0"/>
              <a:t>Deduplication:</a:t>
            </a:r>
            <a:r>
              <a:rPr lang="en-GB" dirty="0"/>
              <a:t> Conducted a rigorous audit to identify and eliminate redundant flight records.</a:t>
            </a:r>
          </a:p>
          <a:p>
            <a:pPr marL="285750" indent="-285750">
              <a:buFont typeface="Arial" panose="020B0604020202020204" pitchFamily="34" charset="0"/>
              <a:buChar char="•"/>
            </a:pPr>
            <a:r>
              <a:rPr lang="en-GB" b="1" dirty="0"/>
              <a:t>Integrity Checks:</a:t>
            </a:r>
            <a:r>
              <a:rPr lang="en-GB" dirty="0"/>
              <a:t> Verified the accuracy and logical consistency of entry points to ensure the final dataset was "model-ready.“</a:t>
            </a:r>
          </a:p>
          <a:p>
            <a:pPr marL="285750" indent="-285750">
              <a:buFont typeface="Arial" panose="020B0604020202020204" pitchFamily="34" charset="0"/>
              <a:buChar char="•"/>
            </a:pPr>
            <a:endParaRPr lang="en-GB" dirty="0"/>
          </a:p>
          <a:p>
            <a:endParaRPr lang="en-GB" b="1" dirty="0"/>
          </a:p>
          <a:p>
            <a:r>
              <a:rPr lang="en-GB" b="1" dirty="0"/>
              <a:t>Technical Source:</a:t>
            </a:r>
            <a:r>
              <a:rPr lang="en-GB" dirty="0"/>
              <a:t> </a:t>
            </a:r>
            <a:r>
              <a:rPr lang="en-GB" dirty="0" err="1">
                <a:hlinkClick r:id="rId2"/>
              </a:rPr>
              <a:t>Jupyter</a:t>
            </a:r>
            <a:r>
              <a:rPr lang="en-GB" dirty="0">
                <a:hlinkClick r:id="rId2"/>
              </a:rPr>
              <a:t> Notebook: Data Wrangling &amp; EDA</a:t>
            </a:r>
            <a:endParaRPr lang="en-GB" dirty="0"/>
          </a:p>
          <a:p>
            <a:endParaRPr lang="en-GB"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11</a:t>
            </a:fld>
            <a:endParaRPr spc="60" dirty="0"/>
          </a:p>
        </p:txBody>
      </p:sp>
      <p:sp>
        <p:nvSpPr>
          <p:cNvPr id="7" name="Content Placeholder 4">
            <a:extLst>
              <a:ext uri="{FF2B5EF4-FFF2-40B4-BE49-F238E27FC236}">
                <a16:creationId xmlns:a16="http://schemas.microsoft.com/office/drawing/2014/main" id="{0402EBC2-8E42-E76B-B22C-7962CBE8003D}"/>
              </a:ext>
            </a:extLst>
          </p:cNvPr>
          <p:cNvSpPr txBox="1">
            <a:spLocks/>
          </p:cNvSpPr>
          <p:nvPr/>
        </p:nvSpPr>
        <p:spPr>
          <a:xfrm>
            <a:off x="849312" y="3079790"/>
            <a:ext cx="5260975" cy="3016210"/>
          </a:xfrm>
          <a:prstGeom prst="rect">
            <a:avLst/>
          </a:prstGeom>
        </p:spPr>
        <p:txBody>
          <a:bodyPr wrap="square" lIns="0" tIns="0" rIns="0" bIns="0">
            <a:spAutoFit/>
          </a:bodyPr>
          <a:lstStyle>
            <a:lvl1pPr marL="0">
              <a:defRPr sz="1400" b="0" i="0">
                <a:solidFill>
                  <a:srgbClr val="292929"/>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GB" dirty="0"/>
              <a:t>1. Data Cleaning &amp; Imputation</a:t>
            </a:r>
          </a:p>
          <a:p>
            <a:pPr marL="285750" indent="-285750">
              <a:buFont typeface="Arial" panose="020B0604020202020204" pitchFamily="34" charset="0"/>
              <a:buChar char="•"/>
            </a:pPr>
            <a:r>
              <a:rPr lang="en-GB" b="1" dirty="0"/>
              <a:t>Handling Nulls</a:t>
            </a:r>
            <a:r>
              <a:rPr lang="en-GB" dirty="0"/>
              <a:t>: Identified missing entries across mission profiles.</a:t>
            </a:r>
          </a:p>
          <a:p>
            <a:pPr marL="285750" indent="-285750">
              <a:buFont typeface="Arial" panose="020B0604020202020204" pitchFamily="34" charset="0"/>
              <a:buChar char="•"/>
            </a:pPr>
            <a:r>
              <a:rPr lang="en-GB" b="1" dirty="0"/>
              <a:t>Mitigation</a:t>
            </a:r>
            <a:r>
              <a:rPr lang="en-GB" dirty="0"/>
              <a:t>: Applied statistical imputation to fill gaps or strategically removed records with excessive missingness to prevent model bias.</a:t>
            </a:r>
          </a:p>
          <a:p>
            <a:endParaRPr lang="en-GB" dirty="0"/>
          </a:p>
          <a:p>
            <a:r>
              <a:rPr lang="en-GB" dirty="0"/>
              <a:t>2. Transformation &amp; Feature Engineering</a:t>
            </a:r>
          </a:p>
          <a:p>
            <a:pPr marL="285750" indent="-285750">
              <a:buFont typeface="Arial" panose="020B0604020202020204" pitchFamily="34" charset="0"/>
              <a:buChar char="•"/>
            </a:pPr>
            <a:r>
              <a:rPr lang="en-GB" b="1" dirty="0"/>
              <a:t>Format Standardization</a:t>
            </a:r>
            <a:r>
              <a:rPr lang="en-GB" dirty="0"/>
              <a:t>: Cast variables into appropriate types (e.g., converting strings to datetime objects or numerical floats).</a:t>
            </a:r>
          </a:p>
          <a:p>
            <a:pPr marL="285750" indent="-285750">
              <a:buFont typeface="Arial" panose="020B0604020202020204" pitchFamily="34" charset="0"/>
              <a:buChar char="•"/>
            </a:pPr>
            <a:r>
              <a:rPr lang="en-GB" b="1" dirty="0"/>
              <a:t>Text Normalization</a:t>
            </a:r>
            <a:r>
              <a:rPr lang="en-GB" dirty="0"/>
              <a:t>: Cleaned categorical strings by removing whitespace and unifying casing.</a:t>
            </a:r>
          </a:p>
          <a:p>
            <a:pPr marL="285750" indent="-285750">
              <a:buFont typeface="Arial" panose="020B0604020202020204" pitchFamily="34" charset="0"/>
              <a:buChar char="•"/>
            </a:pPr>
            <a:r>
              <a:rPr lang="en-GB" b="1" dirty="0"/>
              <a:t>Feature Enrichment</a:t>
            </a:r>
            <a:r>
              <a:rPr lang="en-GB" dirty="0"/>
              <a:t>: Engineered new predictors, such as extracting the specific launch year, and applied feature scaling to ensure numerical consistency across the dataset.</a:t>
            </a:r>
          </a:p>
          <a:p>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65" dirty="0"/>
              <a:t>EDA</a:t>
            </a:r>
            <a:r>
              <a:rPr spc="-25" dirty="0"/>
              <a:t> </a:t>
            </a:r>
            <a:r>
              <a:rPr dirty="0"/>
              <a:t>with</a:t>
            </a:r>
            <a:r>
              <a:rPr spc="-40" dirty="0"/>
              <a:t> </a:t>
            </a:r>
            <a:r>
              <a:rPr dirty="0"/>
              <a:t>Data</a:t>
            </a:r>
            <a:r>
              <a:rPr spc="-40" dirty="0"/>
              <a:t> </a:t>
            </a:r>
            <a:r>
              <a:rPr spc="-35" dirty="0"/>
              <a:t>Visualization</a:t>
            </a:r>
          </a:p>
        </p:txBody>
      </p:sp>
      <p:sp>
        <p:nvSpPr>
          <p:cNvPr id="5" name="Content Placeholder 4">
            <a:extLst>
              <a:ext uri="{FF2B5EF4-FFF2-40B4-BE49-F238E27FC236}">
                <a16:creationId xmlns:a16="http://schemas.microsoft.com/office/drawing/2014/main" id="{62652791-7EA1-D558-0EE1-105CC6BF7B01}"/>
              </a:ext>
            </a:extLst>
          </p:cNvPr>
          <p:cNvSpPr>
            <a:spLocks noGrp="1"/>
          </p:cNvSpPr>
          <p:nvPr>
            <p:ph sz="half" idx="2"/>
          </p:nvPr>
        </p:nvSpPr>
        <p:spPr>
          <a:xfrm>
            <a:off x="849312" y="1705451"/>
            <a:ext cx="5260975" cy="4585871"/>
          </a:xfrm>
        </p:spPr>
        <p:txBody>
          <a:bodyPr/>
          <a:lstStyle/>
          <a:p>
            <a:r>
              <a:rPr lang="en-GB" sz="1800" b="1" dirty="0"/>
              <a:t>Exploratory Data Analysis (EDA) through Visualization</a:t>
            </a:r>
          </a:p>
          <a:p>
            <a:r>
              <a:rPr lang="en-GB" dirty="0"/>
              <a:t>Exploratory Data Analysis (EDA) serves as the diagnostic phase of our project. By visually summarizing the dataset's core characteristics, we can identify underlying distributions, detect anomalies, and uncover predictive relationships between mission variables.</a:t>
            </a:r>
          </a:p>
          <a:p>
            <a:endParaRPr lang="en-GB" dirty="0"/>
          </a:p>
          <a:p>
            <a:r>
              <a:rPr lang="en-GB" b="1" dirty="0"/>
              <a:t>Primary Visual Analytics</a:t>
            </a:r>
          </a:p>
          <a:p>
            <a:pPr marL="285750" indent="-285750">
              <a:buFont typeface="Arial" panose="020B0604020202020204" pitchFamily="34" charset="0"/>
              <a:buChar char="•"/>
            </a:pPr>
            <a:r>
              <a:rPr lang="en-GB" u="sng" dirty="0"/>
              <a:t>Histograms</a:t>
            </a:r>
            <a:r>
              <a:rPr lang="en-GB" dirty="0"/>
              <a:t>: Used to </a:t>
            </a:r>
            <a:r>
              <a:rPr lang="en-GB" dirty="0" err="1"/>
              <a:t>analyze</a:t>
            </a:r>
            <a:r>
              <a:rPr lang="en-GB" dirty="0"/>
              <a:t> the frequency distribution of numerical variables like Payload Mass and Flight Number. This allows us to assess data skewness and identify central tendencies within the mission history.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u="sng" dirty="0"/>
              <a:t>Bar Charts</a:t>
            </a:r>
            <a:r>
              <a:rPr lang="en-GB" dirty="0"/>
              <a:t>: Essential for comparing categorical outcomes—such as Success vs. Failure rates—across different launch facilities or rocket versions. This highlights which categories yield the most reliable performance.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u="sng" dirty="0"/>
              <a:t>Line Charts</a:t>
            </a:r>
            <a:r>
              <a:rPr lang="en-GB" dirty="0"/>
              <a:t>: Deployed to track temporal trends, specifically observing how SpaceX's landing success rate has evolved over the years as their technology matured.</a:t>
            </a:r>
          </a:p>
          <a:p>
            <a:endParaRPr lang="en-GB" dirty="0"/>
          </a:p>
        </p:txBody>
      </p:sp>
      <p:sp>
        <p:nvSpPr>
          <p:cNvPr id="6" name="Content Placeholder 5">
            <a:extLst>
              <a:ext uri="{FF2B5EF4-FFF2-40B4-BE49-F238E27FC236}">
                <a16:creationId xmlns:a16="http://schemas.microsoft.com/office/drawing/2014/main" id="{6AA7C71E-809E-1670-4656-4B601BCC4108}"/>
              </a:ext>
            </a:extLst>
          </p:cNvPr>
          <p:cNvSpPr>
            <a:spLocks noGrp="1"/>
          </p:cNvSpPr>
          <p:nvPr>
            <p:ph sz="half" idx="3"/>
          </p:nvPr>
        </p:nvSpPr>
        <p:spPr>
          <a:xfrm>
            <a:off x="6584315" y="1716340"/>
            <a:ext cx="4798059" cy="3662541"/>
          </a:xfrm>
        </p:spPr>
        <p:txBody>
          <a:bodyPr/>
          <a:lstStyle/>
          <a:p>
            <a:pPr marL="285750" indent="-285750">
              <a:buFont typeface="Arial" panose="020B0604020202020204" pitchFamily="34" charset="0"/>
              <a:buChar char="•"/>
            </a:pPr>
            <a:r>
              <a:rPr lang="en-GB" u="sng" dirty="0"/>
              <a:t>Scatter Plots</a:t>
            </a:r>
            <a:r>
              <a:rPr lang="en-GB" dirty="0"/>
              <a:t>: Utilized to investigate the relationship between two continuous variables (e.g., Payload Mass vs. Launch Success). This helps determine if heavier payloads correlate with a higher risk of landing failure.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u="sng" dirty="0"/>
              <a:t>Heatmap</a:t>
            </a:r>
            <a:r>
              <a:rPr lang="en-GB" dirty="0"/>
              <a:t>s: Generated to visualize the correlation matrix across the entire dataset. These maps are vital for identifying multicollinearity and selecting the most impactful features for our machine learning models.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u="sng" dirty="0"/>
              <a:t>Box Plots</a:t>
            </a:r>
            <a:r>
              <a:rPr lang="en-GB" dirty="0"/>
              <a:t>: Used to visualize the spread and quartiles of numerical data. These are particularly effective for spotting outliers and comparing the variance in success rates across different launch sites.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r>
              <a:rPr lang="en-GB" b="1" dirty="0"/>
              <a:t>Technical Source:</a:t>
            </a:r>
            <a:r>
              <a:rPr lang="en-GB" dirty="0"/>
              <a:t> </a:t>
            </a:r>
            <a:r>
              <a:rPr lang="en-GB" dirty="0" err="1">
                <a:hlinkClick r:id="rId2"/>
              </a:rPr>
              <a:t>Jupyter</a:t>
            </a:r>
            <a:r>
              <a:rPr lang="en-GB" dirty="0">
                <a:hlinkClick r:id="rId2"/>
              </a:rPr>
              <a:t> Notebook: EDA &amp; Data Visualization</a:t>
            </a:r>
            <a:endParaRPr lang="en-GB"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12</a:t>
            </a:fld>
            <a:endParaRPr spc="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49312" y="412368"/>
            <a:ext cx="10493375" cy="632460"/>
          </a:xfrm>
        </p:spPr>
        <p:txBody>
          <a:bodyPr vert="horz" wrap="square" lIns="0" tIns="16510" rIns="0" bIns="0" rtlCol="0">
            <a:spAutoFit/>
          </a:bodyPr>
          <a:lstStyle/>
          <a:p>
            <a:r>
              <a:rPr lang="en-GB" dirty="0"/>
              <a:t>EDA with SQL</a:t>
            </a:r>
          </a:p>
        </p:txBody>
      </p:sp>
      <p:sp>
        <p:nvSpPr>
          <p:cNvPr id="12" name="Content Placeholder 11">
            <a:extLst>
              <a:ext uri="{FF2B5EF4-FFF2-40B4-BE49-F238E27FC236}">
                <a16:creationId xmlns:a16="http://schemas.microsoft.com/office/drawing/2014/main" id="{FA9303CF-CC58-5E13-E31D-0049AB3A8110}"/>
              </a:ext>
            </a:extLst>
          </p:cNvPr>
          <p:cNvSpPr>
            <a:spLocks noGrp="1"/>
          </p:cNvSpPr>
          <p:nvPr>
            <p:ph sz="half" idx="2"/>
          </p:nvPr>
        </p:nvSpPr>
        <p:spPr>
          <a:xfrm>
            <a:off x="2286000" y="1447800"/>
            <a:ext cx="7402512" cy="838200"/>
          </a:xfrm>
        </p:spPr>
        <p:txBody>
          <a:bodyPr/>
          <a:lstStyle/>
          <a:p>
            <a:pPr algn="ctr"/>
            <a:r>
              <a:rPr lang="en-GB" b="1" dirty="0"/>
              <a:t>EDA with Structured Query Language (SQL)</a:t>
            </a:r>
          </a:p>
          <a:p>
            <a:pPr algn="ctr"/>
            <a:r>
              <a:rPr lang="en-GB" dirty="0"/>
              <a:t>In addition to visual exploration, we employed </a:t>
            </a:r>
            <a:r>
              <a:rPr lang="en-GB" b="1" dirty="0"/>
              <a:t>SQL</a:t>
            </a:r>
            <a:r>
              <a:rPr lang="en-GB" dirty="0"/>
              <a:t> to perform precise, structured analysis of the dataset. This allowed for granular data auditing and the extraction of high-level mission statistics.</a:t>
            </a:r>
          </a:p>
          <a:p>
            <a:pPr algn="ctr"/>
            <a:endParaRPr lang="en-GB" dirty="0"/>
          </a:p>
          <a:p>
            <a:pPr algn="ctr"/>
            <a:endParaRPr lang="en-GB" dirty="0"/>
          </a:p>
          <a:p>
            <a:pPr algn="ctr"/>
            <a:endParaRPr lang="en-GB" dirty="0"/>
          </a:p>
        </p:txBody>
      </p:sp>
      <p:sp>
        <p:nvSpPr>
          <p:cNvPr id="13" name="Content Placeholder 12">
            <a:extLst>
              <a:ext uri="{FF2B5EF4-FFF2-40B4-BE49-F238E27FC236}">
                <a16:creationId xmlns:a16="http://schemas.microsoft.com/office/drawing/2014/main" id="{353E4E1A-D457-05C2-553B-DC41AD9B9F8B}"/>
              </a:ext>
            </a:extLst>
          </p:cNvPr>
          <p:cNvSpPr>
            <a:spLocks noGrp="1"/>
          </p:cNvSpPr>
          <p:nvPr>
            <p:ph sz="half" idx="3"/>
          </p:nvPr>
        </p:nvSpPr>
        <p:spPr>
          <a:xfrm>
            <a:off x="457200" y="2330946"/>
            <a:ext cx="10885488" cy="3231654"/>
          </a:xfrm>
        </p:spPr>
        <p:txBody>
          <a:bodyPr/>
          <a:lstStyle/>
          <a:p>
            <a:pPr algn="ctr"/>
            <a:r>
              <a:rPr lang="en-GB" b="1" dirty="0"/>
              <a:t>Key Query Operations</a:t>
            </a:r>
          </a:p>
          <a:p>
            <a:r>
              <a:rPr lang="en-GB" b="1" dirty="0"/>
              <a:t>Aggregate Functions</a:t>
            </a:r>
            <a:r>
              <a:rPr lang="en-GB" dirty="0"/>
              <a:t>: Summarized the entire dataset to calculate the total mission count, tally success vs. failure instances, and determine specific success rates partitioned by launch site and rocket configuration.</a:t>
            </a:r>
          </a:p>
          <a:p>
            <a:endParaRPr lang="en-GB" dirty="0"/>
          </a:p>
          <a:p>
            <a:r>
              <a:rPr lang="en-GB" b="1" dirty="0"/>
              <a:t>Join Operations</a:t>
            </a:r>
            <a:r>
              <a:rPr lang="en-GB" dirty="0"/>
              <a:t>: Merged disparate tables to correlate core launch records with supplementary metadata, such as technical rocket specifications, creating a holistic view of each mission.</a:t>
            </a:r>
          </a:p>
          <a:p>
            <a:endParaRPr lang="en-GB" dirty="0"/>
          </a:p>
          <a:p>
            <a:r>
              <a:rPr lang="en-GB" b="1" dirty="0"/>
              <a:t>Filtering &amp; Data </a:t>
            </a:r>
            <a:r>
              <a:rPr lang="en-GB" b="1" dirty="0" err="1"/>
              <a:t>Subsetting</a:t>
            </a:r>
            <a:r>
              <a:rPr lang="en-GB" dirty="0"/>
              <a:t>: Used WHERE clauses to isolate specific mission profiles based on temporal windows, rocket types, or outcome categories (e.g., focusing exclusively on "successful" landings).</a:t>
            </a:r>
          </a:p>
          <a:p>
            <a:endParaRPr lang="en-GB" dirty="0"/>
          </a:p>
          <a:p>
            <a:r>
              <a:rPr lang="en-GB" b="1" dirty="0"/>
              <a:t>Sorting &amp; Ordering</a:t>
            </a:r>
            <a:r>
              <a:rPr lang="en-GB" dirty="0"/>
              <a:t>: Applied ORDER BY logic to chronological data and performance metrics, making it easier to identify temporal trends and performance outliers.</a:t>
            </a:r>
          </a:p>
          <a:p>
            <a:endParaRPr lang="en-GB" dirty="0"/>
          </a:p>
          <a:p>
            <a:r>
              <a:rPr lang="en-GB" b="1" dirty="0"/>
              <a:t>Advanced Subqueries</a:t>
            </a:r>
            <a:r>
              <a:rPr lang="en-GB" dirty="0"/>
              <a:t>: Leveraged nested queries to compute complex derived metrics, such as calculating the average payload mass per specific launch facility, which provided deeper context for predictive </a:t>
            </a:r>
            <a:r>
              <a:rPr lang="en-GB" dirty="0" err="1"/>
              <a:t>modeling</a:t>
            </a:r>
            <a:r>
              <a:rPr lang="en-GB" dirty="0"/>
              <a:t>.</a:t>
            </a:r>
          </a:p>
        </p:txBody>
      </p:sp>
      <p:sp>
        <p:nvSpPr>
          <p:cNvPr id="9" name="object 9"/>
          <p:cNvSpPr txBox="1">
            <a:spLocks noGrp="1"/>
          </p:cNvSpPr>
          <p:nvPr>
            <p:ph type="sldNum" sz="quarter" idx="7"/>
          </p:nvPr>
        </p:nvSpPr>
        <p:spPr>
          <a:xfrm>
            <a:off x="11091291" y="6113199"/>
            <a:ext cx="336550" cy="252729"/>
          </a:xfrm>
        </p:spPr>
        <p:txBody>
          <a:bodyPr vert="horz" wrap="square" lIns="0" tIns="0" rIns="0" bIns="0" rtlCol="0">
            <a:spAutoFit/>
          </a:bodyPr>
          <a:lstStyle/>
          <a:p>
            <a:fld id="{81D60167-4931-47E6-BA6A-407CBD079E47}" type="slidenum">
              <a:rPr lang="en-GB" dirty="0"/>
              <a:pPr/>
              <a:t>13</a:t>
            </a:fld>
            <a:endParaRPr lang="en-GB" dirty="0"/>
          </a:p>
        </p:txBody>
      </p:sp>
      <p:sp>
        <p:nvSpPr>
          <p:cNvPr id="15" name="TextBox 14">
            <a:extLst>
              <a:ext uri="{FF2B5EF4-FFF2-40B4-BE49-F238E27FC236}">
                <a16:creationId xmlns:a16="http://schemas.microsoft.com/office/drawing/2014/main" id="{F1C4783C-0ED6-AC85-1FE5-C8C8BD21F82B}"/>
              </a:ext>
            </a:extLst>
          </p:cNvPr>
          <p:cNvSpPr txBox="1"/>
          <p:nvPr/>
        </p:nvSpPr>
        <p:spPr>
          <a:xfrm>
            <a:off x="7086600" y="5867400"/>
            <a:ext cx="3886200" cy="276999"/>
          </a:xfrm>
          <a:prstGeom prst="rect">
            <a:avLst/>
          </a:prstGeom>
          <a:noFill/>
        </p:spPr>
        <p:txBody>
          <a:bodyPr wrap="square" rtlCol="0">
            <a:spAutoFit/>
          </a:bodyPr>
          <a:lstStyle/>
          <a:p>
            <a:r>
              <a:rPr lang="en-GB" sz="1200" b="1" dirty="0"/>
              <a:t>Technical Source:</a:t>
            </a:r>
            <a:r>
              <a:rPr lang="en-GB" sz="1200" dirty="0"/>
              <a:t> </a:t>
            </a:r>
            <a:r>
              <a:rPr lang="en-GB" sz="1200" dirty="0" err="1">
                <a:hlinkClick r:id="rId2"/>
              </a:rPr>
              <a:t>Jupyter</a:t>
            </a:r>
            <a:r>
              <a:rPr lang="en-GB" sz="1200" dirty="0">
                <a:hlinkClick r:id="rId2"/>
              </a:rPr>
              <a:t> Notebook: SQL EDA Lab</a:t>
            </a:r>
            <a:endParaRPr lang="en-GB"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49312" y="412368"/>
            <a:ext cx="10493375" cy="632460"/>
          </a:xfrm>
        </p:spPr>
        <p:txBody>
          <a:bodyPr vert="horz" wrap="square" lIns="0" tIns="16510" rIns="0" bIns="0" rtlCol="0">
            <a:spAutoFit/>
          </a:bodyPr>
          <a:lstStyle/>
          <a:p>
            <a:r>
              <a:rPr lang="en-GB" dirty="0"/>
              <a:t>Build an Interactive Map with Folium</a:t>
            </a:r>
          </a:p>
        </p:txBody>
      </p:sp>
      <p:sp>
        <p:nvSpPr>
          <p:cNvPr id="9" name="Content Placeholder 8">
            <a:extLst>
              <a:ext uri="{FF2B5EF4-FFF2-40B4-BE49-F238E27FC236}">
                <a16:creationId xmlns:a16="http://schemas.microsoft.com/office/drawing/2014/main" id="{0976FFE9-FD97-2FB7-3178-5A06350C3A10}"/>
              </a:ext>
            </a:extLst>
          </p:cNvPr>
          <p:cNvSpPr>
            <a:spLocks noGrp="1"/>
          </p:cNvSpPr>
          <p:nvPr>
            <p:ph sz="half" idx="2"/>
          </p:nvPr>
        </p:nvSpPr>
        <p:spPr>
          <a:xfrm>
            <a:off x="849312" y="1716341"/>
            <a:ext cx="5260975" cy="1723549"/>
          </a:xfrm>
        </p:spPr>
        <p:txBody>
          <a:bodyPr/>
          <a:lstStyle/>
          <a:p>
            <a:r>
              <a:rPr lang="en-GB" b="1" dirty="0"/>
              <a:t>Interactive Geospatial Analysis with Folium</a:t>
            </a:r>
          </a:p>
          <a:p>
            <a:r>
              <a:rPr lang="en-GB" dirty="0"/>
              <a:t>To better understand the geographical distribution of SpaceX operations, we developed an interactive map using the </a:t>
            </a:r>
            <a:r>
              <a:rPr lang="en-GB" b="1" dirty="0"/>
              <a:t>Folium</a:t>
            </a:r>
            <a:r>
              <a:rPr lang="en-GB" dirty="0"/>
              <a:t> library. This spatial visualization provides critical context regarding launch site proximity to infrastructure and landing zones.</a:t>
            </a:r>
          </a:p>
          <a:p>
            <a:endParaRPr lang="en-GB" dirty="0"/>
          </a:p>
          <a:p>
            <a:r>
              <a:rPr lang="en-GB" b="1" dirty="0"/>
              <a:t>Interactive Map Components</a:t>
            </a:r>
          </a:p>
          <a:p>
            <a:endParaRPr lang="en-GB" dirty="0"/>
          </a:p>
        </p:txBody>
      </p:sp>
      <p:graphicFrame>
        <p:nvGraphicFramePr>
          <p:cNvPr id="16" name="Content Placeholder 15">
            <a:extLst>
              <a:ext uri="{FF2B5EF4-FFF2-40B4-BE49-F238E27FC236}">
                <a16:creationId xmlns:a16="http://schemas.microsoft.com/office/drawing/2014/main" id="{D12F7461-31BE-1863-BFE4-BB31E6822815}"/>
              </a:ext>
            </a:extLst>
          </p:cNvPr>
          <p:cNvGraphicFramePr>
            <a:graphicFrameLocks noGrp="1"/>
          </p:cNvGraphicFramePr>
          <p:nvPr>
            <p:ph sz="half" idx="3"/>
            <p:extLst>
              <p:ext uri="{D42A27DB-BD31-4B8C-83A1-F6EECF244321}">
                <p14:modId xmlns:p14="http://schemas.microsoft.com/office/powerpoint/2010/main" val="2430524073"/>
              </p:ext>
            </p:extLst>
          </p:nvPr>
        </p:nvGraphicFramePr>
        <p:xfrm>
          <a:off x="842724" y="3526220"/>
          <a:ext cx="5253276" cy="2722180"/>
        </p:xfrm>
        <a:graphic>
          <a:graphicData uri="http://schemas.openxmlformats.org/drawingml/2006/table">
            <a:tbl>
              <a:tblPr/>
              <a:tblGrid>
                <a:gridCol w="1138476">
                  <a:extLst>
                    <a:ext uri="{9D8B030D-6E8A-4147-A177-3AD203B41FA5}">
                      <a16:colId xmlns:a16="http://schemas.microsoft.com/office/drawing/2014/main" val="3940752466"/>
                    </a:ext>
                  </a:extLst>
                </a:gridCol>
                <a:gridCol w="1981200">
                  <a:extLst>
                    <a:ext uri="{9D8B030D-6E8A-4147-A177-3AD203B41FA5}">
                      <a16:colId xmlns:a16="http://schemas.microsoft.com/office/drawing/2014/main" val="808681464"/>
                    </a:ext>
                  </a:extLst>
                </a:gridCol>
                <a:gridCol w="2133600">
                  <a:extLst>
                    <a:ext uri="{9D8B030D-6E8A-4147-A177-3AD203B41FA5}">
                      <a16:colId xmlns:a16="http://schemas.microsoft.com/office/drawing/2014/main" val="1983574418"/>
                    </a:ext>
                  </a:extLst>
                </a:gridCol>
              </a:tblGrid>
              <a:tr h="271751">
                <a:tc>
                  <a:txBody>
                    <a:bodyPr/>
                    <a:lstStyle/>
                    <a:p>
                      <a:pPr algn="just"/>
                      <a:r>
                        <a:rPr lang="en-GB" sz="1400" b="1" dirty="0"/>
                        <a:t>Object</a:t>
                      </a:r>
                    </a:p>
                  </a:txBody>
                  <a:tcPr marL="42447" marR="42447" marT="21224" marB="21224" anchor="ctr">
                    <a:lnL>
                      <a:noFill/>
                    </a:lnL>
                    <a:lnR>
                      <a:noFill/>
                    </a:lnR>
                    <a:lnT>
                      <a:noFill/>
                    </a:lnT>
                    <a:lnB>
                      <a:noFill/>
                    </a:lnB>
                    <a:noFill/>
                  </a:tcPr>
                </a:tc>
                <a:tc>
                  <a:txBody>
                    <a:bodyPr/>
                    <a:lstStyle/>
                    <a:p>
                      <a:pPr algn="just"/>
                      <a:r>
                        <a:rPr lang="en-GB" sz="1400" b="1" dirty="0"/>
                        <a:t>Implementation</a:t>
                      </a:r>
                      <a:endParaRPr lang="en-GB" sz="1100" b="1" dirty="0"/>
                    </a:p>
                  </a:txBody>
                  <a:tcPr marL="42447" marR="42447" marT="21224" marB="21224" anchor="ctr">
                    <a:lnL>
                      <a:noFill/>
                    </a:lnL>
                    <a:lnR>
                      <a:noFill/>
                    </a:lnR>
                    <a:lnT>
                      <a:noFill/>
                    </a:lnT>
                    <a:lnB>
                      <a:noFill/>
                    </a:lnB>
                    <a:noFill/>
                  </a:tcPr>
                </a:tc>
                <a:tc>
                  <a:txBody>
                    <a:bodyPr/>
                    <a:lstStyle/>
                    <a:p>
                      <a:pPr algn="just"/>
                      <a:r>
                        <a:rPr lang="en-GB" sz="1400" b="1" dirty="0"/>
                        <a:t>Strategic Purpose</a:t>
                      </a:r>
                    </a:p>
                  </a:txBody>
                  <a:tcPr marL="42447" marR="42447" marT="21224" marB="21224" anchor="ctr">
                    <a:lnL>
                      <a:noFill/>
                    </a:lnL>
                    <a:lnR>
                      <a:noFill/>
                    </a:lnR>
                    <a:lnT>
                      <a:noFill/>
                    </a:lnT>
                    <a:lnB>
                      <a:noFill/>
                    </a:lnB>
                    <a:noFill/>
                  </a:tcPr>
                </a:tc>
                <a:extLst>
                  <a:ext uri="{0D108BD9-81ED-4DB2-BD59-A6C34878D82A}">
                    <a16:rowId xmlns:a16="http://schemas.microsoft.com/office/drawing/2014/main" val="652388912"/>
                  </a:ext>
                </a:extLst>
              </a:tr>
              <a:tr h="757447">
                <a:tc>
                  <a:txBody>
                    <a:bodyPr/>
                    <a:lstStyle/>
                    <a:p>
                      <a:pPr algn="l"/>
                      <a:r>
                        <a:rPr lang="en-GB" sz="1100" b="1"/>
                        <a:t>Markers</a:t>
                      </a:r>
                      <a:endParaRPr lang="en-GB" sz="1100"/>
                    </a:p>
                  </a:txBody>
                  <a:tcPr marL="42447" marR="42447" marT="21224" marB="21224" anchor="ctr">
                    <a:lnL>
                      <a:noFill/>
                    </a:lnL>
                    <a:lnR>
                      <a:noFill/>
                    </a:lnR>
                    <a:lnT>
                      <a:noFill/>
                    </a:lnT>
                    <a:lnB>
                      <a:noFill/>
                    </a:lnB>
                    <a:noFill/>
                  </a:tcPr>
                </a:tc>
                <a:tc>
                  <a:txBody>
                    <a:bodyPr/>
                    <a:lstStyle/>
                    <a:p>
                      <a:pPr algn="l"/>
                      <a:r>
                        <a:rPr lang="en-GB" sz="1100" dirty="0"/>
                        <a:t>Placed at exact GPS coordinates for each facility.</a:t>
                      </a:r>
                    </a:p>
                  </a:txBody>
                  <a:tcPr marL="42447" marR="42447" marT="21224" marB="21224" anchor="ctr">
                    <a:lnL>
                      <a:noFill/>
                    </a:lnL>
                    <a:lnR>
                      <a:noFill/>
                    </a:lnR>
                    <a:lnT>
                      <a:noFill/>
                    </a:lnT>
                    <a:lnB>
                      <a:noFill/>
                    </a:lnB>
                    <a:noFill/>
                  </a:tcPr>
                </a:tc>
                <a:tc>
                  <a:txBody>
                    <a:bodyPr/>
                    <a:lstStyle/>
                    <a:p>
                      <a:pPr algn="l"/>
                      <a:r>
                        <a:rPr lang="en-GB" sz="1100" dirty="0"/>
                        <a:t>Pinpoints precise launch locations for spatial reference and identification.</a:t>
                      </a:r>
                    </a:p>
                  </a:txBody>
                  <a:tcPr marL="42447" marR="42447" marT="21224" marB="21224" anchor="ctr">
                    <a:lnL>
                      <a:noFill/>
                    </a:lnL>
                    <a:lnR>
                      <a:noFill/>
                    </a:lnR>
                    <a:lnT>
                      <a:noFill/>
                    </a:lnT>
                    <a:lnB>
                      <a:noFill/>
                    </a:lnB>
                    <a:noFill/>
                  </a:tcPr>
                </a:tc>
                <a:extLst>
                  <a:ext uri="{0D108BD9-81ED-4DB2-BD59-A6C34878D82A}">
                    <a16:rowId xmlns:a16="http://schemas.microsoft.com/office/drawing/2014/main" val="1127528214"/>
                  </a:ext>
                </a:extLst>
              </a:tr>
              <a:tr h="757447">
                <a:tc>
                  <a:txBody>
                    <a:bodyPr/>
                    <a:lstStyle/>
                    <a:p>
                      <a:pPr algn="l"/>
                      <a:r>
                        <a:rPr lang="en-GB" sz="1100" b="1"/>
                        <a:t>Circles</a:t>
                      </a:r>
                      <a:endParaRPr lang="en-GB" sz="1100"/>
                    </a:p>
                  </a:txBody>
                  <a:tcPr marL="42447" marR="42447" marT="21224" marB="21224" anchor="ctr">
                    <a:lnL>
                      <a:noFill/>
                    </a:lnL>
                    <a:lnR>
                      <a:noFill/>
                    </a:lnR>
                    <a:lnT>
                      <a:noFill/>
                    </a:lnT>
                    <a:lnB>
                      <a:noFill/>
                    </a:lnB>
                    <a:noFill/>
                  </a:tcPr>
                </a:tc>
                <a:tc>
                  <a:txBody>
                    <a:bodyPr/>
                    <a:lstStyle/>
                    <a:p>
                      <a:pPr algn="l"/>
                      <a:r>
                        <a:rPr lang="en-GB" sz="1100"/>
                        <a:t>Rendered as proximity buffers around each site.</a:t>
                      </a:r>
                    </a:p>
                  </a:txBody>
                  <a:tcPr marL="42447" marR="42447" marT="21224" marB="21224" anchor="ctr">
                    <a:lnL>
                      <a:noFill/>
                    </a:lnL>
                    <a:lnR>
                      <a:noFill/>
                    </a:lnR>
                    <a:lnT>
                      <a:noFill/>
                    </a:lnT>
                    <a:lnB>
                      <a:noFill/>
                    </a:lnB>
                    <a:noFill/>
                  </a:tcPr>
                </a:tc>
                <a:tc>
                  <a:txBody>
                    <a:bodyPr/>
                    <a:lstStyle/>
                    <a:p>
                      <a:pPr algn="l"/>
                      <a:r>
                        <a:rPr lang="en-GB" sz="1100"/>
                        <a:t>Illustrates safety perimeters, operational boundaries, and regional impact zones.</a:t>
                      </a:r>
                    </a:p>
                  </a:txBody>
                  <a:tcPr marL="42447" marR="42447" marT="21224" marB="21224" anchor="ctr">
                    <a:lnL>
                      <a:noFill/>
                    </a:lnL>
                    <a:lnR>
                      <a:noFill/>
                    </a:lnR>
                    <a:lnT>
                      <a:noFill/>
                    </a:lnT>
                    <a:lnB>
                      <a:noFill/>
                    </a:lnB>
                    <a:noFill/>
                  </a:tcPr>
                </a:tc>
                <a:extLst>
                  <a:ext uri="{0D108BD9-81ED-4DB2-BD59-A6C34878D82A}">
                    <a16:rowId xmlns:a16="http://schemas.microsoft.com/office/drawing/2014/main" val="807261244"/>
                  </a:ext>
                </a:extLst>
              </a:tr>
              <a:tr h="935535">
                <a:tc>
                  <a:txBody>
                    <a:bodyPr/>
                    <a:lstStyle/>
                    <a:p>
                      <a:pPr algn="l"/>
                      <a:r>
                        <a:rPr lang="en-GB" sz="1100" b="1" dirty="0"/>
                        <a:t>Lines</a:t>
                      </a:r>
                      <a:endParaRPr lang="en-GB" sz="1100" dirty="0"/>
                    </a:p>
                  </a:txBody>
                  <a:tcPr marL="42447" marR="42447" marT="21224" marB="21224" anchor="ctr">
                    <a:lnL>
                      <a:noFill/>
                    </a:lnL>
                    <a:lnR>
                      <a:noFill/>
                    </a:lnR>
                    <a:lnT>
                      <a:noFill/>
                    </a:lnT>
                    <a:lnB>
                      <a:noFill/>
                    </a:lnB>
                    <a:noFill/>
                  </a:tcPr>
                </a:tc>
                <a:tc>
                  <a:txBody>
                    <a:bodyPr/>
                    <a:lstStyle/>
                    <a:p>
                      <a:pPr algn="l"/>
                      <a:r>
                        <a:rPr lang="en-GB" sz="1100"/>
                        <a:t>Drawn to connect launch sites with key geographical features.</a:t>
                      </a:r>
                    </a:p>
                  </a:txBody>
                  <a:tcPr marL="42447" marR="42447" marT="21224" marB="21224" anchor="ctr">
                    <a:lnL>
                      <a:noFill/>
                    </a:lnL>
                    <a:lnR>
                      <a:noFill/>
                    </a:lnR>
                    <a:lnT>
                      <a:noFill/>
                    </a:lnT>
                    <a:lnB>
                      <a:noFill/>
                    </a:lnB>
                    <a:noFill/>
                  </a:tcPr>
                </a:tc>
                <a:tc>
                  <a:txBody>
                    <a:bodyPr/>
                    <a:lstStyle/>
                    <a:p>
                      <a:pPr algn="l"/>
                      <a:r>
                        <a:rPr lang="en-GB" sz="1100" dirty="0"/>
                        <a:t>Visualizes spatial dependencies and distances to relevant landmarks (e.g., coastlines or recovery ships).</a:t>
                      </a:r>
                    </a:p>
                  </a:txBody>
                  <a:tcPr marL="42447" marR="42447" marT="21224" marB="21224" anchor="ctr">
                    <a:lnL>
                      <a:noFill/>
                    </a:lnL>
                    <a:lnR>
                      <a:noFill/>
                    </a:lnR>
                    <a:lnT>
                      <a:noFill/>
                    </a:lnT>
                    <a:lnB>
                      <a:noFill/>
                    </a:lnB>
                    <a:noFill/>
                  </a:tcPr>
                </a:tc>
                <a:extLst>
                  <a:ext uri="{0D108BD9-81ED-4DB2-BD59-A6C34878D82A}">
                    <a16:rowId xmlns:a16="http://schemas.microsoft.com/office/drawing/2014/main" val="4220252539"/>
                  </a:ext>
                </a:extLst>
              </a:tr>
            </a:tbl>
          </a:graphicData>
        </a:graphic>
      </p:graphicFrame>
      <p:sp>
        <p:nvSpPr>
          <p:cNvPr id="11" name="Content Placeholder 8">
            <a:extLst>
              <a:ext uri="{FF2B5EF4-FFF2-40B4-BE49-F238E27FC236}">
                <a16:creationId xmlns:a16="http://schemas.microsoft.com/office/drawing/2014/main" id="{B5ACB0F7-4B1B-9BEB-EB85-9202CEACBA19}"/>
              </a:ext>
            </a:extLst>
          </p:cNvPr>
          <p:cNvSpPr txBox="1">
            <a:spLocks/>
          </p:cNvSpPr>
          <p:nvPr/>
        </p:nvSpPr>
        <p:spPr>
          <a:xfrm>
            <a:off x="865505" y="2895600"/>
            <a:ext cx="5260975" cy="1292662"/>
          </a:xfrm>
          <a:prstGeom prst="rect">
            <a:avLst/>
          </a:prstGeom>
        </p:spPr>
        <p:txBody>
          <a:bodyPr wrap="square" lIns="0" tIns="0" rIns="0" bIns="0">
            <a:spAutoFit/>
          </a:bodyPr>
          <a:lstStyle>
            <a:lvl1pPr marL="0">
              <a:defRPr sz="1400" b="0" i="0">
                <a:solidFill>
                  <a:srgbClr val="292929"/>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n-GB" b="1" dirty="0"/>
          </a:p>
          <a:p>
            <a:endParaRPr lang="en-GB" b="1" dirty="0"/>
          </a:p>
          <a:p>
            <a:endParaRPr lang="en-GB" b="1" dirty="0"/>
          </a:p>
          <a:p>
            <a:endParaRPr lang="en-GB" b="1" dirty="0"/>
          </a:p>
          <a:p>
            <a:endParaRPr lang="en-GB" dirty="0"/>
          </a:p>
          <a:p>
            <a:endParaRPr lang="en-GB" dirty="0"/>
          </a:p>
        </p:txBody>
      </p:sp>
      <p:sp>
        <p:nvSpPr>
          <p:cNvPr id="17" name="TextBox 16">
            <a:extLst>
              <a:ext uri="{FF2B5EF4-FFF2-40B4-BE49-F238E27FC236}">
                <a16:creationId xmlns:a16="http://schemas.microsoft.com/office/drawing/2014/main" id="{1B8DE0AA-81E1-BCAE-1BBA-0501D1B80D1B}"/>
              </a:ext>
            </a:extLst>
          </p:cNvPr>
          <p:cNvSpPr txBox="1"/>
          <p:nvPr/>
        </p:nvSpPr>
        <p:spPr>
          <a:xfrm>
            <a:off x="6553200" y="1716341"/>
            <a:ext cx="5181600" cy="3139321"/>
          </a:xfrm>
          <a:prstGeom prst="rect">
            <a:avLst/>
          </a:prstGeom>
          <a:noFill/>
        </p:spPr>
        <p:txBody>
          <a:bodyPr wrap="square" rtlCol="0">
            <a:spAutoFit/>
          </a:bodyPr>
          <a:lstStyle/>
          <a:p>
            <a:r>
              <a:rPr lang="en-GB" sz="1400" b="1" dirty="0">
                <a:latin typeface="+mn-lt"/>
              </a:rPr>
              <a:t>Analytical Value</a:t>
            </a:r>
          </a:p>
          <a:p>
            <a:endParaRPr lang="en-GB" sz="1400" b="1" dirty="0">
              <a:latin typeface="+mn-lt"/>
            </a:endParaRPr>
          </a:p>
          <a:p>
            <a:pPr marL="285750" indent="-285750">
              <a:buFont typeface="Arial" panose="020B0604020202020204" pitchFamily="34" charset="0"/>
              <a:buChar char="•"/>
            </a:pPr>
            <a:r>
              <a:rPr lang="en-GB" sz="1400" b="1" dirty="0">
                <a:latin typeface="+mn-lt"/>
              </a:rPr>
              <a:t>Geographical Identification:</a:t>
            </a:r>
            <a:r>
              <a:rPr lang="en-GB" sz="1400" dirty="0">
                <a:latin typeface="+mn-lt"/>
              </a:rPr>
              <a:t> Allows users to visualize exactly where SpaceX conducts missions relative to global geography.</a:t>
            </a:r>
          </a:p>
          <a:p>
            <a:pPr marL="285750" indent="-285750">
              <a:buFont typeface="Arial" panose="020B0604020202020204" pitchFamily="34" charset="0"/>
              <a:buChar char="•"/>
            </a:pPr>
            <a:r>
              <a:rPr lang="en-GB" sz="1400" b="1" dirty="0">
                <a:latin typeface="+mn-lt"/>
              </a:rPr>
              <a:t>Safety &amp; Logistics:</a:t>
            </a:r>
            <a:r>
              <a:rPr lang="en-GB" sz="1400" dirty="0">
                <a:latin typeface="+mn-lt"/>
              </a:rPr>
              <a:t> The use of circles helps define proximity zones that may influence launch decisions or safety protocols.</a:t>
            </a:r>
          </a:p>
          <a:p>
            <a:pPr marL="285750" indent="-285750">
              <a:buFont typeface="Arial" panose="020B0604020202020204" pitchFamily="34" charset="0"/>
              <a:buChar char="•"/>
            </a:pPr>
            <a:r>
              <a:rPr lang="en-GB" sz="1400" b="1" dirty="0">
                <a:latin typeface="+mn-lt"/>
              </a:rPr>
              <a:t>Connectivity:</a:t>
            </a:r>
            <a:r>
              <a:rPr lang="en-GB" sz="1400" dirty="0">
                <a:latin typeface="+mn-lt"/>
              </a:rPr>
              <a:t> Lines provide clear spatial context, helping analysts understand the relationship between launch points and other mission-critical areas of interest.</a:t>
            </a:r>
          </a:p>
          <a:p>
            <a:pPr marL="285750" indent="-285750">
              <a:buFont typeface="Arial" panose="020B0604020202020204" pitchFamily="34" charset="0"/>
              <a:buChar char="•"/>
            </a:pPr>
            <a:endParaRPr lang="en-GB" sz="1400" dirty="0">
              <a:latin typeface="+mn-lt"/>
            </a:endParaRPr>
          </a:p>
          <a:p>
            <a:pPr marL="285750" indent="-285750">
              <a:buFont typeface="Arial" panose="020B0604020202020204" pitchFamily="34" charset="0"/>
              <a:buChar char="•"/>
            </a:pPr>
            <a:endParaRPr lang="en-GB" sz="1400" dirty="0">
              <a:latin typeface="+mn-lt"/>
            </a:endParaRPr>
          </a:p>
          <a:p>
            <a:pPr marL="285750" indent="-285750">
              <a:buFont typeface="Arial" panose="020B0604020202020204" pitchFamily="34" charset="0"/>
              <a:buChar char="•"/>
            </a:pPr>
            <a:endParaRPr lang="en-GB" sz="1400" dirty="0">
              <a:latin typeface="+mn-lt"/>
            </a:endParaRPr>
          </a:p>
          <a:p>
            <a:r>
              <a:rPr lang="en-GB" sz="1200" b="1" dirty="0"/>
              <a:t>Technical Source:</a:t>
            </a:r>
            <a:r>
              <a:rPr lang="en-GB" sz="1200" dirty="0"/>
              <a:t> </a:t>
            </a:r>
            <a:r>
              <a:rPr lang="en-GB" sz="1200" dirty="0" err="1">
                <a:hlinkClick r:id="rId2"/>
              </a:rPr>
              <a:t>Jupyter</a:t>
            </a:r>
            <a:r>
              <a:rPr lang="en-GB" sz="1200" dirty="0">
                <a:hlinkClick r:id="rId2"/>
              </a:rPr>
              <a:t> Notebook: Folium Launch Site Analysis</a:t>
            </a:r>
            <a:endParaRPr lang="en-GB" sz="1200" dirty="0">
              <a:latin typeface="+mn-lt"/>
            </a:endParaRPr>
          </a:p>
          <a:p>
            <a:endParaRPr lang="en-GB" dirty="0"/>
          </a:p>
        </p:txBody>
      </p:sp>
      <p:sp>
        <p:nvSpPr>
          <p:cNvPr id="20" name="object 5">
            <a:extLst>
              <a:ext uri="{FF2B5EF4-FFF2-40B4-BE49-F238E27FC236}">
                <a16:creationId xmlns:a16="http://schemas.microsoft.com/office/drawing/2014/main" id="{55EB6D59-0B5E-6B82-64B3-D523A87C3964}"/>
              </a:ext>
            </a:extLst>
          </p:cNvPr>
          <p:cNvSpPr txBox="1">
            <a:spLocks noGrp="1"/>
          </p:cNvSpPr>
          <p:nvPr>
            <p:ph type="sldNum" sz="quarter" idx="7"/>
          </p:nvPr>
        </p:nvSpPr>
        <p:spPr>
          <a:xfrm>
            <a:off x="11091291" y="6113199"/>
            <a:ext cx="336550" cy="252729"/>
          </a:xfrm>
        </p:spPr>
        <p:txBody>
          <a:bodyPr vert="horz" wrap="square" lIns="0" tIns="0" rIns="0" bIns="0" rtlCol="0">
            <a:spAutoFit/>
          </a:bodyPr>
          <a:lstStyle/>
          <a:p>
            <a:fld id="{81D60167-4931-47E6-BA6A-407CBD079E47}" type="slidenum">
              <a:rPr lang="en-GB" dirty="0"/>
              <a:pPr/>
              <a:t>14</a:t>
            </a:fld>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vert="horz" wrap="square" lIns="0" tIns="16510" rIns="0" bIns="0" rtlCol="0">
            <a:spAutoFit/>
          </a:bodyPr>
          <a:lstStyle/>
          <a:p>
            <a:r>
              <a:rPr lang="en-GB" dirty="0"/>
              <a:t>Build a Dashboard with Plotly Dash</a:t>
            </a:r>
          </a:p>
        </p:txBody>
      </p:sp>
      <p:sp>
        <p:nvSpPr>
          <p:cNvPr id="11" name="Text Placeholder 10">
            <a:extLst>
              <a:ext uri="{FF2B5EF4-FFF2-40B4-BE49-F238E27FC236}">
                <a16:creationId xmlns:a16="http://schemas.microsoft.com/office/drawing/2014/main" id="{EA130F8F-91D8-5A27-0234-6DC15C7C48CB}"/>
              </a:ext>
            </a:extLst>
          </p:cNvPr>
          <p:cNvSpPr>
            <a:spLocks noGrp="1"/>
          </p:cNvSpPr>
          <p:nvPr>
            <p:ph type="body" idx="1"/>
          </p:nvPr>
        </p:nvSpPr>
        <p:spPr>
          <a:xfrm>
            <a:off x="849312" y="1511617"/>
            <a:ext cx="10333990" cy="861774"/>
          </a:xfrm>
        </p:spPr>
        <p:txBody>
          <a:bodyPr/>
          <a:lstStyle/>
          <a:p>
            <a:pPr algn="ctr"/>
            <a:r>
              <a:rPr lang="en-GB" sz="1400" b="1" dirty="0"/>
              <a:t>Building an Interactive Dashboard with </a:t>
            </a:r>
            <a:r>
              <a:rPr lang="en-GB" sz="1400" b="1" dirty="0" err="1"/>
              <a:t>Plotly</a:t>
            </a:r>
            <a:r>
              <a:rPr lang="en-GB" sz="1400" b="1" dirty="0"/>
              <a:t> Dash</a:t>
            </a:r>
          </a:p>
          <a:p>
            <a:pPr algn="ctr"/>
            <a:r>
              <a:rPr lang="en-GB" sz="1400" dirty="0"/>
              <a:t>To make the data insights accessible to non-technical stakeholders, we developed a dynamic dashboard using </a:t>
            </a:r>
            <a:r>
              <a:rPr lang="en-GB" sz="1400" b="1" dirty="0" err="1"/>
              <a:t>Plotly</a:t>
            </a:r>
            <a:r>
              <a:rPr lang="en-GB" sz="1400" b="1" dirty="0"/>
              <a:t> Dash</a:t>
            </a:r>
            <a:r>
              <a:rPr lang="en-GB" sz="1400" dirty="0"/>
              <a:t>. This application allows for real-time data exploration through interactive visualizations and user-controlled filters.</a:t>
            </a:r>
          </a:p>
          <a:p>
            <a:pPr algn="ctr"/>
            <a:endParaRPr lang="en-GB" sz="1400" dirty="0"/>
          </a:p>
        </p:txBody>
      </p:sp>
      <p:sp>
        <p:nvSpPr>
          <p:cNvPr id="5" name="object 5"/>
          <p:cNvSpPr txBox="1">
            <a:spLocks noGrp="1"/>
          </p:cNvSpPr>
          <p:nvPr>
            <p:ph type="sldNum" sz="quarter" idx="7"/>
          </p:nvPr>
        </p:nvSpPr>
        <p:spPr/>
        <p:txBody>
          <a:bodyPr vert="horz" wrap="square" lIns="0" tIns="0" rIns="0" bIns="0" rtlCol="0">
            <a:spAutoFit/>
          </a:bodyPr>
          <a:lstStyle/>
          <a:p>
            <a:fld id="{81D60167-4931-47E6-BA6A-407CBD079E47}" type="slidenum">
              <a:rPr lang="en-GB" dirty="0"/>
              <a:pPr/>
              <a:t>15</a:t>
            </a:fld>
            <a:endParaRPr lang="en-GB" dirty="0"/>
          </a:p>
        </p:txBody>
      </p:sp>
      <p:sp>
        <p:nvSpPr>
          <p:cNvPr id="12" name="Text Placeholder 10">
            <a:extLst>
              <a:ext uri="{FF2B5EF4-FFF2-40B4-BE49-F238E27FC236}">
                <a16:creationId xmlns:a16="http://schemas.microsoft.com/office/drawing/2014/main" id="{1FBA5616-83FB-D31D-D3DC-C310D568B1D5}"/>
              </a:ext>
            </a:extLst>
          </p:cNvPr>
          <p:cNvSpPr txBox="1">
            <a:spLocks/>
          </p:cNvSpPr>
          <p:nvPr/>
        </p:nvSpPr>
        <p:spPr>
          <a:xfrm>
            <a:off x="849312" y="2373391"/>
            <a:ext cx="10333990" cy="3077766"/>
          </a:xfrm>
          <a:prstGeom prst="rect">
            <a:avLst/>
          </a:prstGeom>
        </p:spPr>
        <p:txBody>
          <a:bodyPr wrap="square" lIns="0" tIns="0" rIns="0" bIns="0">
            <a:spAutoFit/>
          </a:bodyPr>
          <a:lstStyle>
            <a:lvl1pPr marL="0">
              <a:defRPr sz="2000" b="0" i="0">
                <a:solidFill>
                  <a:srgbClr val="292929"/>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GB" sz="1800" b="1" dirty="0">
                <a:solidFill>
                  <a:srgbClr val="FF0000"/>
                </a:solidFill>
              </a:rPr>
              <a:t>Visualization Components</a:t>
            </a:r>
          </a:p>
          <a:p>
            <a:pPr marL="342900" indent="-342900">
              <a:buFont typeface="+mj-lt"/>
              <a:buAutoNum type="arabicPeriod"/>
            </a:pPr>
            <a:r>
              <a:rPr lang="en-GB" sz="1400" b="1" dirty="0"/>
              <a:t>Success Distribution (Pie Chart):</a:t>
            </a:r>
            <a:endParaRPr lang="en-GB" sz="1400" dirty="0"/>
          </a:p>
          <a:p>
            <a:pPr marL="742950" lvl="1" indent="-285750">
              <a:buFont typeface="Arial" panose="020B0604020202020204" pitchFamily="34" charset="0"/>
              <a:buChar char="•"/>
            </a:pPr>
            <a:r>
              <a:rPr lang="en-GB" sz="1200" b="1" dirty="0"/>
              <a:t>Function:</a:t>
            </a:r>
            <a:r>
              <a:rPr lang="en-GB" sz="1200" dirty="0"/>
              <a:t> Provides a high-level breakdown of the ratio between successful and failed first-stage landings.</a:t>
            </a:r>
          </a:p>
          <a:p>
            <a:pPr marL="742950" lvl="1" indent="-285750">
              <a:buFont typeface="Arial" panose="020B0604020202020204" pitchFamily="34" charset="0"/>
              <a:buChar char="•"/>
            </a:pPr>
            <a:r>
              <a:rPr lang="en-GB" sz="1200" b="1" dirty="0"/>
              <a:t>Insight:</a:t>
            </a:r>
            <a:r>
              <a:rPr lang="en-GB" sz="1200" dirty="0"/>
              <a:t> Enables immediate visualization of SpaceX’s overall recovery performance across the entire mission history.</a:t>
            </a:r>
          </a:p>
          <a:p>
            <a:pPr marL="342900" indent="-342900">
              <a:buFont typeface="+mj-lt"/>
              <a:buAutoNum type="arabicPeriod"/>
            </a:pPr>
            <a:r>
              <a:rPr lang="en-GB" sz="1400" b="1" dirty="0"/>
              <a:t>Success vs. Payload (Scatter Plot):</a:t>
            </a:r>
            <a:endParaRPr lang="en-GB" sz="1400" dirty="0"/>
          </a:p>
          <a:p>
            <a:pPr marL="742950" lvl="1" indent="-285750">
              <a:buFont typeface="Arial" panose="020B0604020202020204" pitchFamily="34" charset="0"/>
              <a:buChar char="•"/>
            </a:pPr>
            <a:r>
              <a:rPr lang="en-GB" sz="1200" b="1" dirty="0"/>
              <a:t>Function:</a:t>
            </a:r>
            <a:r>
              <a:rPr lang="en-GB" sz="1200" dirty="0"/>
              <a:t> Maps the correlation between </a:t>
            </a:r>
            <a:r>
              <a:rPr lang="en-GB" sz="1200" b="1" dirty="0"/>
              <a:t>Payload Mass</a:t>
            </a:r>
            <a:r>
              <a:rPr lang="en-GB" sz="1200" dirty="0"/>
              <a:t> (kg) and </a:t>
            </a:r>
            <a:r>
              <a:rPr lang="en-GB" sz="1200" b="1" dirty="0"/>
              <a:t>Mission Outcome</a:t>
            </a:r>
            <a:r>
              <a:rPr lang="en-GB" sz="1200" dirty="0"/>
              <a:t>.</a:t>
            </a:r>
          </a:p>
          <a:p>
            <a:pPr marL="742950" lvl="1" indent="-285750">
              <a:buFont typeface="Arial" panose="020B0604020202020204" pitchFamily="34" charset="0"/>
              <a:buChar char="•"/>
            </a:pPr>
            <a:r>
              <a:rPr lang="en-GB" sz="1200" b="1" dirty="0"/>
              <a:t>Insight:</a:t>
            </a:r>
            <a:r>
              <a:rPr lang="en-GB" sz="1200" dirty="0"/>
              <a:t> Helps analysts determine if heavier payloads negatively impact the probability of a successful booster landing.</a:t>
            </a:r>
          </a:p>
          <a:p>
            <a:pPr marL="742950" lvl="1" indent="-285750">
              <a:buFont typeface="Arial" panose="020B0604020202020204" pitchFamily="34" charset="0"/>
              <a:buChar char="•"/>
            </a:pPr>
            <a:endParaRPr lang="en-GB" sz="1200" dirty="0"/>
          </a:p>
          <a:p>
            <a:r>
              <a:rPr lang="en-GB" sz="1800" b="1" dirty="0">
                <a:solidFill>
                  <a:srgbClr val="FF0000"/>
                </a:solidFill>
              </a:rPr>
              <a:t>User Interactions</a:t>
            </a:r>
          </a:p>
          <a:p>
            <a:pPr marL="342900" indent="-342900">
              <a:buFont typeface="+mj-lt"/>
              <a:buAutoNum type="arabicPeriod"/>
            </a:pPr>
            <a:r>
              <a:rPr lang="en-GB" sz="1400" b="1" dirty="0"/>
              <a:t>Launch Site Dropdown Menu:</a:t>
            </a:r>
            <a:endParaRPr lang="en-GB" sz="1400" dirty="0"/>
          </a:p>
          <a:p>
            <a:pPr marL="742950" lvl="1" indent="-285750">
              <a:buFont typeface="Arial" panose="020B0604020202020204" pitchFamily="34" charset="0"/>
              <a:buChar char="•"/>
            </a:pPr>
            <a:r>
              <a:rPr lang="en-GB" sz="1200" b="1" dirty="0"/>
              <a:t>Capability:</a:t>
            </a:r>
            <a:r>
              <a:rPr lang="en-GB" sz="1200" dirty="0"/>
              <a:t> Allows users to toggle between individual launch facilities (e.g., KSC LC-39A, CCSFS SLC-40, VAFB SLC-4E).</a:t>
            </a:r>
          </a:p>
          <a:p>
            <a:pPr marL="742950" lvl="1" indent="-285750">
              <a:buFont typeface="Arial" panose="020B0604020202020204" pitchFamily="34" charset="0"/>
              <a:buChar char="•"/>
            </a:pPr>
            <a:r>
              <a:rPr lang="en-GB" sz="1200" b="1" dirty="0"/>
              <a:t>Benefit:</a:t>
            </a:r>
            <a:r>
              <a:rPr lang="en-GB" sz="1200" dirty="0"/>
              <a:t> Facilitates focused, site-specific performance audits and geographical comparisons.</a:t>
            </a:r>
          </a:p>
          <a:p>
            <a:pPr marL="342900" indent="-342900">
              <a:buFont typeface="+mj-lt"/>
              <a:buAutoNum type="arabicPeriod"/>
            </a:pPr>
            <a:r>
              <a:rPr lang="en-GB" sz="1400" b="1" dirty="0"/>
              <a:t>Payload Range Slider:</a:t>
            </a:r>
            <a:endParaRPr lang="en-GB" sz="1400" dirty="0"/>
          </a:p>
          <a:p>
            <a:pPr marL="742950" lvl="1" indent="-285750">
              <a:buFont typeface="Arial" panose="020B0604020202020204" pitchFamily="34" charset="0"/>
              <a:buChar char="•"/>
            </a:pPr>
            <a:r>
              <a:rPr lang="en-GB" sz="1200" b="1" dirty="0"/>
              <a:t>Capability:</a:t>
            </a:r>
            <a:r>
              <a:rPr lang="en-GB" sz="1200" dirty="0"/>
              <a:t> Enables dynamic adjustment of the payload mass parameters shown in the scatter plot.</a:t>
            </a:r>
          </a:p>
          <a:p>
            <a:pPr marL="742950" lvl="1" indent="-285750">
              <a:buFont typeface="Arial" panose="020B0604020202020204" pitchFamily="34" charset="0"/>
              <a:buChar char="•"/>
            </a:pPr>
            <a:r>
              <a:rPr lang="en-GB" sz="1200" b="1" dirty="0"/>
              <a:t>Benefit:</a:t>
            </a:r>
            <a:r>
              <a:rPr lang="en-GB" sz="1200" dirty="0"/>
              <a:t> Provides the flexibility to isolate specific mission classes (e.g., small satellites vs. heavy payloads) and observe their unique success rates.</a:t>
            </a:r>
          </a:p>
        </p:txBody>
      </p:sp>
      <p:sp>
        <p:nvSpPr>
          <p:cNvPr id="13" name="TextBox 12">
            <a:extLst>
              <a:ext uri="{FF2B5EF4-FFF2-40B4-BE49-F238E27FC236}">
                <a16:creationId xmlns:a16="http://schemas.microsoft.com/office/drawing/2014/main" id="{12050B72-5CB6-F5D6-B422-DF2267A6564D}"/>
              </a:ext>
            </a:extLst>
          </p:cNvPr>
          <p:cNvSpPr txBox="1"/>
          <p:nvPr/>
        </p:nvSpPr>
        <p:spPr>
          <a:xfrm>
            <a:off x="762000" y="5791200"/>
            <a:ext cx="5562600" cy="276999"/>
          </a:xfrm>
          <a:prstGeom prst="rect">
            <a:avLst/>
          </a:prstGeom>
          <a:noFill/>
        </p:spPr>
        <p:txBody>
          <a:bodyPr wrap="square" rtlCol="0">
            <a:spAutoFit/>
          </a:bodyPr>
          <a:lstStyle/>
          <a:p>
            <a:r>
              <a:rPr lang="en-GB" sz="1200" b="1" dirty="0"/>
              <a:t>Technical Source:</a:t>
            </a:r>
            <a:r>
              <a:rPr lang="en-GB" sz="1200" dirty="0"/>
              <a:t> </a:t>
            </a:r>
            <a:r>
              <a:rPr lang="en-GB" sz="1200" dirty="0">
                <a:hlinkClick r:id="rId2"/>
              </a:rPr>
              <a:t>Python Script: </a:t>
            </a:r>
            <a:r>
              <a:rPr lang="en-GB" sz="1200" dirty="0" err="1">
                <a:hlinkClick r:id="rId2"/>
              </a:rPr>
              <a:t>Plotly</a:t>
            </a:r>
            <a:r>
              <a:rPr lang="en-GB" sz="1200" dirty="0">
                <a:hlinkClick r:id="rId2"/>
              </a:rPr>
              <a:t> Dash </a:t>
            </a:r>
            <a:r>
              <a:rPr lang="en-GB" sz="1200" dirty="0">
                <a:hlinkClick r:id="rId3"/>
              </a:rPr>
              <a:t>Application</a:t>
            </a:r>
            <a:endParaRPr lang="en-GB"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49312" y="412368"/>
            <a:ext cx="10493375" cy="632460"/>
          </a:xfrm>
        </p:spPr>
        <p:txBody>
          <a:bodyPr vert="horz" wrap="square" lIns="0" tIns="16510" rIns="0" bIns="0" rtlCol="0">
            <a:spAutoFit/>
          </a:bodyPr>
          <a:lstStyle/>
          <a:p>
            <a:r>
              <a:rPr lang="en-GB" dirty="0"/>
              <a:t>Reasons for Adding Plots and Interactions</a:t>
            </a:r>
          </a:p>
        </p:txBody>
      </p:sp>
      <p:sp>
        <p:nvSpPr>
          <p:cNvPr id="8" name="Content Placeholder 7">
            <a:extLst>
              <a:ext uri="{FF2B5EF4-FFF2-40B4-BE49-F238E27FC236}">
                <a16:creationId xmlns:a16="http://schemas.microsoft.com/office/drawing/2014/main" id="{61A23E6A-B961-6F1A-7747-AF735E223734}"/>
              </a:ext>
            </a:extLst>
          </p:cNvPr>
          <p:cNvSpPr>
            <a:spLocks noGrp="1"/>
          </p:cNvSpPr>
          <p:nvPr>
            <p:ph sz="half" idx="2"/>
          </p:nvPr>
        </p:nvSpPr>
        <p:spPr>
          <a:xfrm>
            <a:off x="849312" y="1710928"/>
            <a:ext cx="5260975" cy="4154984"/>
          </a:xfrm>
        </p:spPr>
        <p:txBody>
          <a:bodyPr/>
          <a:lstStyle/>
          <a:p>
            <a:r>
              <a:rPr lang="en-GB" sz="1800" b="1" dirty="0"/>
              <a:t>Rationale for Interactive Visualizations</a:t>
            </a:r>
          </a:p>
          <a:p>
            <a:r>
              <a:rPr lang="en-GB" dirty="0"/>
              <a:t>The integration of specific charts and user-controlled filters is designed to transform complex raw data into actionable business intelligence.</a:t>
            </a:r>
          </a:p>
          <a:p>
            <a:endParaRPr lang="en-GB" dirty="0"/>
          </a:p>
          <a:p>
            <a:r>
              <a:rPr lang="en-GB" b="1" dirty="0"/>
              <a:t>Strategic Visualization</a:t>
            </a:r>
          </a:p>
          <a:p>
            <a:endParaRPr lang="en-GB" b="1" dirty="0"/>
          </a:p>
          <a:p>
            <a:r>
              <a:rPr lang="en-GB" dirty="0"/>
              <a:t>Success Distribution (Pie Chart)</a:t>
            </a:r>
          </a:p>
          <a:p>
            <a:endParaRPr lang="en-GB" dirty="0"/>
          </a:p>
          <a:p>
            <a:pPr marL="285750" indent="-285750">
              <a:buFont typeface="Arial" panose="020B0604020202020204" pitchFamily="34" charset="0"/>
              <a:buChar char="•"/>
            </a:pPr>
            <a:r>
              <a:rPr lang="en-GB" b="1" dirty="0"/>
              <a:t>Objective</a:t>
            </a:r>
            <a:r>
              <a:rPr lang="en-GB" dirty="0"/>
              <a:t>: Provides an immediate, high-level summary of mission reliability.</a:t>
            </a:r>
          </a:p>
          <a:p>
            <a:pPr marL="285750" indent="-285750">
              <a:buFont typeface="Arial" panose="020B0604020202020204" pitchFamily="34" charset="0"/>
              <a:buChar char="•"/>
            </a:pPr>
            <a:r>
              <a:rPr lang="en-GB" b="1" dirty="0"/>
              <a:t>Value</a:t>
            </a:r>
            <a:r>
              <a:rPr lang="en-GB" dirty="0"/>
              <a:t>: Essential for stakeholders to grasp overall performance health and success-to-failure ratios at a single glance.</a:t>
            </a:r>
          </a:p>
          <a:p>
            <a:endParaRPr lang="en-GB" dirty="0"/>
          </a:p>
          <a:p>
            <a:r>
              <a:rPr lang="en-GB" dirty="0"/>
              <a:t>Payload vs. Outcome (Scatter Plot)</a:t>
            </a:r>
          </a:p>
          <a:p>
            <a:endParaRPr lang="en-GB" dirty="0"/>
          </a:p>
          <a:p>
            <a:pPr marL="285750" indent="-285750">
              <a:buFont typeface="Arial" panose="020B0604020202020204" pitchFamily="34" charset="0"/>
              <a:buChar char="•"/>
            </a:pPr>
            <a:r>
              <a:rPr lang="en-GB" b="1" dirty="0"/>
              <a:t>Objective</a:t>
            </a:r>
            <a:r>
              <a:rPr lang="en-GB" dirty="0"/>
              <a:t>: Uncovers hidden correlations between mission technicalities and recovery results.</a:t>
            </a:r>
          </a:p>
          <a:p>
            <a:pPr marL="285750" indent="-285750">
              <a:buFont typeface="Arial" panose="020B0604020202020204" pitchFamily="34" charset="0"/>
              <a:buChar char="•"/>
            </a:pPr>
            <a:r>
              <a:rPr lang="en-GB" b="1" dirty="0"/>
              <a:t>Value</a:t>
            </a:r>
            <a:r>
              <a:rPr lang="en-GB" dirty="0"/>
              <a:t>: Informs operational strategies and payload planning by identifying risk thresholds associated with varying payload weights.</a:t>
            </a:r>
          </a:p>
        </p:txBody>
      </p:sp>
      <p:sp>
        <p:nvSpPr>
          <p:cNvPr id="9" name="Content Placeholder 8">
            <a:extLst>
              <a:ext uri="{FF2B5EF4-FFF2-40B4-BE49-F238E27FC236}">
                <a16:creationId xmlns:a16="http://schemas.microsoft.com/office/drawing/2014/main" id="{57AD784C-8544-C73C-755E-866246AEE284}"/>
              </a:ext>
            </a:extLst>
          </p:cNvPr>
          <p:cNvSpPr>
            <a:spLocks noGrp="1"/>
          </p:cNvSpPr>
          <p:nvPr>
            <p:ph sz="half" idx="3"/>
          </p:nvPr>
        </p:nvSpPr>
        <p:spPr>
          <a:xfrm>
            <a:off x="6584315" y="1716341"/>
            <a:ext cx="4798059" cy="3447098"/>
          </a:xfrm>
        </p:spPr>
        <p:txBody>
          <a:bodyPr/>
          <a:lstStyle/>
          <a:p>
            <a:r>
              <a:rPr lang="en-GB" b="1" dirty="0"/>
              <a:t>Enhanced User Interactions</a:t>
            </a:r>
          </a:p>
          <a:p>
            <a:endParaRPr lang="en-GB" b="1" dirty="0"/>
          </a:p>
          <a:p>
            <a:r>
              <a:rPr lang="en-GB" dirty="0"/>
              <a:t>Geographical Filtering (Launch Site Dropdown)</a:t>
            </a:r>
          </a:p>
          <a:p>
            <a:endParaRPr lang="en-GB" dirty="0"/>
          </a:p>
          <a:p>
            <a:pPr marL="285750" indent="-285750">
              <a:buFont typeface="Arial" panose="020B0604020202020204" pitchFamily="34" charset="0"/>
              <a:buChar char="•"/>
            </a:pPr>
            <a:r>
              <a:rPr lang="en-GB" b="1" dirty="0"/>
              <a:t>Objective</a:t>
            </a:r>
            <a:r>
              <a:rPr lang="en-GB" dirty="0"/>
              <a:t>: Streamlines the user experience by allowing for site-specific deep dives.</a:t>
            </a:r>
          </a:p>
          <a:p>
            <a:pPr marL="285750" indent="-285750">
              <a:buFont typeface="Arial" panose="020B0604020202020204" pitchFamily="34" charset="0"/>
              <a:buChar char="•"/>
            </a:pPr>
            <a:r>
              <a:rPr lang="en-GB" b="1" dirty="0"/>
              <a:t>Value</a:t>
            </a:r>
            <a:r>
              <a:rPr lang="en-GB" dirty="0"/>
              <a:t>: Enables regional benchmarking and comparative analysis between different SpaceX launch facilities.</a:t>
            </a:r>
          </a:p>
          <a:p>
            <a:endParaRPr lang="en-GB" dirty="0"/>
          </a:p>
          <a:p>
            <a:r>
              <a:rPr lang="en-GB" dirty="0"/>
              <a:t>Dynamic Mass Constraints (Payload Range Slider)</a:t>
            </a:r>
          </a:p>
          <a:p>
            <a:endParaRPr lang="en-GB" dirty="0"/>
          </a:p>
          <a:p>
            <a:pPr marL="285750" indent="-285750">
              <a:buFont typeface="Arial" panose="020B0604020202020204" pitchFamily="34" charset="0"/>
              <a:buChar char="•"/>
            </a:pPr>
            <a:r>
              <a:rPr lang="en-GB" b="1" dirty="0"/>
              <a:t>Objective</a:t>
            </a:r>
            <a:r>
              <a:rPr lang="en-GB" dirty="0"/>
              <a:t>: Facilitates interactive exploration of mission subsets.</a:t>
            </a:r>
          </a:p>
          <a:p>
            <a:pPr marL="285750" indent="-285750">
              <a:buFont typeface="Arial" panose="020B0604020202020204" pitchFamily="34" charset="0"/>
              <a:buChar char="•"/>
            </a:pPr>
            <a:r>
              <a:rPr lang="en-GB" b="1" dirty="0"/>
              <a:t>Value</a:t>
            </a:r>
            <a:r>
              <a:rPr lang="en-GB" dirty="0"/>
              <a:t>: Allows analysts to isolate and inspect specific performance factors related to payload mass, offering granular insights into landing success probabilities.</a:t>
            </a:r>
          </a:p>
        </p:txBody>
      </p:sp>
      <p:sp>
        <p:nvSpPr>
          <p:cNvPr id="5" name="object 5"/>
          <p:cNvSpPr txBox="1">
            <a:spLocks noGrp="1"/>
          </p:cNvSpPr>
          <p:nvPr>
            <p:ph type="sldNum" sz="quarter" idx="7"/>
          </p:nvPr>
        </p:nvSpPr>
        <p:spPr>
          <a:xfrm>
            <a:off x="11091291" y="6113199"/>
            <a:ext cx="336550" cy="252729"/>
          </a:xfrm>
        </p:spPr>
        <p:txBody>
          <a:bodyPr vert="horz" wrap="square" lIns="0" tIns="0" rIns="0" bIns="0" rtlCol="0">
            <a:spAutoFit/>
          </a:bodyPr>
          <a:lstStyle/>
          <a:p>
            <a:fld id="{81D60167-4931-47E6-BA6A-407CBD079E47}" type="slidenum">
              <a:rPr lang="en-GB" dirty="0"/>
              <a:pPr/>
              <a:t>16</a:t>
            </a:fld>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vert="horz" wrap="square" lIns="0" tIns="16510" rIns="0" bIns="0" rtlCol="0">
            <a:spAutoFit/>
          </a:bodyPr>
          <a:lstStyle/>
          <a:p>
            <a:r>
              <a:rPr lang="en-GB" dirty="0"/>
              <a:t>Predictive Analysis (Classification)</a:t>
            </a:r>
          </a:p>
        </p:txBody>
      </p:sp>
      <p:sp>
        <p:nvSpPr>
          <p:cNvPr id="15" name="Text Placeholder 14">
            <a:extLst>
              <a:ext uri="{FF2B5EF4-FFF2-40B4-BE49-F238E27FC236}">
                <a16:creationId xmlns:a16="http://schemas.microsoft.com/office/drawing/2014/main" id="{BD05D32E-F06A-D879-4174-FDD4DB9D0060}"/>
              </a:ext>
            </a:extLst>
          </p:cNvPr>
          <p:cNvSpPr>
            <a:spLocks noGrp="1"/>
          </p:cNvSpPr>
          <p:nvPr>
            <p:ph type="body" idx="1"/>
          </p:nvPr>
        </p:nvSpPr>
        <p:spPr>
          <a:xfrm>
            <a:off x="849312" y="1382554"/>
            <a:ext cx="10333990" cy="5170646"/>
          </a:xfrm>
        </p:spPr>
        <p:txBody>
          <a:bodyPr/>
          <a:lstStyle/>
          <a:p>
            <a:r>
              <a:rPr lang="en-GB" sz="1200" b="1" dirty="0"/>
              <a:t>Predictive Analysis (Classification)</a:t>
            </a:r>
          </a:p>
          <a:p>
            <a:r>
              <a:rPr lang="en-GB" sz="1200" dirty="0"/>
              <a:t>The core objective of this project is to build a high-fidelity classification model capable of forecasting Falcon 9 landing outcomes. The following workflow outlines the systematic approach used to transition from processed data to a finalized predictive engine.</a:t>
            </a:r>
          </a:p>
          <a:p>
            <a:endParaRPr lang="en-GB" sz="1200" dirty="0"/>
          </a:p>
          <a:p>
            <a:r>
              <a:rPr lang="en-GB" sz="1200" b="1" dirty="0"/>
              <a:t>1. Data Preprocessing &amp; Validation</a:t>
            </a:r>
          </a:p>
          <a:p>
            <a:pPr marL="171450" indent="-171450">
              <a:buFont typeface="Arial" panose="020B0604020202020204" pitchFamily="34" charset="0"/>
              <a:buChar char="•"/>
            </a:pPr>
            <a:r>
              <a:rPr lang="en-GB" sz="1200" dirty="0"/>
              <a:t>Standardization: Applied feature scaling to ensure all numerical variables possess a mean of zero and unit variance, preventing models from being biased toward larger-scale features.</a:t>
            </a:r>
          </a:p>
          <a:p>
            <a:pPr marL="171450" indent="-171450">
              <a:buFont typeface="Arial" panose="020B0604020202020204" pitchFamily="34" charset="0"/>
              <a:buChar char="•"/>
            </a:pPr>
            <a:r>
              <a:rPr lang="en-GB" sz="1200" dirty="0"/>
              <a:t>Data Partitioning: Split the dataset into training and testing sets to maintain an unbiased evaluation of model performance on unseen data.</a:t>
            </a:r>
          </a:p>
          <a:p>
            <a:endParaRPr lang="en-GB" sz="1200" dirty="0"/>
          </a:p>
          <a:p>
            <a:r>
              <a:rPr lang="en-GB" sz="1200" b="1" dirty="0"/>
              <a:t>2. Model Selection &amp; Configuration</a:t>
            </a:r>
          </a:p>
          <a:p>
            <a:pPr marL="171450" indent="-171450">
              <a:buFont typeface="Arial" panose="020B0604020202020204" pitchFamily="34" charset="0"/>
              <a:buChar char="•"/>
            </a:pPr>
            <a:r>
              <a:rPr lang="en-GB" sz="1200" dirty="0"/>
              <a:t>Algorithm Exploration: Evaluated several supervised learning architectures, including Support Vector Machines (SVM), Decision Trees, and K-Nearest </a:t>
            </a:r>
            <a:r>
              <a:rPr lang="en-GB" sz="1200" dirty="0" err="1"/>
              <a:t>Neighbors</a:t>
            </a:r>
            <a:r>
              <a:rPr lang="en-GB" sz="1200" dirty="0"/>
              <a:t> (KNN).</a:t>
            </a:r>
          </a:p>
          <a:p>
            <a:pPr marL="171450" indent="-171450">
              <a:buFont typeface="Arial" panose="020B0604020202020204" pitchFamily="34" charset="0"/>
              <a:buChar char="•"/>
            </a:pPr>
            <a:r>
              <a:rPr lang="en-GB" sz="1200" dirty="0"/>
              <a:t>Task Alignment: Selected models specifically optimized for binary classification tasks (Successful vs. Failed landing) to meet project requirements.</a:t>
            </a:r>
          </a:p>
          <a:p>
            <a:endParaRPr lang="en-GB" sz="1200" dirty="0"/>
          </a:p>
          <a:p>
            <a:r>
              <a:rPr lang="en-GB" sz="1200" b="1" dirty="0"/>
              <a:t>3. Hyperparameter Optimization</a:t>
            </a:r>
          </a:p>
          <a:p>
            <a:pPr marL="171450" indent="-171450">
              <a:buFont typeface="Arial" panose="020B0604020202020204" pitchFamily="34" charset="0"/>
              <a:buChar char="•"/>
            </a:pPr>
            <a:r>
              <a:rPr lang="en-GB" sz="1200" dirty="0"/>
              <a:t>Systematic Tuning: Employed </a:t>
            </a:r>
            <a:r>
              <a:rPr lang="en-GB" sz="1200" dirty="0" err="1"/>
              <a:t>GridSearchCV</a:t>
            </a:r>
            <a:r>
              <a:rPr lang="en-GB" sz="1200" dirty="0"/>
              <a:t> to perform an exhaustive search for the most effective model parameters.</a:t>
            </a:r>
          </a:p>
          <a:p>
            <a:pPr marL="171450" indent="-171450">
              <a:buFont typeface="Arial" panose="020B0604020202020204" pitchFamily="34" charset="0"/>
              <a:buChar char="•"/>
            </a:pPr>
            <a:r>
              <a:rPr lang="en-GB" sz="1200" dirty="0"/>
              <a:t>Key Parameters: Tuned critical values such as the regularization parameter C for SVM, </a:t>
            </a:r>
            <a:r>
              <a:rPr lang="en-GB" sz="1200" dirty="0" err="1"/>
              <a:t>max_depth</a:t>
            </a:r>
            <a:r>
              <a:rPr lang="en-GB" sz="1200" dirty="0"/>
              <a:t> for Decision Trees, and </a:t>
            </a:r>
            <a:r>
              <a:rPr lang="en-GB" sz="1200" dirty="0" err="1"/>
              <a:t>n_neighbors</a:t>
            </a:r>
            <a:r>
              <a:rPr lang="en-GB" sz="1200" dirty="0"/>
              <a:t> for KNN to maximize predictive power.</a:t>
            </a:r>
          </a:p>
          <a:p>
            <a:endParaRPr lang="en-GB" sz="1200" dirty="0"/>
          </a:p>
          <a:p>
            <a:r>
              <a:rPr lang="en-GB" sz="1200" b="1" dirty="0"/>
              <a:t>4. Rigorous Evaluation &amp; Refinement</a:t>
            </a:r>
          </a:p>
          <a:p>
            <a:pPr marL="171450" indent="-171450">
              <a:buFont typeface="Arial" panose="020B0604020202020204" pitchFamily="34" charset="0"/>
              <a:buChar char="•"/>
            </a:pPr>
            <a:r>
              <a:rPr lang="en-GB" sz="1200" dirty="0"/>
              <a:t>Performance Metrics: Assessed model health using a comprehensive suite of metrics: Accuracy, Precision, Recall, and the F1-score.</a:t>
            </a:r>
          </a:p>
          <a:p>
            <a:pPr marL="171450" indent="-171450">
              <a:buFont typeface="Arial" panose="020B0604020202020204" pitchFamily="34" charset="0"/>
              <a:buChar char="•"/>
            </a:pPr>
            <a:r>
              <a:rPr lang="en-GB" sz="1200" dirty="0"/>
              <a:t>Cross-Validation: Utilized k-fold cross-validation during the training phase to ensure the models are robust and generalize well to new data.</a:t>
            </a:r>
          </a:p>
          <a:p>
            <a:pPr marL="171450" indent="-171450">
              <a:buFont typeface="Arial" panose="020B0604020202020204" pitchFamily="34" charset="0"/>
              <a:buChar char="•"/>
            </a:pPr>
            <a:r>
              <a:rPr lang="en-GB" sz="1200" dirty="0"/>
              <a:t>Iterative Improvement: Refined model parameters based on validation feedback to minimize error rates and maximize reliability.</a:t>
            </a:r>
          </a:p>
          <a:p>
            <a:endParaRPr lang="en-GB" sz="1200" dirty="0"/>
          </a:p>
          <a:p>
            <a:r>
              <a:rPr lang="en-GB" sz="1200" b="1" dirty="0"/>
              <a:t>5. Final Model Selection</a:t>
            </a:r>
          </a:p>
          <a:p>
            <a:pPr marL="171450" indent="-171450">
              <a:buFont typeface="Arial" panose="020B0604020202020204" pitchFamily="34" charset="0"/>
              <a:buChar char="•"/>
            </a:pPr>
            <a:r>
              <a:rPr lang="en-GB" sz="1200" dirty="0"/>
              <a:t>Benchmarking: Identified the "Best Performing Model" by comparing accuracy scores achieved on the test dataset.</a:t>
            </a:r>
          </a:p>
          <a:p>
            <a:pPr marL="171450" indent="-171450">
              <a:buFont typeface="Arial" panose="020B0604020202020204" pitchFamily="34" charset="0"/>
              <a:buChar char="•"/>
            </a:pPr>
            <a:r>
              <a:rPr lang="en-GB" sz="1200" dirty="0"/>
              <a:t>Overfitting Safeguards: Carefully monitored the gap between training and testing performance to ensure the selected model remains applicable to real-world scenarios without being overfitted to historical noise.</a:t>
            </a:r>
          </a:p>
        </p:txBody>
      </p:sp>
      <p:sp>
        <p:nvSpPr>
          <p:cNvPr id="6" name="object 6"/>
          <p:cNvSpPr txBox="1">
            <a:spLocks noGrp="1"/>
          </p:cNvSpPr>
          <p:nvPr>
            <p:ph type="sldNum" sz="quarter" idx="7"/>
          </p:nvPr>
        </p:nvSpPr>
        <p:spPr/>
        <p:txBody>
          <a:bodyPr vert="horz" wrap="square" lIns="0" tIns="0" rIns="0" bIns="0" rtlCol="0">
            <a:spAutoFit/>
          </a:bodyPr>
          <a:lstStyle/>
          <a:p>
            <a:fld id="{81D60167-4931-47E6-BA6A-407CBD079E47}" type="slidenum">
              <a:rPr lang="en-GB" dirty="0"/>
              <a:pPr/>
              <a:t>17</a:t>
            </a:fld>
            <a:endParaRPr lang="en-GB" dirty="0"/>
          </a:p>
        </p:txBody>
      </p:sp>
      <p:sp>
        <p:nvSpPr>
          <p:cNvPr id="16" name="TextBox 15">
            <a:extLst>
              <a:ext uri="{FF2B5EF4-FFF2-40B4-BE49-F238E27FC236}">
                <a16:creationId xmlns:a16="http://schemas.microsoft.com/office/drawing/2014/main" id="{6E88CCE0-9574-CE45-6651-C803EF845AA9}"/>
              </a:ext>
            </a:extLst>
          </p:cNvPr>
          <p:cNvSpPr txBox="1"/>
          <p:nvPr/>
        </p:nvSpPr>
        <p:spPr>
          <a:xfrm>
            <a:off x="6400800" y="6477000"/>
            <a:ext cx="4419600" cy="253916"/>
          </a:xfrm>
          <a:prstGeom prst="rect">
            <a:avLst/>
          </a:prstGeom>
          <a:noFill/>
        </p:spPr>
        <p:txBody>
          <a:bodyPr wrap="square" rtlCol="0">
            <a:spAutoFit/>
          </a:bodyPr>
          <a:lstStyle/>
          <a:p>
            <a:r>
              <a:rPr lang="en-GB" sz="1050" b="1" dirty="0"/>
              <a:t>Technical Source:</a:t>
            </a:r>
            <a:r>
              <a:rPr lang="en-GB" sz="1050" dirty="0"/>
              <a:t> </a:t>
            </a:r>
            <a:r>
              <a:rPr lang="en-GB" sz="1050" dirty="0" err="1">
                <a:hlinkClick r:id="rId2"/>
              </a:rPr>
              <a:t>Jupyter</a:t>
            </a:r>
            <a:r>
              <a:rPr lang="en-GB" sz="1050" dirty="0">
                <a:hlinkClick r:id="rId2"/>
              </a:rPr>
              <a:t> Notebook: Machine Learning Prediction</a:t>
            </a:r>
            <a:endParaRPr lang="en-GB"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40" dirty="0"/>
              <a:t>Predictive</a:t>
            </a:r>
            <a:r>
              <a:rPr spc="-160" dirty="0"/>
              <a:t> </a:t>
            </a:r>
            <a:r>
              <a:rPr spc="-70" dirty="0"/>
              <a:t>Analysis</a:t>
            </a:r>
            <a:r>
              <a:rPr spc="-155" dirty="0"/>
              <a:t> </a:t>
            </a:r>
            <a:r>
              <a:rPr spc="-70" dirty="0"/>
              <a:t>(Flowchart)</a:t>
            </a:r>
          </a:p>
        </p:txBody>
      </p:sp>
      <p:sp>
        <p:nvSpPr>
          <p:cNvPr id="33" name="Text Placeholder 32">
            <a:extLst>
              <a:ext uri="{FF2B5EF4-FFF2-40B4-BE49-F238E27FC236}">
                <a16:creationId xmlns:a16="http://schemas.microsoft.com/office/drawing/2014/main" id="{DF14AD5F-185F-E9AD-B8B5-227ABB7CA3A2}"/>
              </a:ext>
            </a:extLst>
          </p:cNvPr>
          <p:cNvSpPr>
            <a:spLocks noGrp="1"/>
          </p:cNvSpPr>
          <p:nvPr>
            <p:ph type="body" idx="1"/>
          </p:nvPr>
        </p:nvSpPr>
        <p:spPr>
          <a:xfrm>
            <a:off x="849312" y="1511617"/>
            <a:ext cx="10333990" cy="4431983"/>
          </a:xfrm>
        </p:spPr>
        <p:txBody>
          <a:bodyPr/>
          <a:lstStyle/>
          <a:p>
            <a:r>
              <a:rPr lang="en-GB" sz="1600" b="1" dirty="0"/>
              <a:t>Predictive Analysis Workflow</a:t>
            </a:r>
          </a:p>
          <a:p>
            <a:r>
              <a:rPr lang="en-GB" sz="1600" dirty="0"/>
              <a:t>The predictive </a:t>
            </a:r>
            <a:r>
              <a:rPr lang="en-GB" sz="1600" dirty="0" err="1"/>
              <a:t>modeling</a:t>
            </a:r>
            <a:r>
              <a:rPr lang="en-GB" sz="1600" dirty="0"/>
              <a:t> phase follows a structured, iterative pipeline to ensure the highest possible accuracy in forecasting Falcon 9 landing outcomes.</a:t>
            </a:r>
          </a:p>
          <a:p>
            <a:endParaRPr lang="en-GB" sz="1600" dirty="0"/>
          </a:p>
          <a:p>
            <a:r>
              <a:rPr lang="en-GB" sz="1600" b="1" dirty="0"/>
              <a:t>The </a:t>
            </a:r>
            <a:r>
              <a:rPr lang="en-GB" sz="1600" b="1" dirty="0" err="1"/>
              <a:t>Modeling</a:t>
            </a:r>
            <a:r>
              <a:rPr lang="en-GB" sz="1600" b="1" dirty="0"/>
              <a:t> Lifecycle</a:t>
            </a:r>
          </a:p>
          <a:p>
            <a:endParaRPr lang="en-GB" sz="1600" b="1" dirty="0"/>
          </a:p>
          <a:p>
            <a:pPr marL="342900" indent="-342900">
              <a:buFont typeface="+mj-lt"/>
              <a:buAutoNum type="arabicPeriod"/>
            </a:pPr>
            <a:r>
              <a:rPr lang="en-GB" sz="1600" b="1" dirty="0"/>
              <a:t>Data Preprocessing:</a:t>
            </a:r>
            <a:r>
              <a:rPr lang="en-GB" sz="1600" dirty="0"/>
              <a:t> Standardizing features and splitting the dataset into training and testing subsets to prepare for unbiased learning.</a:t>
            </a:r>
          </a:p>
          <a:p>
            <a:pPr marL="342900" indent="-342900">
              <a:buFont typeface="+mj-lt"/>
              <a:buAutoNum type="arabicPeriod"/>
            </a:pPr>
            <a:r>
              <a:rPr lang="en-GB" sz="1600" b="1" dirty="0"/>
              <a:t>Model Selection:</a:t>
            </a:r>
            <a:r>
              <a:rPr lang="en-GB" sz="1600" dirty="0"/>
              <a:t> Testing diverse classification algorithms—such as </a:t>
            </a:r>
            <a:r>
              <a:rPr lang="en-GB" sz="1600" b="1" dirty="0"/>
              <a:t>SVM</a:t>
            </a:r>
            <a:r>
              <a:rPr lang="en-GB" sz="1600" dirty="0"/>
              <a:t>, </a:t>
            </a:r>
            <a:r>
              <a:rPr lang="en-GB" sz="1600" b="1" dirty="0"/>
              <a:t>KNN</a:t>
            </a:r>
            <a:r>
              <a:rPr lang="en-GB" sz="1600" dirty="0"/>
              <a:t>, and </a:t>
            </a:r>
            <a:r>
              <a:rPr lang="en-GB" sz="1600" b="1" dirty="0"/>
              <a:t>Decision Trees</a:t>
            </a:r>
            <a:r>
              <a:rPr lang="en-GB" sz="1600" dirty="0"/>
              <a:t>—to find the architecture best suited for binary mission outcomes.</a:t>
            </a:r>
          </a:p>
          <a:p>
            <a:pPr marL="342900" indent="-342900">
              <a:buFont typeface="+mj-lt"/>
              <a:buAutoNum type="arabicPeriod"/>
            </a:pPr>
            <a:r>
              <a:rPr lang="en-GB" sz="1600" b="1" dirty="0"/>
              <a:t>Hyperparameter Tuning:</a:t>
            </a:r>
            <a:r>
              <a:rPr lang="en-GB" sz="1600" dirty="0"/>
              <a:t> Utilizing </a:t>
            </a:r>
            <a:r>
              <a:rPr lang="en-GB" sz="1600" b="1" dirty="0" err="1"/>
              <a:t>GridSearchCV</a:t>
            </a:r>
            <a:r>
              <a:rPr lang="en-GB" sz="1600" dirty="0"/>
              <a:t> to systematically optimize internal model settings (e.g., depth, </a:t>
            </a:r>
            <a:r>
              <a:rPr lang="en-GB" sz="1600" dirty="0" err="1"/>
              <a:t>neighbors</a:t>
            </a:r>
            <a:r>
              <a:rPr lang="en-GB" sz="1600" dirty="0"/>
              <a:t>, or regularization).</a:t>
            </a:r>
          </a:p>
          <a:p>
            <a:pPr marL="342900" indent="-342900">
              <a:buFont typeface="+mj-lt"/>
              <a:buAutoNum type="arabicPeriod"/>
            </a:pPr>
            <a:r>
              <a:rPr lang="en-GB" sz="1600" b="1" dirty="0"/>
              <a:t>Model Evaluation:</a:t>
            </a:r>
            <a:r>
              <a:rPr lang="en-GB" sz="1600" dirty="0"/>
              <a:t> Using cross-validation and key performance indicators (KPIs) like </a:t>
            </a:r>
            <a:r>
              <a:rPr lang="en-GB" sz="1600" b="1" dirty="0"/>
              <a:t>Accuracy</a:t>
            </a:r>
            <a:r>
              <a:rPr lang="en-GB" sz="1600" dirty="0"/>
              <a:t> and </a:t>
            </a:r>
            <a:r>
              <a:rPr lang="en-GB" sz="1600" b="1" dirty="0"/>
              <a:t>F1-Score</a:t>
            </a:r>
            <a:r>
              <a:rPr lang="en-GB" sz="1600" dirty="0"/>
              <a:t> to measure predictive success.</a:t>
            </a:r>
          </a:p>
          <a:p>
            <a:pPr marL="342900" indent="-342900">
              <a:buFont typeface="+mj-lt"/>
              <a:buAutoNum type="arabicPeriod"/>
            </a:pPr>
            <a:r>
              <a:rPr lang="en-GB" sz="1600" b="1" dirty="0"/>
              <a:t>Improvement Iterations:</a:t>
            </a:r>
            <a:r>
              <a:rPr lang="en-GB" sz="1600" dirty="0"/>
              <a:t> Refined the models based on error analysis and validation feedback to boost reliability.</a:t>
            </a:r>
          </a:p>
          <a:p>
            <a:pPr marL="342900" indent="-342900">
              <a:buFont typeface="+mj-lt"/>
              <a:buAutoNum type="arabicPeriod"/>
            </a:pPr>
            <a:r>
              <a:rPr lang="en-GB" sz="1600" b="1" dirty="0"/>
              <a:t>Best Performing Model:</a:t>
            </a:r>
            <a:r>
              <a:rPr lang="en-GB" sz="1600" dirty="0"/>
              <a:t> Selecting the final, optimized champion model based on its performance against the held-out test data.</a:t>
            </a:r>
          </a:p>
          <a:p>
            <a:endParaRPr lang="en-GB" sz="1600" dirty="0"/>
          </a:p>
        </p:txBody>
      </p:sp>
      <p:sp>
        <p:nvSpPr>
          <p:cNvPr id="32" name="object 32"/>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18</a:t>
            </a:fld>
            <a:endParaRPr spc="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7555" cy="6858000"/>
            <a:chOff x="0" y="0"/>
            <a:chExt cx="12187555" cy="6858000"/>
          </a:xfrm>
        </p:grpSpPr>
        <p:pic>
          <p:nvPicPr>
            <p:cNvPr id="3" name="object 3"/>
            <p:cNvPicPr/>
            <p:nvPr/>
          </p:nvPicPr>
          <p:blipFill>
            <a:blip r:embed="rId2" cstate="print"/>
            <a:stretch>
              <a:fillRect/>
            </a:stretch>
          </p:blipFill>
          <p:spPr>
            <a:xfrm>
              <a:off x="0" y="0"/>
              <a:ext cx="12187239" cy="6857998"/>
            </a:xfrm>
            <a:prstGeom prst="rect">
              <a:avLst/>
            </a:prstGeom>
          </p:spPr>
        </p:pic>
        <p:sp>
          <p:nvSpPr>
            <p:cNvPr id="4" name="object 4"/>
            <p:cNvSpPr/>
            <p:nvPr/>
          </p:nvSpPr>
          <p:spPr>
            <a:xfrm>
              <a:off x="800099" y="2533650"/>
              <a:ext cx="1057275" cy="361950"/>
            </a:xfrm>
            <a:custGeom>
              <a:avLst/>
              <a:gdLst/>
              <a:ahLst/>
              <a:cxnLst/>
              <a:rect l="l" t="t" r="r" b="b"/>
              <a:pathLst>
                <a:path w="1057275" h="361950">
                  <a:moveTo>
                    <a:pt x="1057275" y="0"/>
                  </a:moveTo>
                  <a:lnTo>
                    <a:pt x="0" y="0"/>
                  </a:lnTo>
                  <a:lnTo>
                    <a:pt x="0" y="361950"/>
                  </a:lnTo>
                  <a:lnTo>
                    <a:pt x="1057275" y="361950"/>
                  </a:lnTo>
                  <a:lnTo>
                    <a:pt x="1057275" y="0"/>
                  </a:lnTo>
                  <a:close/>
                </a:path>
              </a:pathLst>
            </a:custGeom>
            <a:solidFill>
              <a:srgbClr val="0947CA"/>
            </a:solidFill>
          </p:spPr>
          <p:txBody>
            <a:bodyPr wrap="square" lIns="0" tIns="0" rIns="0" bIns="0" rtlCol="0"/>
            <a:lstStyle/>
            <a:p>
              <a:endParaRPr/>
            </a:p>
          </p:txBody>
        </p:sp>
      </p:grpSp>
      <p:sp>
        <p:nvSpPr>
          <p:cNvPr id="5" name="object 5"/>
          <p:cNvSpPr txBox="1"/>
          <p:nvPr/>
        </p:nvSpPr>
        <p:spPr>
          <a:xfrm>
            <a:off x="877252" y="2547302"/>
            <a:ext cx="88646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Section</a:t>
            </a:r>
            <a:r>
              <a:rPr sz="1800" spc="30" dirty="0">
                <a:solidFill>
                  <a:srgbClr val="FFFFFF"/>
                </a:solidFill>
                <a:latin typeface="Calibri"/>
                <a:cs typeface="Calibri"/>
              </a:rPr>
              <a:t> </a:t>
            </a:r>
            <a:r>
              <a:rPr sz="1800" spc="-50" dirty="0">
                <a:solidFill>
                  <a:srgbClr val="FFFFFF"/>
                </a:solidFill>
                <a:latin typeface="Calibri"/>
                <a:cs typeface="Calibri"/>
              </a:rPr>
              <a:t>2</a:t>
            </a:r>
            <a:endParaRPr sz="18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object 8"/>
          <p:cNvPicPr/>
          <p:nvPr/>
        </p:nvPicPr>
        <p:blipFill>
          <a:blip r:embed="rId2" cstate="print"/>
          <a:stretch>
            <a:fillRect/>
          </a:stretch>
        </p:blipFill>
        <p:spPr>
          <a:xfrm>
            <a:off x="1447800" y="3400234"/>
            <a:ext cx="8839200" cy="2848166"/>
          </a:xfrm>
          <a:prstGeom prst="rect">
            <a:avLst/>
          </a:prstGeom>
          <a:ln w="25400">
            <a:solidFill>
              <a:schemeClr val="tx1"/>
            </a:solidFill>
          </a:ln>
        </p:spPr>
      </p:pic>
      <p:sp>
        <p:nvSpPr>
          <p:cNvPr id="9" name="object 9"/>
          <p:cNvSpPr txBox="1"/>
          <p:nvPr/>
        </p:nvSpPr>
        <p:spPr>
          <a:xfrm>
            <a:off x="11076051" y="6472554"/>
            <a:ext cx="241300" cy="156068"/>
          </a:xfrm>
          <a:prstGeom prst="rect">
            <a:avLst/>
          </a:prstGeom>
        </p:spPr>
        <p:txBody>
          <a:bodyPr vert="horz" wrap="square" lIns="0" tIns="0" rIns="0" bIns="0" rtlCol="0">
            <a:spAutoFit/>
          </a:bodyPr>
          <a:lstStyle/>
          <a:p>
            <a:pPr marL="38100">
              <a:lnSpc>
                <a:spcPts val="1240"/>
              </a:lnSpc>
            </a:pPr>
            <a:fld id="{81D60167-4931-47E6-BA6A-407CBD079E47}" type="slidenum">
              <a:rPr lang="en-GB" sz="1200" b="1" spc="-25" smtClean="0">
                <a:solidFill>
                  <a:srgbClr val="0070C0"/>
                </a:solidFill>
                <a:latin typeface="Calibri"/>
                <a:cs typeface="Calibri"/>
              </a:rPr>
              <a:t>20</a:t>
            </a:fld>
            <a:endParaRPr lang="en-GB" sz="1200" b="1" dirty="0">
              <a:solidFill>
                <a:srgbClr val="0070C0"/>
              </a:solidFill>
              <a:latin typeface="Calibri"/>
              <a:cs typeface="Calibri"/>
            </a:endParaRPr>
          </a:p>
        </p:txBody>
      </p:sp>
      <p:sp>
        <p:nvSpPr>
          <p:cNvPr id="10" name="Title 9">
            <a:extLst>
              <a:ext uri="{FF2B5EF4-FFF2-40B4-BE49-F238E27FC236}">
                <a16:creationId xmlns:a16="http://schemas.microsoft.com/office/drawing/2014/main" id="{FC48DBCC-A8DB-2864-0CCD-AAEB60757AD7}"/>
              </a:ext>
            </a:extLst>
          </p:cNvPr>
          <p:cNvSpPr>
            <a:spLocks noGrp="1"/>
          </p:cNvSpPr>
          <p:nvPr>
            <p:ph type="title"/>
          </p:nvPr>
        </p:nvSpPr>
        <p:spPr>
          <a:xfrm>
            <a:off x="849312" y="412368"/>
            <a:ext cx="10493375" cy="561692"/>
          </a:xfrm>
        </p:spPr>
        <p:txBody>
          <a:bodyPr/>
          <a:lstStyle/>
          <a:p>
            <a:pPr algn="ctr"/>
            <a:r>
              <a:rPr lang="en-GB" dirty="0"/>
              <a:t>Flight Number vs. Launch Site</a:t>
            </a:r>
          </a:p>
        </p:txBody>
      </p:sp>
      <p:sp>
        <p:nvSpPr>
          <p:cNvPr id="11" name="Text Placeholder 10">
            <a:extLst>
              <a:ext uri="{FF2B5EF4-FFF2-40B4-BE49-F238E27FC236}">
                <a16:creationId xmlns:a16="http://schemas.microsoft.com/office/drawing/2014/main" id="{1E7BB1E4-DB59-04D9-0DCC-EE4CB12A12B2}"/>
              </a:ext>
            </a:extLst>
          </p:cNvPr>
          <p:cNvSpPr>
            <a:spLocks noGrp="1"/>
          </p:cNvSpPr>
          <p:nvPr>
            <p:ph type="body" idx="1"/>
          </p:nvPr>
        </p:nvSpPr>
        <p:spPr>
          <a:xfrm>
            <a:off x="837039" y="1127481"/>
            <a:ext cx="10333990" cy="2154436"/>
          </a:xfrm>
        </p:spPr>
        <p:txBody>
          <a:bodyPr/>
          <a:lstStyle/>
          <a:p>
            <a:r>
              <a:rPr lang="en-GB" sz="1400" b="1" dirty="0"/>
              <a:t>Key Observations</a:t>
            </a:r>
          </a:p>
          <a:p>
            <a:endParaRPr lang="en-GB" sz="1400" b="1" dirty="0"/>
          </a:p>
          <a:p>
            <a:pPr marL="285750" indent="-285750">
              <a:buFont typeface="Arial" panose="020B0604020202020204" pitchFamily="34" charset="0"/>
              <a:buChar char="•"/>
            </a:pPr>
            <a:r>
              <a:rPr lang="en-GB" sz="1400" b="1" dirty="0"/>
              <a:t>Site-Agnostic Success Rates:</a:t>
            </a:r>
            <a:r>
              <a:rPr lang="en-GB" sz="1400" dirty="0"/>
              <a:t> Analysis of primary launch facilities (</a:t>
            </a:r>
            <a:r>
              <a:rPr lang="en-GB" sz="1400" b="1" dirty="0"/>
              <a:t>CCAFS SLC 40</a:t>
            </a:r>
            <a:r>
              <a:rPr lang="en-GB" sz="1400" dirty="0"/>
              <a:t> and </a:t>
            </a:r>
            <a:r>
              <a:rPr lang="en-GB" sz="1400" b="1" dirty="0"/>
              <a:t>KSC LC 39A</a:t>
            </a:r>
            <a:r>
              <a:rPr lang="en-GB" sz="1400" dirty="0"/>
              <a:t>) reveals a varied distribution of both successful (orange) and unsuccessful (blue) recoveries. This suggests that while geography is a factor, landing success is heavily influenced by external variables beyond the launch site alone.</a:t>
            </a:r>
          </a:p>
          <a:p>
            <a:pPr marL="285750" indent="-285750">
              <a:buFont typeface="Arial" panose="020B0604020202020204" pitchFamily="34" charset="0"/>
              <a:buChar char="•"/>
            </a:pPr>
            <a:r>
              <a:rPr lang="en-GB" sz="1400" b="1" dirty="0"/>
              <a:t>Operational Continuity:</a:t>
            </a:r>
            <a:r>
              <a:rPr lang="en-GB" sz="1400" dirty="0"/>
              <a:t> Launch activity is distributed broadly across the flight number spectrum at all major sites. This indicates a steady operational tempo rather than a specific concentration of success or failure tied to a particular phase of the program's timeline.</a:t>
            </a:r>
          </a:p>
          <a:p>
            <a:pPr marL="285750" indent="-285750">
              <a:buFont typeface="Arial" panose="020B0604020202020204" pitchFamily="34" charset="0"/>
              <a:buChar char="•"/>
            </a:pPr>
            <a:r>
              <a:rPr lang="en-GB" sz="1400" b="1" dirty="0"/>
              <a:t>Absence of Linear Trends:</a:t>
            </a:r>
            <a:r>
              <a:rPr lang="en-GB" sz="1400" dirty="0"/>
              <a:t> The data does not show a simple linear increase in landing success over time relative to flight numbers, pointing toward the complexity of mission-specific challenges such as payload requirements and weather conditions.</a:t>
            </a:r>
          </a:p>
          <a:p>
            <a:endParaRPr lang="en-GB"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1490735" y="3371684"/>
            <a:ext cx="8872465" cy="3031239"/>
          </a:xfrm>
          <a:prstGeom prst="rect">
            <a:avLst/>
          </a:prstGeom>
          <a:noFill/>
          <a:ln w="25400">
            <a:solidFill>
              <a:schemeClr val="tx1"/>
            </a:solidFill>
          </a:ln>
          <a:effectLst>
            <a:softEdge rad="12700"/>
          </a:effectLst>
        </p:spPr>
      </p:pic>
      <p:sp>
        <p:nvSpPr>
          <p:cNvPr id="8" name="object 8"/>
          <p:cNvSpPr txBox="1"/>
          <p:nvPr/>
        </p:nvSpPr>
        <p:spPr>
          <a:xfrm>
            <a:off x="11076051" y="6472554"/>
            <a:ext cx="241300" cy="156068"/>
          </a:xfrm>
          <a:prstGeom prst="rect">
            <a:avLst/>
          </a:prstGeom>
        </p:spPr>
        <p:txBody>
          <a:bodyPr vert="horz" wrap="square" lIns="0" tIns="0" rIns="0" bIns="0" rtlCol="0">
            <a:spAutoFit/>
          </a:bodyPr>
          <a:lstStyle/>
          <a:p>
            <a:pPr marL="38100">
              <a:lnSpc>
                <a:spcPts val="1240"/>
              </a:lnSpc>
            </a:pPr>
            <a:fld id="{81D60167-4931-47E6-BA6A-407CBD079E47}" type="slidenum">
              <a:rPr sz="1200" b="1" spc="-25" dirty="0">
                <a:solidFill>
                  <a:srgbClr val="0070C0"/>
                </a:solidFill>
                <a:latin typeface="Calibri"/>
                <a:cs typeface="Calibri"/>
              </a:rPr>
              <a:t>21</a:t>
            </a:fld>
            <a:endParaRPr sz="1200" b="1" dirty="0">
              <a:solidFill>
                <a:srgbClr val="0070C0"/>
              </a:solidFill>
              <a:latin typeface="Calibri"/>
              <a:cs typeface="Calibri"/>
            </a:endParaRPr>
          </a:p>
        </p:txBody>
      </p:sp>
      <p:sp>
        <p:nvSpPr>
          <p:cNvPr id="9" name="Title 8">
            <a:extLst>
              <a:ext uri="{FF2B5EF4-FFF2-40B4-BE49-F238E27FC236}">
                <a16:creationId xmlns:a16="http://schemas.microsoft.com/office/drawing/2014/main" id="{28DB3694-9F81-A174-3595-211937F9C734}"/>
              </a:ext>
            </a:extLst>
          </p:cNvPr>
          <p:cNvSpPr>
            <a:spLocks noGrp="1"/>
          </p:cNvSpPr>
          <p:nvPr>
            <p:ph type="title"/>
          </p:nvPr>
        </p:nvSpPr>
        <p:spPr>
          <a:xfrm>
            <a:off x="849312" y="412368"/>
            <a:ext cx="10493375" cy="561692"/>
          </a:xfrm>
        </p:spPr>
        <p:txBody>
          <a:bodyPr/>
          <a:lstStyle/>
          <a:p>
            <a:pPr algn="ctr"/>
            <a:r>
              <a:rPr lang="en-GB" dirty="0"/>
              <a:t>Payload vs. Launch Site</a:t>
            </a:r>
          </a:p>
        </p:txBody>
      </p:sp>
      <p:sp>
        <p:nvSpPr>
          <p:cNvPr id="10" name="Text Placeholder 9">
            <a:extLst>
              <a:ext uri="{FF2B5EF4-FFF2-40B4-BE49-F238E27FC236}">
                <a16:creationId xmlns:a16="http://schemas.microsoft.com/office/drawing/2014/main" id="{74AAEB28-B33C-FF37-D200-4BEADC458BE1}"/>
              </a:ext>
            </a:extLst>
          </p:cNvPr>
          <p:cNvSpPr>
            <a:spLocks noGrp="1"/>
          </p:cNvSpPr>
          <p:nvPr>
            <p:ph type="body" idx="1"/>
          </p:nvPr>
        </p:nvSpPr>
        <p:spPr>
          <a:xfrm>
            <a:off x="806937" y="1143000"/>
            <a:ext cx="10333990" cy="2154436"/>
          </a:xfrm>
        </p:spPr>
        <p:txBody>
          <a:bodyPr/>
          <a:lstStyle/>
          <a:p>
            <a:r>
              <a:rPr lang="en-GB" sz="1400" b="1" dirty="0"/>
              <a:t>Distributional Insights</a:t>
            </a:r>
          </a:p>
          <a:p>
            <a:endParaRPr lang="en-GB" sz="1400" b="1" dirty="0"/>
          </a:p>
          <a:p>
            <a:pPr marL="285750" indent="-285750">
              <a:buFont typeface="Arial" panose="020B0604020202020204" pitchFamily="34" charset="0"/>
              <a:buChar char="•"/>
            </a:pPr>
            <a:r>
              <a:rPr lang="en-GB" sz="1400" b="1" dirty="0"/>
              <a:t>Regional Specialization (CCAFS SLC 40):</a:t>
            </a:r>
            <a:r>
              <a:rPr lang="en-GB" sz="1400" dirty="0"/>
              <a:t> This facility primarily handles "medium-class" missions, with the vast majority of payloads falling below the </a:t>
            </a:r>
            <a:r>
              <a:rPr lang="en-GB" sz="1400" b="1" dirty="0"/>
              <a:t>10,000 kg</a:t>
            </a:r>
            <a:r>
              <a:rPr lang="en-GB" sz="1400" dirty="0"/>
              <a:t> threshold.</a:t>
            </a:r>
          </a:p>
          <a:p>
            <a:pPr marL="285750" indent="-285750">
              <a:buFont typeface="Arial" panose="020B0604020202020204" pitchFamily="34" charset="0"/>
              <a:buChar char="•"/>
            </a:pPr>
            <a:r>
              <a:rPr lang="en-GB" sz="1400" b="1" dirty="0"/>
              <a:t>Mission Versatility (VAFB SLC 4E &amp; KSC LC 39A):</a:t>
            </a:r>
            <a:r>
              <a:rPr lang="en-GB" sz="1400" dirty="0"/>
              <a:t> These sites exhibit much higher flexibility, supporting a diverse spectrum of mission profiles and a wider variance in payload masses.</a:t>
            </a:r>
          </a:p>
          <a:p>
            <a:pPr marL="285750" indent="-285750">
              <a:buFont typeface="Arial" panose="020B0604020202020204" pitchFamily="34" charset="0"/>
              <a:buChar char="•"/>
            </a:pPr>
            <a:r>
              <a:rPr lang="en-GB" sz="1400" b="1" dirty="0"/>
              <a:t>Heavy-Lift Capacity (KSC LC 39A):</a:t>
            </a:r>
            <a:r>
              <a:rPr lang="en-GB" sz="1400" dirty="0"/>
              <a:t> Analysis identifies </a:t>
            </a:r>
            <a:r>
              <a:rPr lang="en-GB" sz="1400" b="1" dirty="0"/>
              <a:t>KSC LC 39A</a:t>
            </a:r>
            <a:r>
              <a:rPr lang="en-GB" sz="1400" dirty="0"/>
              <a:t> as the primary hub for high-capacity operations. It is frequently selected for missions carrying payloads in excess of </a:t>
            </a:r>
            <a:r>
              <a:rPr lang="en-GB" sz="1400" b="1" dirty="0"/>
              <a:t>15,000 kg</a:t>
            </a:r>
            <a:r>
              <a:rPr lang="en-GB" sz="1400" dirty="0"/>
              <a:t>, underscoring its critical role in supporting SpaceX’s most demanding orbital deliveries.</a:t>
            </a:r>
          </a:p>
          <a:p>
            <a:endParaRPr lang="en-GB"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9312" y="412368"/>
            <a:ext cx="10493375" cy="632460"/>
          </a:xfrm>
        </p:spPr>
        <p:txBody>
          <a:bodyPr vert="horz" wrap="square" lIns="0" tIns="90170" rIns="0" bIns="0" rtlCol="0">
            <a:spAutoFit/>
          </a:bodyPr>
          <a:lstStyle/>
          <a:p>
            <a:r>
              <a:rPr lang="en-GB" dirty="0"/>
              <a:t>Success Rate vs. Orbit Type</a:t>
            </a:r>
          </a:p>
        </p:txBody>
      </p:sp>
      <p:sp>
        <p:nvSpPr>
          <p:cNvPr id="6" name="object 6"/>
          <p:cNvSpPr txBox="1"/>
          <p:nvPr/>
        </p:nvSpPr>
        <p:spPr>
          <a:xfrm>
            <a:off x="687156" y="1828800"/>
            <a:ext cx="3656244" cy="4130618"/>
          </a:xfrm>
          <a:prstGeom prst="rect">
            <a:avLst/>
          </a:prstGeom>
        </p:spPr>
        <p:txBody>
          <a:bodyPr vert="horz" wrap="square" lIns="0" tIns="36830" rIns="0" bIns="0" rtlCol="0">
            <a:spAutoFit/>
          </a:bodyPr>
          <a:lstStyle/>
          <a:p>
            <a:r>
              <a:rPr lang="en-GB" sz="1400" b="1" dirty="0"/>
              <a:t>Performance Trends</a:t>
            </a:r>
          </a:p>
          <a:p>
            <a:endParaRPr lang="en-GB" sz="1400" b="1" dirty="0"/>
          </a:p>
          <a:p>
            <a:pPr algn="just"/>
            <a:r>
              <a:rPr lang="en-GB" sz="1400" b="1" dirty="0"/>
              <a:t>Optimal Orbit Profiles</a:t>
            </a:r>
          </a:p>
          <a:p>
            <a:pPr algn="just"/>
            <a:r>
              <a:rPr lang="en-GB" sz="1400" dirty="0"/>
              <a:t>Missions targeting </a:t>
            </a:r>
            <a:r>
              <a:rPr lang="en-GB" sz="1400" b="1" dirty="0"/>
              <a:t>VLEO</a:t>
            </a:r>
            <a:r>
              <a:rPr lang="en-GB" sz="1400" dirty="0"/>
              <a:t>, </a:t>
            </a:r>
            <a:r>
              <a:rPr lang="en-GB" sz="1400" b="1" dirty="0"/>
              <a:t>ES-L1</a:t>
            </a:r>
            <a:r>
              <a:rPr lang="en-GB" sz="1400" dirty="0"/>
              <a:t>, </a:t>
            </a:r>
            <a:r>
              <a:rPr lang="en-GB" sz="1400" b="1" dirty="0"/>
              <a:t>GEO</a:t>
            </a:r>
            <a:r>
              <a:rPr lang="en-GB" sz="1400" dirty="0"/>
              <a:t>, </a:t>
            </a:r>
            <a:r>
              <a:rPr lang="en-GB" sz="1400" b="1" dirty="0"/>
              <a:t>HEO</a:t>
            </a:r>
            <a:r>
              <a:rPr lang="en-GB" sz="1400" dirty="0"/>
              <a:t>, and </a:t>
            </a:r>
            <a:r>
              <a:rPr lang="en-GB" sz="1400" b="1" dirty="0"/>
              <a:t>SSO</a:t>
            </a:r>
            <a:r>
              <a:rPr lang="en-GB" sz="1400" dirty="0"/>
              <a:t> have demonstrated exceptional reliability, achieving a </a:t>
            </a:r>
            <a:r>
              <a:rPr lang="en-GB" sz="1400" b="1" dirty="0"/>
              <a:t>100% success rate</a:t>
            </a:r>
            <a:r>
              <a:rPr lang="en-GB" sz="1400" dirty="0"/>
              <a:t> for first-stage landings. These results suggest that the flight profiles associated with these orbits are highly conducive to booster recovery.</a:t>
            </a:r>
          </a:p>
          <a:p>
            <a:pPr marL="285750" indent="-285750" algn="just">
              <a:buFont typeface="Arial" panose="020B0604020202020204" pitchFamily="34" charset="0"/>
              <a:buChar char="•"/>
            </a:pPr>
            <a:endParaRPr lang="en-GB" sz="1400" dirty="0"/>
          </a:p>
          <a:p>
            <a:pPr algn="just"/>
            <a:r>
              <a:rPr lang="en-GB" sz="1400" b="1" dirty="0"/>
              <a:t>Geostationary Transfer Orbit (GTO) Challenges</a:t>
            </a:r>
            <a:endParaRPr lang="en-GB" sz="1400" dirty="0"/>
          </a:p>
          <a:p>
            <a:pPr algn="just"/>
            <a:r>
              <a:rPr lang="en-GB" sz="1400" dirty="0"/>
              <a:t>In contrast, missions destined for </a:t>
            </a:r>
            <a:r>
              <a:rPr lang="en-GB" sz="1400" b="1" dirty="0"/>
              <a:t>GTO</a:t>
            </a:r>
            <a:r>
              <a:rPr lang="en-GB" sz="1400" dirty="0"/>
              <a:t> exhibit a notably lower success rate. The increased complexity and higher </a:t>
            </a:r>
            <a:r>
              <a:rPr lang="en-GB" sz="1400" dirty="0" err="1"/>
              <a:t>reentry</a:t>
            </a:r>
            <a:r>
              <a:rPr lang="en-GB" sz="1400" dirty="0"/>
              <a:t> velocities typical of GTO profiles appear to present greater technical hurdles for successful landing operations compared to other orbital paths.</a:t>
            </a:r>
          </a:p>
        </p:txBody>
      </p:sp>
      <p:pic>
        <p:nvPicPr>
          <p:cNvPr id="7" name="object 7"/>
          <p:cNvPicPr/>
          <p:nvPr/>
        </p:nvPicPr>
        <p:blipFill>
          <a:blip r:embed="rId2" cstate="print"/>
          <a:stretch>
            <a:fillRect/>
          </a:stretch>
        </p:blipFill>
        <p:spPr>
          <a:xfrm>
            <a:off x="4647477" y="1754046"/>
            <a:ext cx="6834276" cy="4009036"/>
          </a:xfrm>
          <a:prstGeom prst="rect">
            <a:avLst/>
          </a:prstGeom>
        </p:spPr>
      </p:pic>
      <p:sp>
        <p:nvSpPr>
          <p:cNvPr id="8" name="object 8"/>
          <p:cNvSpPr txBox="1"/>
          <p:nvPr/>
        </p:nvSpPr>
        <p:spPr>
          <a:xfrm>
            <a:off x="11076051" y="6472554"/>
            <a:ext cx="241300" cy="156068"/>
          </a:xfrm>
          <a:prstGeom prst="rect">
            <a:avLst/>
          </a:prstGeom>
        </p:spPr>
        <p:txBody>
          <a:bodyPr vert="horz" wrap="square" lIns="0" tIns="0" rIns="0" bIns="0" rtlCol="0">
            <a:spAutoFit/>
          </a:bodyPr>
          <a:lstStyle/>
          <a:p>
            <a:pPr marL="38100">
              <a:lnSpc>
                <a:spcPts val="1240"/>
              </a:lnSpc>
            </a:pPr>
            <a:fld id="{81D60167-4931-47E6-BA6A-407CBD079E47}" type="slidenum">
              <a:rPr sz="1200" b="1" spc="-25" dirty="0">
                <a:solidFill>
                  <a:srgbClr val="0070C0"/>
                </a:solidFill>
                <a:latin typeface="Calibri"/>
                <a:cs typeface="Calibri"/>
              </a:rPr>
              <a:t>22</a:t>
            </a:fld>
            <a:endParaRPr sz="1200" b="1" dirty="0">
              <a:solidFill>
                <a:srgbClr val="0070C0"/>
              </a:solidFill>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973341" y="2133600"/>
            <a:ext cx="4648200" cy="2731889"/>
          </a:xfrm>
          <a:prstGeom prst="rect">
            <a:avLst/>
          </a:prstGeom>
          <a:ln w="25400">
            <a:solidFill>
              <a:schemeClr val="tx1"/>
            </a:solidFill>
          </a:ln>
        </p:spPr>
      </p:pic>
      <p:sp>
        <p:nvSpPr>
          <p:cNvPr id="8" name="object 8"/>
          <p:cNvSpPr txBox="1"/>
          <p:nvPr/>
        </p:nvSpPr>
        <p:spPr>
          <a:xfrm>
            <a:off x="11076051" y="6472554"/>
            <a:ext cx="241300" cy="156068"/>
          </a:xfrm>
          <a:prstGeom prst="rect">
            <a:avLst/>
          </a:prstGeom>
        </p:spPr>
        <p:txBody>
          <a:bodyPr vert="horz" wrap="square" lIns="0" tIns="0" rIns="0" bIns="0" rtlCol="0">
            <a:spAutoFit/>
          </a:bodyPr>
          <a:lstStyle/>
          <a:p>
            <a:pPr marL="38100">
              <a:lnSpc>
                <a:spcPts val="1240"/>
              </a:lnSpc>
            </a:pPr>
            <a:fld id="{81D60167-4931-47E6-BA6A-407CBD079E47}" type="slidenum">
              <a:rPr sz="1200" b="1" spc="-25" dirty="0">
                <a:solidFill>
                  <a:srgbClr val="0070C0"/>
                </a:solidFill>
                <a:latin typeface="Calibri"/>
                <a:cs typeface="Calibri"/>
              </a:rPr>
              <a:t>23</a:t>
            </a:fld>
            <a:endParaRPr sz="1200" b="1" dirty="0">
              <a:solidFill>
                <a:srgbClr val="0070C0"/>
              </a:solidFill>
              <a:latin typeface="Calibri"/>
              <a:cs typeface="Calibri"/>
            </a:endParaRPr>
          </a:p>
        </p:txBody>
      </p:sp>
      <p:sp>
        <p:nvSpPr>
          <p:cNvPr id="10" name="Title 9">
            <a:extLst>
              <a:ext uri="{FF2B5EF4-FFF2-40B4-BE49-F238E27FC236}">
                <a16:creationId xmlns:a16="http://schemas.microsoft.com/office/drawing/2014/main" id="{D4D43026-D6AC-9BCF-28B4-672B65B4E75D}"/>
              </a:ext>
            </a:extLst>
          </p:cNvPr>
          <p:cNvSpPr>
            <a:spLocks noGrp="1"/>
          </p:cNvSpPr>
          <p:nvPr>
            <p:ph type="title"/>
          </p:nvPr>
        </p:nvSpPr>
        <p:spPr/>
        <p:txBody>
          <a:bodyPr/>
          <a:lstStyle/>
          <a:p>
            <a:r>
              <a:rPr lang="en-GB" dirty="0"/>
              <a:t>Flight Number vs. Orbit Type</a:t>
            </a:r>
          </a:p>
        </p:txBody>
      </p:sp>
      <p:sp>
        <p:nvSpPr>
          <p:cNvPr id="12" name="Content Placeholder 11">
            <a:extLst>
              <a:ext uri="{FF2B5EF4-FFF2-40B4-BE49-F238E27FC236}">
                <a16:creationId xmlns:a16="http://schemas.microsoft.com/office/drawing/2014/main" id="{182C9928-6246-5A06-3143-2BED49EFB3A7}"/>
              </a:ext>
            </a:extLst>
          </p:cNvPr>
          <p:cNvSpPr>
            <a:spLocks noGrp="1"/>
          </p:cNvSpPr>
          <p:nvPr>
            <p:ph sz="half" idx="3"/>
          </p:nvPr>
        </p:nvSpPr>
        <p:spPr>
          <a:xfrm>
            <a:off x="6584315" y="1716341"/>
            <a:ext cx="4798059" cy="4308872"/>
          </a:xfrm>
        </p:spPr>
        <p:txBody>
          <a:bodyPr/>
          <a:lstStyle/>
          <a:p>
            <a:r>
              <a:rPr lang="en-GB" b="1" dirty="0"/>
              <a:t>Key Performance Trends</a:t>
            </a:r>
          </a:p>
          <a:p>
            <a:endParaRPr lang="en-GB" b="1" dirty="0"/>
          </a:p>
          <a:p>
            <a:pPr marL="285750" indent="-285750">
              <a:buFont typeface="Arial" panose="020B0604020202020204" pitchFamily="34" charset="0"/>
              <a:buChar char="•"/>
            </a:pPr>
            <a:r>
              <a:rPr lang="en-GB" b="1" dirty="0"/>
              <a:t>Iterative Success Gains:</a:t>
            </a:r>
            <a:r>
              <a:rPr lang="en-GB" dirty="0"/>
              <a:t> There is a positive correlation between flight number and landing success. As flight numbers increase, the recovery rate improves significantly, demonstrating that SpaceX's iterative engineering and operational experience have led to more reliable outcomes over time.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Evolution of Complex Missions:</a:t>
            </a:r>
            <a:r>
              <a:rPr lang="en-GB" dirty="0"/>
              <a:t> Early missions targeting challenging orbits, such as </a:t>
            </a:r>
            <a:r>
              <a:rPr lang="en-GB" b="1" dirty="0"/>
              <a:t>GTO</a:t>
            </a:r>
            <a:r>
              <a:rPr lang="en-GB" dirty="0"/>
              <a:t> and </a:t>
            </a:r>
            <a:r>
              <a:rPr lang="en-GB" b="1" dirty="0"/>
              <a:t>ISS</a:t>
            </a:r>
            <a:r>
              <a:rPr lang="en-GB" dirty="0"/>
              <a:t> (LEO) rendezvous, yielded inconsistent results. However, recent flights to these same orbits show a marked increase in success, </a:t>
            </a:r>
            <a:r>
              <a:rPr lang="en-GB" dirty="0" err="1"/>
              <a:t>signaling</a:t>
            </a:r>
            <a:r>
              <a:rPr lang="en-GB" dirty="0"/>
              <a:t> matured mission planning and technical execution.</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Technological Maturity:</a:t>
            </a:r>
            <a:r>
              <a:rPr lang="en-GB" dirty="0"/>
              <a:t> The transition from mixed results to high-probability success across all orbit types underscores the effectiveness of continuous hardware and software refinements throughout the Falcon 9 program.</a:t>
            </a:r>
          </a:p>
          <a:p>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9312" y="412368"/>
            <a:ext cx="10493375" cy="632460"/>
          </a:xfrm>
        </p:spPr>
        <p:txBody>
          <a:bodyPr vert="horz" wrap="square" lIns="0" tIns="104140" rIns="0" bIns="0" rtlCol="0">
            <a:spAutoFit/>
          </a:bodyPr>
          <a:lstStyle/>
          <a:p>
            <a:r>
              <a:rPr lang="en-GB" dirty="0"/>
              <a:t>Payload vs. Orbit Type</a:t>
            </a:r>
            <a:endParaRPr lang="en-GB"/>
          </a:p>
        </p:txBody>
      </p:sp>
      <p:sp>
        <p:nvSpPr>
          <p:cNvPr id="12" name="Text Placeholder 11">
            <a:extLst>
              <a:ext uri="{FF2B5EF4-FFF2-40B4-BE49-F238E27FC236}">
                <a16:creationId xmlns:a16="http://schemas.microsoft.com/office/drawing/2014/main" id="{71264096-BC79-E506-F03E-D28507B06F3B}"/>
              </a:ext>
            </a:extLst>
          </p:cNvPr>
          <p:cNvSpPr>
            <a:spLocks noGrp="1"/>
          </p:cNvSpPr>
          <p:nvPr>
            <p:ph type="body" idx="1"/>
          </p:nvPr>
        </p:nvSpPr>
        <p:spPr>
          <a:xfrm>
            <a:off x="849312" y="1219201"/>
            <a:ext cx="10333990" cy="2015966"/>
          </a:xfrm>
        </p:spPr>
        <p:txBody>
          <a:bodyPr/>
          <a:lstStyle/>
          <a:p>
            <a:r>
              <a:rPr lang="en-GB" sz="1400" b="1" dirty="0"/>
              <a:t>Key Observations</a:t>
            </a:r>
          </a:p>
          <a:p>
            <a:endParaRPr lang="en-GB" sz="1400" b="1" dirty="0"/>
          </a:p>
          <a:p>
            <a:pPr marL="285750" indent="-285750">
              <a:buFont typeface="Arial" panose="020B0604020202020204" pitchFamily="34" charset="0"/>
              <a:buChar char="•"/>
            </a:pPr>
            <a:r>
              <a:rPr lang="en-GB" sz="1400" b="1" dirty="0"/>
              <a:t>Optimal Recovery Zone:</a:t>
            </a:r>
            <a:r>
              <a:rPr lang="en-GB" sz="1400" dirty="0"/>
              <a:t> Successful first-stage landings are consistently observed across all orbital profiles when the payload mass remains below </a:t>
            </a:r>
            <a:r>
              <a:rPr lang="en-GB" sz="1400" b="1" dirty="0"/>
              <a:t>6,000 kg</a:t>
            </a:r>
            <a:r>
              <a:rPr lang="en-GB" sz="1400" dirty="0"/>
              <a:t>. This suggests that lighter missions provide a greater margin for error during the recovery phase.</a:t>
            </a:r>
          </a:p>
          <a:p>
            <a:pPr marL="285750" indent="-285750">
              <a:buFont typeface="Arial" panose="020B0604020202020204" pitchFamily="34" charset="0"/>
              <a:buChar char="•"/>
            </a:pPr>
            <a:r>
              <a:rPr lang="en-GB" sz="1400" b="1" dirty="0"/>
              <a:t>Impact of Mass on Reliability:</a:t>
            </a:r>
            <a:r>
              <a:rPr lang="en-GB" sz="1400" dirty="0"/>
              <a:t> As payload weight exceeds </a:t>
            </a:r>
            <a:r>
              <a:rPr lang="en-GB" sz="1400" b="1" dirty="0"/>
              <a:t>10,000 kg</a:t>
            </a:r>
            <a:r>
              <a:rPr lang="en-GB" sz="1400" dirty="0"/>
              <a:t>, the data shows a higher variance in results, with a mix of successful recoveries and landing failures.</a:t>
            </a:r>
          </a:p>
          <a:p>
            <a:pPr marL="285750" indent="-285750">
              <a:buFont typeface="Arial" panose="020B0604020202020204" pitchFamily="34" charset="0"/>
              <a:buChar char="•"/>
            </a:pPr>
            <a:r>
              <a:rPr lang="en-GB" sz="1400" b="1" dirty="0"/>
              <a:t>Operational Complexity:</a:t>
            </a:r>
            <a:r>
              <a:rPr lang="en-GB" sz="1400" dirty="0"/>
              <a:t> The increased frequency of unsuccessful landings with heavier payloads highlights the technical challenges posed by high-mass missions, likely due to the increased fuel consumption and higher thermal stresses encountered during re-entry.</a:t>
            </a:r>
          </a:p>
          <a:p>
            <a:endParaRPr lang="en-GB" sz="1400" dirty="0"/>
          </a:p>
        </p:txBody>
      </p:sp>
      <p:pic>
        <p:nvPicPr>
          <p:cNvPr id="7" name="object 7"/>
          <p:cNvPicPr/>
          <p:nvPr/>
        </p:nvPicPr>
        <p:blipFill>
          <a:blip r:embed="rId2" cstate="print"/>
          <a:stretch>
            <a:fillRect/>
          </a:stretch>
        </p:blipFill>
        <p:spPr>
          <a:xfrm>
            <a:off x="3124200" y="3384393"/>
            <a:ext cx="5108069" cy="3025452"/>
          </a:xfrm>
          <a:prstGeom prst="rect">
            <a:avLst/>
          </a:prstGeom>
          <a:ln w="25400">
            <a:solidFill>
              <a:schemeClr val="tx1"/>
            </a:solidFill>
          </a:ln>
        </p:spPr>
      </p:pic>
      <p:sp>
        <p:nvSpPr>
          <p:cNvPr id="8" name="object 8"/>
          <p:cNvSpPr txBox="1"/>
          <p:nvPr/>
        </p:nvSpPr>
        <p:spPr>
          <a:xfrm>
            <a:off x="11076051" y="6472554"/>
            <a:ext cx="241300" cy="156068"/>
          </a:xfrm>
          <a:prstGeom prst="rect">
            <a:avLst/>
          </a:prstGeom>
        </p:spPr>
        <p:txBody>
          <a:bodyPr vert="horz" wrap="square" lIns="0" tIns="0" rIns="0" bIns="0" rtlCol="0">
            <a:spAutoFit/>
          </a:bodyPr>
          <a:lstStyle/>
          <a:p>
            <a:pPr marL="38100">
              <a:lnSpc>
                <a:spcPts val="1240"/>
              </a:lnSpc>
            </a:pPr>
            <a:fld id="{81D60167-4931-47E6-BA6A-407CBD079E47}" type="slidenum">
              <a:rPr sz="1200" b="1" spc="-25" dirty="0">
                <a:solidFill>
                  <a:srgbClr val="0070C0"/>
                </a:solidFill>
                <a:latin typeface="Calibri"/>
                <a:cs typeface="Calibri"/>
              </a:rPr>
              <a:t>24</a:t>
            </a:fld>
            <a:endParaRPr sz="1200" b="1" dirty="0">
              <a:solidFill>
                <a:srgbClr val="0070C0"/>
              </a:solidFill>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2895600" y="3657600"/>
            <a:ext cx="5638800" cy="2730494"/>
          </a:xfrm>
          <a:prstGeom prst="rect">
            <a:avLst/>
          </a:prstGeom>
          <a:ln w="25400">
            <a:solidFill>
              <a:schemeClr val="tx1"/>
            </a:solidFill>
          </a:ln>
        </p:spPr>
      </p:pic>
      <p:sp>
        <p:nvSpPr>
          <p:cNvPr id="8" name="object 8"/>
          <p:cNvSpPr txBox="1"/>
          <p:nvPr/>
        </p:nvSpPr>
        <p:spPr>
          <a:xfrm>
            <a:off x="11076051" y="6472554"/>
            <a:ext cx="241300" cy="156068"/>
          </a:xfrm>
          <a:prstGeom prst="rect">
            <a:avLst/>
          </a:prstGeom>
        </p:spPr>
        <p:txBody>
          <a:bodyPr vert="horz" wrap="square" lIns="0" tIns="0" rIns="0" bIns="0" rtlCol="0">
            <a:spAutoFit/>
          </a:bodyPr>
          <a:lstStyle/>
          <a:p>
            <a:pPr marL="38100">
              <a:lnSpc>
                <a:spcPts val="1240"/>
              </a:lnSpc>
            </a:pPr>
            <a:fld id="{81D60167-4931-47E6-BA6A-407CBD079E47}" type="slidenum">
              <a:rPr sz="1200" b="1" spc="-25" dirty="0">
                <a:solidFill>
                  <a:srgbClr val="0070C0"/>
                </a:solidFill>
                <a:latin typeface="Calibri"/>
                <a:cs typeface="Calibri"/>
              </a:rPr>
              <a:t>25</a:t>
            </a:fld>
            <a:endParaRPr sz="1200" b="1" dirty="0">
              <a:solidFill>
                <a:srgbClr val="0070C0"/>
              </a:solidFill>
              <a:latin typeface="Calibri"/>
              <a:cs typeface="Calibri"/>
            </a:endParaRPr>
          </a:p>
        </p:txBody>
      </p:sp>
      <p:sp>
        <p:nvSpPr>
          <p:cNvPr id="11" name="Title 10">
            <a:extLst>
              <a:ext uri="{FF2B5EF4-FFF2-40B4-BE49-F238E27FC236}">
                <a16:creationId xmlns:a16="http://schemas.microsoft.com/office/drawing/2014/main" id="{401264C9-84EC-07B1-F9A5-0A0BB0D964AC}"/>
              </a:ext>
            </a:extLst>
          </p:cNvPr>
          <p:cNvSpPr>
            <a:spLocks noGrp="1"/>
          </p:cNvSpPr>
          <p:nvPr>
            <p:ph type="title"/>
          </p:nvPr>
        </p:nvSpPr>
        <p:spPr>
          <a:xfrm>
            <a:off x="849312" y="412368"/>
            <a:ext cx="10493375" cy="561692"/>
          </a:xfrm>
        </p:spPr>
        <p:txBody>
          <a:bodyPr/>
          <a:lstStyle/>
          <a:p>
            <a:r>
              <a:rPr lang="en-GB" dirty="0"/>
              <a:t>Launch Success Yearly Trend</a:t>
            </a:r>
          </a:p>
        </p:txBody>
      </p:sp>
      <p:sp>
        <p:nvSpPr>
          <p:cNvPr id="12" name="Text Placeholder 11">
            <a:extLst>
              <a:ext uri="{FF2B5EF4-FFF2-40B4-BE49-F238E27FC236}">
                <a16:creationId xmlns:a16="http://schemas.microsoft.com/office/drawing/2014/main" id="{A78C0F7A-F045-0F1E-8EDA-8D8973ECE6B8}"/>
              </a:ext>
            </a:extLst>
          </p:cNvPr>
          <p:cNvSpPr>
            <a:spLocks noGrp="1"/>
          </p:cNvSpPr>
          <p:nvPr>
            <p:ph type="body" idx="1"/>
          </p:nvPr>
        </p:nvSpPr>
        <p:spPr>
          <a:xfrm>
            <a:off x="849312" y="1295400"/>
            <a:ext cx="10333990" cy="2369880"/>
          </a:xfrm>
        </p:spPr>
        <p:txBody>
          <a:bodyPr/>
          <a:lstStyle/>
          <a:p>
            <a:r>
              <a:rPr lang="en-GB" sz="1400" b="1" dirty="0"/>
              <a:t>Temporal Performance Analysis</a:t>
            </a:r>
          </a:p>
          <a:p>
            <a:endParaRPr lang="en-GB" sz="1400" b="1" dirty="0"/>
          </a:p>
          <a:p>
            <a:pPr marL="285750" indent="-285750">
              <a:buFont typeface="Arial" panose="020B0604020202020204" pitchFamily="34" charset="0"/>
              <a:buChar char="•"/>
            </a:pPr>
            <a:r>
              <a:rPr lang="en-GB" sz="1400" b="1" dirty="0"/>
              <a:t>Sustained Growth:</a:t>
            </a:r>
            <a:r>
              <a:rPr lang="en-GB" sz="1400" dirty="0"/>
              <a:t> The annual recovery success rate has experienced a dramatic upward trajectory since 2013. By 2020, this figure surpassed the </a:t>
            </a:r>
            <a:r>
              <a:rPr lang="en-GB" sz="1400" b="1" dirty="0"/>
              <a:t>80% mark</a:t>
            </a:r>
            <a:r>
              <a:rPr lang="en-GB" sz="1400" dirty="0"/>
              <a:t>, reflecting the successful transition from experimental recovery attempts to standardized operational procedures.</a:t>
            </a:r>
          </a:p>
          <a:p>
            <a:pPr marL="285750" indent="-285750">
              <a:buFont typeface="Arial" panose="020B0604020202020204" pitchFamily="34" charset="0"/>
              <a:buChar char="•"/>
            </a:pPr>
            <a:r>
              <a:rPr lang="en-GB" sz="1400" b="1" dirty="0"/>
              <a:t>Resilience to Fluctuations:</a:t>
            </a:r>
            <a:r>
              <a:rPr lang="en-GB" sz="1400" dirty="0"/>
              <a:t> While the program experienced a temporary performance dip in 2018, the long-term trend remained robust. This bounce-back demonstrates SpaceX's ability to learn from mission failures and implement effective engineering corrections.</a:t>
            </a:r>
          </a:p>
          <a:p>
            <a:pPr marL="285750" indent="-285750">
              <a:buFont typeface="Arial" panose="020B0604020202020204" pitchFamily="34" charset="0"/>
              <a:buChar char="•"/>
            </a:pPr>
            <a:r>
              <a:rPr lang="en-GB" sz="1400" b="1" dirty="0"/>
              <a:t>Maturity &amp; Reliability:</a:t>
            </a:r>
            <a:r>
              <a:rPr lang="en-GB" sz="1400" dirty="0"/>
              <a:t> The overall longitudinal data highlights a steadily increasing reliability index. The trend confirms that as the platform matured, the "risk-per-launch" for first-stage recovery decreased significantly, solidifying the economic case for reusable rocket technology.</a:t>
            </a:r>
          </a:p>
          <a:p>
            <a:endParaRPr lang="en-GB"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71549" y="1724025"/>
            <a:ext cx="10258425" cy="2743200"/>
          </a:xfrm>
          <a:prstGeom prst="rect">
            <a:avLst/>
          </a:prstGeom>
        </p:spPr>
      </p:pic>
      <p:sp>
        <p:nvSpPr>
          <p:cNvPr id="3" name="object 3"/>
          <p:cNvSpPr txBox="1">
            <a:spLocks noGrp="1"/>
          </p:cNvSpPr>
          <p:nvPr>
            <p:ph type="title"/>
          </p:nvPr>
        </p:nvSpPr>
        <p:spPr>
          <a:xfrm>
            <a:off x="849312" y="420369"/>
            <a:ext cx="4488815" cy="586740"/>
          </a:xfrm>
          <a:prstGeom prst="rect">
            <a:avLst/>
          </a:prstGeom>
        </p:spPr>
        <p:txBody>
          <a:bodyPr vert="horz" wrap="square" lIns="0" tIns="16510" rIns="0" bIns="0" rtlCol="0">
            <a:spAutoFit/>
          </a:bodyPr>
          <a:lstStyle/>
          <a:p>
            <a:pPr marL="12700">
              <a:lnSpc>
                <a:spcPct val="100000"/>
              </a:lnSpc>
              <a:spcBef>
                <a:spcPts val="130"/>
              </a:spcBef>
            </a:pPr>
            <a:r>
              <a:rPr dirty="0"/>
              <a:t>All</a:t>
            </a:r>
            <a:r>
              <a:rPr spc="-95" dirty="0"/>
              <a:t> </a:t>
            </a:r>
            <a:r>
              <a:rPr spc="-85" dirty="0"/>
              <a:t>Launch</a:t>
            </a:r>
            <a:r>
              <a:rPr spc="-50" dirty="0"/>
              <a:t> </a:t>
            </a:r>
            <a:r>
              <a:rPr spc="-45" dirty="0"/>
              <a:t>Site</a:t>
            </a:r>
            <a:r>
              <a:rPr spc="-80" dirty="0"/>
              <a:t> </a:t>
            </a:r>
            <a:r>
              <a:rPr spc="-155" dirty="0"/>
              <a:t>Names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26</a:t>
            </a:fld>
            <a:endParaRPr spc="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7249" y="1714500"/>
            <a:ext cx="10058400" cy="3895725"/>
          </a:xfrm>
          <a:prstGeom prst="rect">
            <a:avLst/>
          </a:prstGeom>
        </p:spPr>
      </p:pic>
      <p:sp>
        <p:nvSpPr>
          <p:cNvPr id="3" name="object 3"/>
          <p:cNvSpPr txBox="1">
            <a:spLocks noGrp="1"/>
          </p:cNvSpPr>
          <p:nvPr>
            <p:ph type="title"/>
          </p:nvPr>
        </p:nvSpPr>
        <p:spPr>
          <a:xfrm>
            <a:off x="849312" y="420369"/>
            <a:ext cx="7268845" cy="586740"/>
          </a:xfrm>
          <a:prstGeom prst="rect">
            <a:avLst/>
          </a:prstGeom>
        </p:spPr>
        <p:txBody>
          <a:bodyPr vert="horz" wrap="square" lIns="0" tIns="16510" rIns="0" bIns="0" rtlCol="0">
            <a:spAutoFit/>
          </a:bodyPr>
          <a:lstStyle/>
          <a:p>
            <a:pPr marL="12700">
              <a:lnSpc>
                <a:spcPct val="100000"/>
              </a:lnSpc>
              <a:spcBef>
                <a:spcPts val="130"/>
              </a:spcBef>
            </a:pPr>
            <a:r>
              <a:rPr spc="-95" dirty="0"/>
              <a:t>Launch</a:t>
            </a:r>
            <a:r>
              <a:rPr spc="-70" dirty="0"/>
              <a:t> </a:t>
            </a:r>
            <a:r>
              <a:rPr spc="-20" dirty="0"/>
              <a:t>Site</a:t>
            </a:r>
            <a:r>
              <a:rPr spc="-30" dirty="0"/>
              <a:t> </a:t>
            </a:r>
            <a:r>
              <a:rPr spc="-165" dirty="0"/>
              <a:t>Names</a:t>
            </a:r>
            <a:r>
              <a:rPr spc="-75" dirty="0"/>
              <a:t> </a:t>
            </a:r>
            <a:r>
              <a:rPr spc="-10" dirty="0"/>
              <a:t>Begin</a:t>
            </a:r>
            <a:r>
              <a:rPr spc="-60" dirty="0"/>
              <a:t> </a:t>
            </a:r>
            <a:r>
              <a:rPr dirty="0"/>
              <a:t>with</a:t>
            </a:r>
            <a:r>
              <a:rPr spc="-55" dirty="0"/>
              <a:t> </a:t>
            </a:r>
            <a:r>
              <a:rPr spc="-160" dirty="0"/>
              <a:t>'CCA'</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27</a:t>
            </a:fld>
            <a:endParaRPr spc="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71524" y="2085975"/>
            <a:ext cx="10515600" cy="2200275"/>
          </a:xfrm>
          <a:prstGeom prst="rect">
            <a:avLst/>
          </a:prstGeom>
        </p:spPr>
      </p:pic>
      <p:sp>
        <p:nvSpPr>
          <p:cNvPr id="3" name="object 3"/>
          <p:cNvSpPr txBox="1">
            <a:spLocks noGrp="1"/>
          </p:cNvSpPr>
          <p:nvPr>
            <p:ph type="title"/>
          </p:nvPr>
        </p:nvSpPr>
        <p:spPr>
          <a:xfrm>
            <a:off x="849312" y="420369"/>
            <a:ext cx="3889375" cy="586740"/>
          </a:xfrm>
          <a:prstGeom prst="rect">
            <a:avLst/>
          </a:prstGeom>
        </p:spPr>
        <p:txBody>
          <a:bodyPr vert="horz" wrap="square" lIns="0" tIns="16510" rIns="0" bIns="0" rtlCol="0">
            <a:spAutoFit/>
          </a:bodyPr>
          <a:lstStyle/>
          <a:p>
            <a:pPr marL="12700">
              <a:lnSpc>
                <a:spcPct val="100000"/>
              </a:lnSpc>
              <a:spcBef>
                <a:spcPts val="130"/>
              </a:spcBef>
            </a:pPr>
            <a:r>
              <a:rPr dirty="0"/>
              <a:t>Total</a:t>
            </a:r>
            <a:r>
              <a:rPr spc="-155" dirty="0"/>
              <a:t> </a:t>
            </a:r>
            <a:r>
              <a:rPr spc="-90" dirty="0"/>
              <a:t>Payload</a:t>
            </a:r>
            <a:r>
              <a:rPr spc="-155" dirty="0"/>
              <a:t> Mass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28</a:t>
            </a:fld>
            <a:endParaRPr spc="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71524" y="2286000"/>
            <a:ext cx="11029950" cy="2276475"/>
          </a:xfrm>
          <a:prstGeom prst="rect">
            <a:avLst/>
          </a:prstGeom>
        </p:spPr>
      </p:pic>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70" dirty="0"/>
              <a:t>Average</a:t>
            </a:r>
            <a:r>
              <a:rPr spc="-90" dirty="0"/>
              <a:t> </a:t>
            </a:r>
            <a:r>
              <a:rPr spc="-85" dirty="0"/>
              <a:t>Payload</a:t>
            </a:r>
            <a:r>
              <a:rPr spc="-30" dirty="0"/>
              <a:t> </a:t>
            </a:r>
            <a:r>
              <a:rPr spc="-145" dirty="0"/>
              <a:t>Mass</a:t>
            </a:r>
            <a:r>
              <a:rPr spc="-35" dirty="0"/>
              <a:t> </a:t>
            </a:r>
            <a:r>
              <a:rPr dirty="0"/>
              <a:t>by</a:t>
            </a:r>
            <a:r>
              <a:rPr spc="-25" dirty="0"/>
              <a:t> </a:t>
            </a:r>
            <a:r>
              <a:rPr dirty="0"/>
              <a:t>F9</a:t>
            </a:r>
            <a:r>
              <a:rPr spc="-40" dirty="0"/>
              <a:t> </a:t>
            </a:r>
            <a:r>
              <a:rPr spc="-20" dirty="0"/>
              <a:t>v1.1</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29</a:t>
            </a:fld>
            <a:endParaRPr spc="6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71524" y="1971675"/>
            <a:ext cx="10829925" cy="2533650"/>
          </a:xfrm>
          <a:prstGeom prst="rect">
            <a:avLst/>
          </a:prstGeom>
        </p:spPr>
      </p:pic>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First</a:t>
            </a:r>
            <a:r>
              <a:rPr spc="-140" dirty="0"/>
              <a:t> </a:t>
            </a:r>
            <a:r>
              <a:rPr spc="-145" dirty="0"/>
              <a:t>Successful</a:t>
            </a:r>
            <a:r>
              <a:rPr spc="-100" dirty="0"/>
              <a:t> </a:t>
            </a:r>
            <a:r>
              <a:rPr spc="-45" dirty="0"/>
              <a:t>Ground</a:t>
            </a:r>
            <a:r>
              <a:rPr spc="-110" dirty="0"/>
              <a:t> </a:t>
            </a:r>
            <a:r>
              <a:rPr spc="-10" dirty="0"/>
              <a:t>Landing</a:t>
            </a:r>
            <a:r>
              <a:rPr spc="-110" dirty="0"/>
              <a:t> </a:t>
            </a:r>
            <a:r>
              <a:rPr spc="-20" dirty="0"/>
              <a:t>Date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30</a:t>
            </a:fld>
            <a:endParaRPr spc="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71524" y="1714500"/>
            <a:ext cx="10829925" cy="3152775"/>
          </a:xfrm>
          <a:prstGeom prst="rect">
            <a:avLst/>
          </a:prstGeom>
        </p:spPr>
      </p:pic>
      <p:sp>
        <p:nvSpPr>
          <p:cNvPr id="3" name="object 3"/>
          <p:cNvSpPr txBox="1">
            <a:spLocks noGrp="1"/>
          </p:cNvSpPr>
          <p:nvPr>
            <p:ph type="title"/>
          </p:nvPr>
        </p:nvSpPr>
        <p:spPr>
          <a:prstGeom prst="rect">
            <a:avLst/>
          </a:prstGeom>
        </p:spPr>
        <p:txBody>
          <a:bodyPr vert="horz" wrap="square" lIns="0" tIns="149288" rIns="0" bIns="0" rtlCol="0">
            <a:spAutoFit/>
          </a:bodyPr>
          <a:lstStyle/>
          <a:p>
            <a:pPr marL="12700">
              <a:lnSpc>
                <a:spcPct val="100000"/>
              </a:lnSpc>
              <a:spcBef>
                <a:spcPts val="125"/>
              </a:spcBef>
            </a:pPr>
            <a:r>
              <a:rPr sz="2450" spc="-90" dirty="0"/>
              <a:t>Successful</a:t>
            </a:r>
            <a:r>
              <a:rPr sz="2450" spc="-40" dirty="0"/>
              <a:t> </a:t>
            </a:r>
            <a:r>
              <a:rPr sz="2450" dirty="0"/>
              <a:t>Drone</a:t>
            </a:r>
            <a:r>
              <a:rPr sz="2450" spc="-10" dirty="0"/>
              <a:t> </a:t>
            </a:r>
            <a:r>
              <a:rPr sz="2450" spc="-20" dirty="0"/>
              <a:t>Ship </a:t>
            </a:r>
            <a:r>
              <a:rPr sz="2450" dirty="0"/>
              <a:t>Landing</a:t>
            </a:r>
            <a:r>
              <a:rPr sz="2450" spc="-75" dirty="0"/>
              <a:t> </a:t>
            </a:r>
            <a:r>
              <a:rPr sz="2450" dirty="0"/>
              <a:t>with</a:t>
            </a:r>
            <a:r>
              <a:rPr sz="2450" spc="-70" dirty="0"/>
              <a:t> </a:t>
            </a:r>
            <a:r>
              <a:rPr sz="2450" spc="-45" dirty="0"/>
              <a:t>Payload</a:t>
            </a:r>
            <a:r>
              <a:rPr sz="2450" spc="-15" dirty="0"/>
              <a:t> </a:t>
            </a:r>
            <a:r>
              <a:rPr sz="2450" spc="-10" dirty="0"/>
              <a:t>between </a:t>
            </a:r>
            <a:r>
              <a:rPr sz="2450" spc="125" dirty="0"/>
              <a:t>4000</a:t>
            </a:r>
            <a:r>
              <a:rPr sz="2450" spc="20" dirty="0"/>
              <a:t> </a:t>
            </a:r>
            <a:r>
              <a:rPr sz="2450" dirty="0"/>
              <a:t>and</a:t>
            </a:r>
            <a:r>
              <a:rPr sz="2450" spc="-70" dirty="0"/>
              <a:t> </a:t>
            </a:r>
            <a:r>
              <a:rPr sz="2450" spc="120" dirty="0"/>
              <a:t>6000</a:t>
            </a:r>
            <a:endParaRPr sz="245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31</a:t>
            </a:fld>
            <a:endParaRPr spc="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7121" rIns="0" bIns="0" rtlCol="0">
            <a:spAutoFit/>
          </a:bodyPr>
          <a:lstStyle/>
          <a:p>
            <a:pPr marL="12700">
              <a:lnSpc>
                <a:spcPct val="100000"/>
              </a:lnSpc>
              <a:spcBef>
                <a:spcPts val="130"/>
              </a:spcBef>
            </a:pPr>
            <a:r>
              <a:rPr sz="3050" dirty="0"/>
              <a:t>Total</a:t>
            </a:r>
            <a:r>
              <a:rPr sz="3050" spc="-30" dirty="0"/>
              <a:t> </a:t>
            </a:r>
            <a:r>
              <a:rPr sz="3050" spc="-35" dirty="0"/>
              <a:t>Number</a:t>
            </a:r>
            <a:r>
              <a:rPr sz="3050" spc="-45" dirty="0"/>
              <a:t> </a:t>
            </a:r>
            <a:r>
              <a:rPr sz="3050" dirty="0"/>
              <a:t>of</a:t>
            </a:r>
            <a:r>
              <a:rPr sz="3050" spc="-65" dirty="0"/>
              <a:t> </a:t>
            </a:r>
            <a:r>
              <a:rPr sz="3050" spc="-110" dirty="0"/>
              <a:t>Successful</a:t>
            </a:r>
            <a:r>
              <a:rPr sz="3050" spc="-85" dirty="0"/>
              <a:t> </a:t>
            </a:r>
            <a:r>
              <a:rPr sz="3050" dirty="0"/>
              <a:t>and</a:t>
            </a:r>
            <a:r>
              <a:rPr sz="3050" spc="-40" dirty="0"/>
              <a:t> Failure</a:t>
            </a:r>
            <a:r>
              <a:rPr sz="3050" spc="-55" dirty="0"/>
              <a:t> </a:t>
            </a:r>
            <a:r>
              <a:rPr sz="3050" spc="-20" dirty="0"/>
              <a:t>Mission</a:t>
            </a:r>
            <a:r>
              <a:rPr sz="3050" spc="-85" dirty="0"/>
              <a:t> </a:t>
            </a:r>
            <a:r>
              <a:rPr sz="3050" spc="-50" dirty="0"/>
              <a:t>Outcomes</a:t>
            </a:r>
            <a:endParaRPr sz="3050"/>
          </a:p>
        </p:txBody>
      </p:sp>
      <p:pic>
        <p:nvPicPr>
          <p:cNvPr id="3" name="object 3"/>
          <p:cNvPicPr/>
          <p:nvPr/>
        </p:nvPicPr>
        <p:blipFill>
          <a:blip r:embed="rId2" cstate="print"/>
          <a:stretch>
            <a:fillRect/>
          </a:stretch>
        </p:blipFill>
        <p:spPr>
          <a:xfrm>
            <a:off x="742950" y="1866900"/>
            <a:ext cx="10715625" cy="2266950"/>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32</a:t>
            </a:fld>
            <a:endParaRPr spc="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30" dirty="0"/>
              <a:t>Boosters</a:t>
            </a:r>
            <a:r>
              <a:rPr spc="-180" dirty="0"/>
              <a:t> </a:t>
            </a:r>
            <a:r>
              <a:rPr spc="-55" dirty="0"/>
              <a:t>Carried</a:t>
            </a:r>
            <a:r>
              <a:rPr spc="-185" dirty="0"/>
              <a:t> </a:t>
            </a:r>
            <a:r>
              <a:rPr spc="-90" dirty="0"/>
              <a:t>Maximum</a:t>
            </a:r>
            <a:r>
              <a:rPr spc="-155" dirty="0"/>
              <a:t> </a:t>
            </a:r>
            <a:r>
              <a:rPr spc="-80" dirty="0"/>
              <a:t>Payload</a:t>
            </a:r>
          </a:p>
        </p:txBody>
      </p:sp>
      <p:pic>
        <p:nvPicPr>
          <p:cNvPr id="3" name="object 3"/>
          <p:cNvPicPr/>
          <p:nvPr/>
        </p:nvPicPr>
        <p:blipFill>
          <a:blip r:embed="rId2" cstate="print"/>
          <a:stretch>
            <a:fillRect/>
          </a:stretch>
        </p:blipFill>
        <p:spPr>
          <a:xfrm>
            <a:off x="1266825" y="1571625"/>
            <a:ext cx="9525000" cy="4457700"/>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33</a:t>
            </a:fld>
            <a:endParaRPr spc="6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9312" y="420369"/>
            <a:ext cx="4471035" cy="586740"/>
          </a:xfrm>
          <a:prstGeom prst="rect">
            <a:avLst/>
          </a:prstGeom>
        </p:spPr>
        <p:txBody>
          <a:bodyPr vert="horz" wrap="square" lIns="0" tIns="16510" rIns="0" bIns="0" rtlCol="0">
            <a:spAutoFit/>
          </a:bodyPr>
          <a:lstStyle/>
          <a:p>
            <a:pPr marL="12700">
              <a:lnSpc>
                <a:spcPct val="100000"/>
              </a:lnSpc>
              <a:spcBef>
                <a:spcPts val="130"/>
              </a:spcBef>
            </a:pPr>
            <a:r>
              <a:rPr spc="200" dirty="0"/>
              <a:t>2015</a:t>
            </a:r>
            <a:r>
              <a:rPr spc="-35" dirty="0"/>
              <a:t> </a:t>
            </a:r>
            <a:r>
              <a:rPr spc="-85" dirty="0"/>
              <a:t>Launch</a:t>
            </a:r>
            <a:r>
              <a:rPr spc="5" dirty="0"/>
              <a:t> </a:t>
            </a:r>
            <a:r>
              <a:rPr spc="-125" dirty="0"/>
              <a:t>Records</a:t>
            </a:r>
          </a:p>
        </p:txBody>
      </p:sp>
      <p:pic>
        <p:nvPicPr>
          <p:cNvPr id="3" name="object 3"/>
          <p:cNvPicPr/>
          <p:nvPr/>
        </p:nvPicPr>
        <p:blipFill>
          <a:blip r:embed="rId2" cstate="print"/>
          <a:stretch>
            <a:fillRect/>
          </a:stretch>
        </p:blipFill>
        <p:spPr>
          <a:xfrm>
            <a:off x="1495425" y="1295400"/>
            <a:ext cx="9067800" cy="4933950"/>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34</a:t>
            </a:fld>
            <a:endParaRPr spc="6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66824" y="1476375"/>
            <a:ext cx="9515475" cy="4638675"/>
          </a:xfrm>
          <a:prstGeom prst="rect">
            <a:avLst/>
          </a:prstGeom>
        </p:spPr>
      </p:pic>
      <p:sp>
        <p:nvSpPr>
          <p:cNvPr id="3" name="object 3"/>
          <p:cNvSpPr txBox="1">
            <a:spLocks noGrp="1"/>
          </p:cNvSpPr>
          <p:nvPr>
            <p:ph type="title"/>
          </p:nvPr>
        </p:nvSpPr>
        <p:spPr>
          <a:prstGeom prst="rect">
            <a:avLst/>
          </a:prstGeom>
        </p:spPr>
        <p:txBody>
          <a:bodyPr vert="horz" wrap="square" lIns="0" tIns="122936" rIns="0" bIns="0" rtlCol="0">
            <a:spAutoFit/>
          </a:bodyPr>
          <a:lstStyle/>
          <a:p>
            <a:pPr marL="12700">
              <a:lnSpc>
                <a:spcPct val="100000"/>
              </a:lnSpc>
              <a:spcBef>
                <a:spcPts val="130"/>
              </a:spcBef>
            </a:pPr>
            <a:r>
              <a:rPr sz="2750" spc="-105" dirty="0"/>
              <a:t>Rank</a:t>
            </a:r>
            <a:r>
              <a:rPr sz="2750" spc="-75" dirty="0"/>
              <a:t> </a:t>
            </a:r>
            <a:r>
              <a:rPr sz="2750" dirty="0"/>
              <a:t>Landing </a:t>
            </a:r>
            <a:r>
              <a:rPr sz="2750" spc="-65" dirty="0"/>
              <a:t>Outcomes</a:t>
            </a:r>
            <a:r>
              <a:rPr sz="2750" spc="-15" dirty="0"/>
              <a:t> </a:t>
            </a:r>
            <a:r>
              <a:rPr sz="2750" spc="-50" dirty="0"/>
              <a:t>Between</a:t>
            </a:r>
            <a:r>
              <a:rPr sz="2750" spc="10" dirty="0"/>
              <a:t> </a:t>
            </a:r>
            <a:r>
              <a:rPr sz="2750" spc="114" dirty="0"/>
              <a:t>2010-</a:t>
            </a:r>
            <a:r>
              <a:rPr sz="2750" spc="100" dirty="0"/>
              <a:t>06-</a:t>
            </a:r>
            <a:r>
              <a:rPr sz="2750" spc="155" dirty="0"/>
              <a:t>04</a:t>
            </a:r>
            <a:r>
              <a:rPr sz="2750" spc="-90" dirty="0"/>
              <a:t> </a:t>
            </a:r>
            <a:r>
              <a:rPr sz="2750" dirty="0"/>
              <a:t>and</a:t>
            </a:r>
            <a:r>
              <a:rPr sz="2750" spc="-65" dirty="0"/>
              <a:t> </a:t>
            </a:r>
            <a:r>
              <a:rPr sz="2750" spc="114" dirty="0"/>
              <a:t>2017-</a:t>
            </a:r>
            <a:r>
              <a:rPr sz="2750" spc="100" dirty="0"/>
              <a:t>03-</a:t>
            </a:r>
            <a:r>
              <a:rPr sz="2750" spc="155" dirty="0"/>
              <a:t>20</a:t>
            </a:r>
            <a:endParaRPr sz="275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35</a:t>
            </a:fld>
            <a:endParaRPr spc="6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7555" cy="6858000"/>
            <a:chOff x="0" y="0"/>
            <a:chExt cx="12187555" cy="6858000"/>
          </a:xfrm>
        </p:grpSpPr>
        <p:pic>
          <p:nvPicPr>
            <p:cNvPr id="3" name="object 3"/>
            <p:cNvPicPr/>
            <p:nvPr/>
          </p:nvPicPr>
          <p:blipFill>
            <a:blip r:embed="rId2" cstate="print"/>
            <a:stretch>
              <a:fillRect/>
            </a:stretch>
          </p:blipFill>
          <p:spPr>
            <a:xfrm>
              <a:off x="0" y="0"/>
              <a:ext cx="12187239" cy="6857998"/>
            </a:xfrm>
            <a:prstGeom prst="rect">
              <a:avLst/>
            </a:prstGeom>
          </p:spPr>
        </p:pic>
        <p:sp>
          <p:nvSpPr>
            <p:cNvPr id="4" name="object 4"/>
            <p:cNvSpPr/>
            <p:nvPr/>
          </p:nvSpPr>
          <p:spPr>
            <a:xfrm>
              <a:off x="800099" y="2533650"/>
              <a:ext cx="1057275" cy="361950"/>
            </a:xfrm>
            <a:custGeom>
              <a:avLst/>
              <a:gdLst/>
              <a:ahLst/>
              <a:cxnLst/>
              <a:rect l="l" t="t" r="r" b="b"/>
              <a:pathLst>
                <a:path w="1057275" h="361950">
                  <a:moveTo>
                    <a:pt x="1057275" y="0"/>
                  </a:moveTo>
                  <a:lnTo>
                    <a:pt x="0" y="0"/>
                  </a:lnTo>
                  <a:lnTo>
                    <a:pt x="0" y="361950"/>
                  </a:lnTo>
                  <a:lnTo>
                    <a:pt x="1057275" y="361950"/>
                  </a:lnTo>
                  <a:lnTo>
                    <a:pt x="1057275" y="0"/>
                  </a:lnTo>
                  <a:close/>
                </a:path>
              </a:pathLst>
            </a:custGeom>
            <a:solidFill>
              <a:srgbClr val="0947CA"/>
            </a:solidFill>
          </p:spPr>
          <p:txBody>
            <a:bodyPr wrap="square" lIns="0" tIns="0" rIns="0" bIns="0" rtlCol="0"/>
            <a:lstStyle/>
            <a:p>
              <a:endParaRPr/>
            </a:p>
          </p:txBody>
        </p:sp>
      </p:grpSp>
      <p:sp>
        <p:nvSpPr>
          <p:cNvPr id="5" name="object 5"/>
          <p:cNvSpPr txBox="1"/>
          <p:nvPr/>
        </p:nvSpPr>
        <p:spPr>
          <a:xfrm>
            <a:off x="877252" y="2547302"/>
            <a:ext cx="88646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Section</a:t>
            </a:r>
            <a:r>
              <a:rPr sz="1800" spc="30" dirty="0">
                <a:solidFill>
                  <a:srgbClr val="FFFFFF"/>
                </a:solidFill>
                <a:latin typeface="Calibri"/>
                <a:cs typeface="Calibri"/>
              </a:rPr>
              <a:t> </a:t>
            </a:r>
            <a:r>
              <a:rPr sz="1800" spc="-50" dirty="0">
                <a:solidFill>
                  <a:srgbClr val="FFFFFF"/>
                </a:solidFill>
                <a:latin typeface="Calibri"/>
                <a:cs typeface="Calibri"/>
              </a:rPr>
              <a:t>3</a:t>
            </a:r>
            <a:endParaRPr sz="180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16691" y="6090602"/>
            <a:ext cx="273050" cy="254557"/>
          </a:xfrm>
          <a:prstGeom prst="rect">
            <a:avLst/>
          </a:prstGeom>
        </p:spPr>
        <p:txBody>
          <a:bodyPr vert="horz" wrap="square" lIns="0" tIns="15875" rIns="0" bIns="0" rtlCol="0">
            <a:spAutoFit/>
          </a:bodyPr>
          <a:lstStyle/>
          <a:p>
            <a:pPr marL="12700">
              <a:lnSpc>
                <a:spcPct val="100000"/>
              </a:lnSpc>
              <a:spcBef>
                <a:spcPts val="125"/>
              </a:spcBef>
            </a:pPr>
            <a:r>
              <a:rPr lang="en-GB" sz="1550" spc="80" dirty="0">
                <a:solidFill>
                  <a:srgbClr val="1C7CDB"/>
                </a:solidFill>
                <a:latin typeface="Microsoft Sans Serif"/>
                <a:cs typeface="Microsoft Sans Serif"/>
              </a:rPr>
              <a:t>37</a:t>
            </a:r>
            <a:endParaRPr sz="1550" dirty="0">
              <a:latin typeface="Microsoft Sans Serif"/>
              <a:cs typeface="Microsoft Sans Serif"/>
            </a:endParaRPr>
          </a:p>
        </p:txBody>
      </p:sp>
      <p:sp>
        <p:nvSpPr>
          <p:cNvPr id="3" name="object 3"/>
          <p:cNvSpPr txBox="1"/>
          <p:nvPr/>
        </p:nvSpPr>
        <p:spPr>
          <a:xfrm>
            <a:off x="849312" y="1400162"/>
            <a:ext cx="5008880" cy="4191532"/>
          </a:xfrm>
          <a:prstGeom prst="rect">
            <a:avLst/>
          </a:prstGeom>
        </p:spPr>
        <p:txBody>
          <a:bodyPr vert="horz" wrap="square" lIns="0" tIns="127635" rIns="0" bIns="0" rtlCol="0">
            <a:spAutoFit/>
          </a:bodyPr>
          <a:lstStyle/>
          <a:p>
            <a:r>
              <a:rPr lang="en-GB" sz="1200" b="1" dirty="0"/>
              <a:t>1. Equatorial Proximity</a:t>
            </a:r>
          </a:p>
          <a:p>
            <a:endParaRPr lang="en-GB" sz="1200" b="1" dirty="0"/>
          </a:p>
          <a:p>
            <a:pPr marL="171450" indent="-171450">
              <a:buFont typeface="Arial" panose="020B0604020202020204" pitchFamily="34" charset="0"/>
              <a:buChar char="•"/>
            </a:pPr>
            <a:r>
              <a:rPr lang="en-GB" sz="1200" b="1" dirty="0"/>
              <a:t>Latitudinal Variation:</a:t>
            </a:r>
            <a:r>
              <a:rPr lang="en-GB" sz="1200" dirty="0"/>
              <a:t> While SpaceX utilizes sites in southern regions to leverage the Earth's rotational velocity, not all facilities are positioned near the Equator.</a:t>
            </a:r>
          </a:p>
          <a:p>
            <a:pPr marL="171450" indent="-171450">
              <a:buFont typeface="Arial" panose="020B0604020202020204" pitchFamily="34" charset="0"/>
              <a:buChar char="•"/>
            </a:pPr>
            <a:r>
              <a:rPr lang="en-GB" sz="1200" b="1" dirty="0"/>
              <a:t>Geographical Outlier:</a:t>
            </a:r>
            <a:r>
              <a:rPr lang="en-GB" sz="1200" dirty="0"/>
              <a:t> </a:t>
            </a:r>
            <a:r>
              <a:rPr lang="en-GB" sz="1200" b="1" dirty="0"/>
              <a:t>Vandenberg Space Force Base (VAFB SLC-4E)</a:t>
            </a:r>
            <a:r>
              <a:rPr lang="en-GB" sz="1200" dirty="0"/>
              <a:t> is situated at a latitude of </a:t>
            </a:r>
            <a:r>
              <a:rPr lang="en-GB" sz="1200" b="1" dirty="0"/>
              <a:t>34.63°N</a:t>
            </a:r>
            <a:r>
              <a:rPr lang="en-GB" sz="1200" dirty="0"/>
              <a:t>, placing it significantly further from the Equator than the primary East Coast facilities in Florida.</a:t>
            </a:r>
          </a:p>
          <a:p>
            <a:pPr marL="171450" indent="-171450">
              <a:buFont typeface="Arial" panose="020B0604020202020204" pitchFamily="34" charset="0"/>
              <a:buChar char="•"/>
            </a:pPr>
            <a:endParaRPr lang="en-GB" sz="1200" dirty="0"/>
          </a:p>
          <a:p>
            <a:r>
              <a:rPr lang="en-GB" sz="1200" b="1" dirty="0"/>
              <a:t>2. Coastal Proximity</a:t>
            </a:r>
          </a:p>
          <a:p>
            <a:endParaRPr lang="en-GB" sz="1200" b="1" dirty="0"/>
          </a:p>
          <a:p>
            <a:pPr marL="171450" indent="-171450">
              <a:buFont typeface="Arial" panose="020B0604020202020204" pitchFamily="34" charset="0"/>
              <a:buChar char="•"/>
            </a:pPr>
            <a:r>
              <a:rPr lang="en-GB" sz="1200" b="1" dirty="0"/>
              <a:t>Strategic Coastal Alignment:</a:t>
            </a:r>
            <a:r>
              <a:rPr lang="en-GB" sz="1200" dirty="0"/>
              <a:t> All active SpaceX launch facilities are located in immediate proximity to the coastline.</a:t>
            </a:r>
          </a:p>
          <a:p>
            <a:pPr marL="171450" indent="-171450">
              <a:buFont typeface="Arial" panose="020B0604020202020204" pitchFamily="34" charset="0"/>
              <a:buChar char="•"/>
            </a:pPr>
            <a:r>
              <a:rPr lang="en-GB" sz="1200" b="1" dirty="0"/>
              <a:t>East Coast Presence:</a:t>
            </a:r>
            <a:r>
              <a:rPr lang="en-GB" sz="1200" dirty="0"/>
              <a:t> The Florida-based sites, </a:t>
            </a:r>
            <a:r>
              <a:rPr lang="en-GB" sz="1200" b="1" dirty="0"/>
              <a:t>Cape Canaveral (CCSFS SLC-40)</a:t>
            </a:r>
            <a:r>
              <a:rPr lang="en-GB" sz="1200" dirty="0"/>
              <a:t> and </a:t>
            </a:r>
            <a:r>
              <a:rPr lang="en-GB" sz="1200" b="1" dirty="0"/>
              <a:t>Kennedy Space </a:t>
            </a:r>
            <a:r>
              <a:rPr lang="en-GB" sz="1200" b="1" dirty="0" err="1"/>
              <a:t>Center</a:t>
            </a:r>
            <a:r>
              <a:rPr lang="en-GB" sz="1200" b="1" dirty="0"/>
              <a:t> (KSC LC-39A), </a:t>
            </a:r>
            <a:r>
              <a:rPr lang="en-GB" sz="1200" dirty="0"/>
              <a:t>are positioned directly on the Atlantic coast.</a:t>
            </a:r>
          </a:p>
          <a:p>
            <a:pPr marL="171450" indent="-171450">
              <a:buFont typeface="Arial" panose="020B0604020202020204" pitchFamily="34" charset="0"/>
              <a:buChar char="•"/>
            </a:pPr>
            <a:r>
              <a:rPr lang="en-GB" sz="1200" b="1" dirty="0"/>
              <a:t>West Coast Presence:</a:t>
            </a:r>
            <a:r>
              <a:rPr lang="en-GB" sz="1200" dirty="0"/>
              <a:t> </a:t>
            </a:r>
            <a:r>
              <a:rPr lang="en-GB" sz="1200" b="1" dirty="0"/>
              <a:t>Vandenberg (VAFB SLC-4E)</a:t>
            </a:r>
            <a:r>
              <a:rPr lang="en-GB" sz="1200" dirty="0"/>
              <a:t> is located on the California coastline.</a:t>
            </a:r>
          </a:p>
          <a:p>
            <a:pPr marL="171450" indent="-171450">
              <a:buFont typeface="Arial" panose="020B0604020202020204" pitchFamily="34" charset="0"/>
              <a:buChar char="•"/>
            </a:pPr>
            <a:r>
              <a:rPr lang="en-GB" sz="1200" b="1" dirty="0"/>
              <a:t>Operational Rationale:</a:t>
            </a:r>
            <a:r>
              <a:rPr lang="en-GB" sz="1200" dirty="0"/>
              <a:t> Coastal positioning is mission-critical for safety, allowing for flight paths over open water and facilitating the recovery of first-stage boosters via autonomous spaceport drone ships (ASDS).</a:t>
            </a:r>
          </a:p>
        </p:txBody>
      </p:sp>
      <p:sp>
        <p:nvSpPr>
          <p:cNvPr id="4" name="object 4"/>
          <p:cNvSpPr txBox="1">
            <a:spLocks noGrp="1"/>
          </p:cNvSpPr>
          <p:nvPr>
            <p:ph type="title"/>
          </p:nvPr>
        </p:nvSpPr>
        <p:spPr>
          <a:xfrm>
            <a:off x="849312" y="412368"/>
            <a:ext cx="10493375" cy="324448"/>
          </a:xfrm>
          <a:prstGeom prst="rect">
            <a:avLst/>
          </a:prstGeom>
        </p:spPr>
        <p:txBody>
          <a:bodyPr vert="horz" wrap="square" lIns="0" tIns="16510" rIns="0" bIns="0" rtlCol="0">
            <a:spAutoFit/>
          </a:bodyPr>
          <a:lstStyle/>
          <a:p>
            <a:pPr marL="12700">
              <a:lnSpc>
                <a:spcPct val="100000"/>
              </a:lnSpc>
              <a:spcBef>
                <a:spcPts val="130"/>
              </a:spcBef>
            </a:pPr>
            <a:r>
              <a:rPr lang="en-GB" sz="2000" dirty="0"/>
              <a:t>Geospatial Site Analysis</a:t>
            </a:r>
            <a:endParaRPr sz="3950" dirty="0"/>
          </a:p>
        </p:txBody>
      </p:sp>
      <p:pic>
        <p:nvPicPr>
          <p:cNvPr id="5" name="object 5"/>
          <p:cNvPicPr/>
          <p:nvPr/>
        </p:nvPicPr>
        <p:blipFill>
          <a:blip r:embed="rId2" cstate="print"/>
          <a:stretch>
            <a:fillRect/>
          </a:stretch>
        </p:blipFill>
        <p:spPr>
          <a:xfrm>
            <a:off x="6172200" y="2019300"/>
            <a:ext cx="5369941" cy="3162300"/>
          </a:xfrm>
          <a:prstGeom prst="rect">
            <a:avLst/>
          </a:prstGeom>
          <a:ln w="12700">
            <a:solidFill>
              <a:schemeClr val="tx1"/>
            </a:solid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16691" y="6090602"/>
            <a:ext cx="273050" cy="254557"/>
          </a:xfrm>
          <a:prstGeom prst="rect">
            <a:avLst/>
          </a:prstGeom>
        </p:spPr>
        <p:txBody>
          <a:bodyPr vert="horz" wrap="square" lIns="0" tIns="15875" rIns="0" bIns="0" rtlCol="0">
            <a:spAutoFit/>
          </a:bodyPr>
          <a:lstStyle/>
          <a:p>
            <a:pPr marL="12700">
              <a:lnSpc>
                <a:spcPct val="100000"/>
              </a:lnSpc>
              <a:spcBef>
                <a:spcPts val="125"/>
              </a:spcBef>
            </a:pPr>
            <a:r>
              <a:rPr lang="en-GB" sz="1550" spc="80" dirty="0">
                <a:solidFill>
                  <a:srgbClr val="1C7CDB"/>
                </a:solidFill>
                <a:latin typeface="Microsoft Sans Serif"/>
                <a:cs typeface="Microsoft Sans Serif"/>
              </a:rPr>
              <a:t>38</a:t>
            </a:r>
            <a:endParaRPr sz="1550" dirty="0">
              <a:latin typeface="Microsoft Sans Serif"/>
              <a:cs typeface="Microsoft Sans Serif"/>
            </a:endParaRPr>
          </a:p>
        </p:txBody>
      </p:sp>
      <p:sp>
        <p:nvSpPr>
          <p:cNvPr id="3" name="object 3"/>
          <p:cNvSpPr txBox="1"/>
          <p:nvPr/>
        </p:nvSpPr>
        <p:spPr>
          <a:xfrm>
            <a:off x="849312" y="1511998"/>
            <a:ext cx="4959985" cy="4273862"/>
          </a:xfrm>
          <a:prstGeom prst="rect">
            <a:avLst/>
          </a:prstGeom>
        </p:spPr>
        <p:txBody>
          <a:bodyPr vert="horz" wrap="square" lIns="0" tIns="40005" rIns="0" bIns="0" rtlCol="0">
            <a:spAutoFit/>
          </a:bodyPr>
          <a:lstStyle/>
          <a:p>
            <a:pPr marL="12065" marR="5080">
              <a:lnSpc>
                <a:spcPct val="90000"/>
              </a:lnSpc>
              <a:spcBef>
                <a:spcPts val="315"/>
              </a:spcBef>
              <a:tabLst>
                <a:tab pos="241300" algn="l"/>
                <a:tab pos="241935" algn="l"/>
              </a:tabLst>
            </a:pPr>
            <a:r>
              <a:rPr lang="en-GB" sz="1100" u="sng" dirty="0">
                <a:solidFill>
                  <a:srgbClr val="292929"/>
                </a:solidFill>
                <a:latin typeface="Calibri"/>
                <a:cs typeface="Calibri"/>
              </a:rPr>
              <a:t>Visual Analytics Strategy</a:t>
            </a:r>
          </a:p>
          <a:p>
            <a:pPr marL="12065" marR="5080">
              <a:lnSpc>
                <a:spcPct val="90000"/>
              </a:lnSpc>
              <a:spcBef>
                <a:spcPts val="315"/>
              </a:spcBef>
              <a:tabLst>
                <a:tab pos="241300" algn="l"/>
                <a:tab pos="241935" algn="l"/>
              </a:tabLst>
            </a:pPr>
            <a:r>
              <a:rPr lang="en-GB" sz="1100" b="1" dirty="0">
                <a:solidFill>
                  <a:srgbClr val="292929"/>
                </a:solidFill>
                <a:latin typeface="Calibri"/>
                <a:cs typeface="Calibri"/>
              </a:rPr>
              <a:t>Marker Clustering</a:t>
            </a:r>
            <a:r>
              <a:rPr lang="en-GB" sz="1100" dirty="0">
                <a:solidFill>
                  <a:srgbClr val="292929"/>
                </a:solidFill>
                <a:latin typeface="Calibri"/>
                <a:cs typeface="Calibri"/>
              </a:rPr>
              <a:t>: To manage the large volume of launch records without cluttering the map, we implemented a clustering algorithm. This allows users to see an aggregate view of launches that expands into individual markers upon zooming.</a:t>
            </a:r>
          </a:p>
          <a:p>
            <a:pPr marL="241300" marR="5080" indent="-229235">
              <a:lnSpc>
                <a:spcPct val="90000"/>
              </a:lnSpc>
              <a:spcBef>
                <a:spcPts val="315"/>
              </a:spcBef>
              <a:buFont typeface="Arial"/>
              <a:buChar char="•"/>
              <a:tabLst>
                <a:tab pos="241300" algn="l"/>
                <a:tab pos="241935" algn="l"/>
              </a:tabLst>
            </a:pPr>
            <a:endParaRPr lang="en-GB" sz="1100" dirty="0">
              <a:solidFill>
                <a:srgbClr val="292929"/>
              </a:solidFill>
              <a:latin typeface="Calibri"/>
              <a:cs typeface="Calibri"/>
            </a:endParaRPr>
          </a:p>
          <a:p>
            <a:pPr marL="12065" marR="5080">
              <a:lnSpc>
                <a:spcPct val="90000"/>
              </a:lnSpc>
              <a:spcBef>
                <a:spcPts val="315"/>
              </a:spcBef>
              <a:tabLst>
                <a:tab pos="241300" algn="l"/>
                <a:tab pos="241935" algn="l"/>
              </a:tabLst>
            </a:pPr>
            <a:r>
              <a:rPr lang="en-GB" sz="1100" b="1" dirty="0">
                <a:solidFill>
                  <a:srgbClr val="292929"/>
                </a:solidFill>
                <a:latin typeface="Calibri"/>
                <a:cs typeface="Calibri"/>
              </a:rPr>
              <a:t>Outcome Color-Coding</a:t>
            </a:r>
            <a:r>
              <a:rPr lang="en-GB" sz="1100" dirty="0">
                <a:solidFill>
                  <a:srgbClr val="292929"/>
                </a:solidFill>
                <a:latin typeface="Calibri"/>
                <a:cs typeface="Calibri"/>
              </a:rPr>
              <a:t>: Each mission is assigned a specific </a:t>
            </a:r>
            <a:r>
              <a:rPr lang="en-GB" sz="1100" dirty="0" err="1">
                <a:solidFill>
                  <a:srgbClr val="292929"/>
                </a:solidFill>
                <a:latin typeface="Calibri"/>
                <a:cs typeface="Calibri"/>
              </a:rPr>
              <a:t>color</a:t>
            </a:r>
            <a:r>
              <a:rPr lang="en-GB" sz="1100" dirty="0">
                <a:solidFill>
                  <a:srgbClr val="292929"/>
                </a:solidFill>
                <a:latin typeface="Calibri"/>
                <a:cs typeface="Calibri"/>
              </a:rPr>
              <a:t> based on its landing result:</a:t>
            </a:r>
          </a:p>
          <a:p>
            <a:pPr marL="12065" marR="5080">
              <a:lnSpc>
                <a:spcPct val="90000"/>
              </a:lnSpc>
              <a:spcBef>
                <a:spcPts val="315"/>
              </a:spcBef>
              <a:tabLst>
                <a:tab pos="241300" algn="l"/>
                <a:tab pos="241935" algn="l"/>
              </a:tabLst>
            </a:pPr>
            <a:endParaRPr lang="en-GB" sz="1100" dirty="0">
              <a:solidFill>
                <a:srgbClr val="292929"/>
              </a:solidFill>
              <a:latin typeface="Calibri"/>
              <a:cs typeface="Calibri"/>
            </a:endParaRPr>
          </a:p>
          <a:p>
            <a:pPr marL="241300" marR="5080" lvl="2" indent="-229235">
              <a:lnSpc>
                <a:spcPct val="90000"/>
              </a:lnSpc>
              <a:spcBef>
                <a:spcPts val="315"/>
              </a:spcBef>
              <a:buFont typeface="Arial"/>
              <a:buChar char="•"/>
              <a:tabLst>
                <a:tab pos="241300" algn="l"/>
                <a:tab pos="241935" algn="l"/>
              </a:tabLst>
            </a:pPr>
            <a:r>
              <a:rPr lang="en-GB" sz="1100" dirty="0">
                <a:solidFill>
                  <a:srgbClr val="292929"/>
                </a:solidFill>
                <a:latin typeface="Calibri"/>
                <a:cs typeface="Calibri"/>
              </a:rPr>
              <a:t>Green Markers: Indicate a successful first-stage landing.</a:t>
            </a:r>
          </a:p>
          <a:p>
            <a:pPr marL="241300" marR="5080" lvl="2" indent="-229235">
              <a:lnSpc>
                <a:spcPct val="90000"/>
              </a:lnSpc>
              <a:spcBef>
                <a:spcPts val="315"/>
              </a:spcBef>
              <a:buFont typeface="Arial"/>
              <a:buChar char="•"/>
              <a:tabLst>
                <a:tab pos="241300" algn="l"/>
                <a:tab pos="241935" algn="l"/>
              </a:tabLst>
            </a:pPr>
            <a:r>
              <a:rPr lang="en-GB" sz="1100" dirty="0">
                <a:solidFill>
                  <a:srgbClr val="292929"/>
                </a:solidFill>
                <a:latin typeface="Calibri"/>
                <a:cs typeface="Calibri"/>
              </a:rPr>
              <a:t>Red Markers: Indicate an unsuccessful landing or mission failure.</a:t>
            </a:r>
          </a:p>
          <a:p>
            <a:pPr marL="241300" marR="5080" indent="-229235">
              <a:lnSpc>
                <a:spcPct val="90000"/>
              </a:lnSpc>
              <a:spcBef>
                <a:spcPts val="315"/>
              </a:spcBef>
              <a:buFont typeface="Arial"/>
              <a:buChar char="•"/>
              <a:tabLst>
                <a:tab pos="241300" algn="l"/>
                <a:tab pos="241935" algn="l"/>
              </a:tabLst>
            </a:pPr>
            <a:endParaRPr lang="en-GB" sz="1100" dirty="0">
              <a:solidFill>
                <a:srgbClr val="292929"/>
              </a:solidFill>
              <a:latin typeface="Calibri"/>
              <a:cs typeface="Calibri"/>
            </a:endParaRPr>
          </a:p>
          <a:p>
            <a:pPr marL="12065" marR="5080">
              <a:lnSpc>
                <a:spcPct val="90000"/>
              </a:lnSpc>
              <a:spcBef>
                <a:spcPts val="315"/>
              </a:spcBef>
              <a:tabLst>
                <a:tab pos="241300" algn="l"/>
                <a:tab pos="241935" algn="l"/>
              </a:tabLst>
            </a:pPr>
            <a:r>
              <a:rPr lang="en-GB" sz="1100" b="1" dirty="0">
                <a:solidFill>
                  <a:srgbClr val="292929"/>
                </a:solidFill>
                <a:latin typeface="Calibri"/>
                <a:cs typeface="Calibri"/>
              </a:rPr>
              <a:t>Interactive Insights</a:t>
            </a:r>
            <a:r>
              <a:rPr lang="en-GB" sz="1100" dirty="0">
                <a:solidFill>
                  <a:srgbClr val="292929"/>
                </a:solidFill>
                <a:latin typeface="Calibri"/>
                <a:cs typeface="Calibri"/>
              </a:rPr>
              <a:t>: Every marker is equipped with a popup containing detailed flight information, enabling granular exploration of the specific conditions surrounding each mission.</a:t>
            </a:r>
          </a:p>
          <a:p>
            <a:pPr marL="241300" marR="5080" indent="-229235">
              <a:lnSpc>
                <a:spcPct val="90000"/>
              </a:lnSpc>
              <a:spcBef>
                <a:spcPts val="315"/>
              </a:spcBef>
              <a:buFont typeface="Arial"/>
              <a:buChar char="•"/>
              <a:tabLst>
                <a:tab pos="241300" algn="l"/>
                <a:tab pos="241935" algn="l"/>
              </a:tabLst>
            </a:pPr>
            <a:endParaRPr lang="en-GB" sz="1100" dirty="0">
              <a:solidFill>
                <a:srgbClr val="292929"/>
              </a:solidFill>
              <a:latin typeface="Calibri"/>
              <a:cs typeface="Calibri"/>
            </a:endParaRPr>
          </a:p>
          <a:p>
            <a:pPr marL="12065" marR="5080">
              <a:lnSpc>
                <a:spcPct val="90000"/>
              </a:lnSpc>
              <a:spcBef>
                <a:spcPts val="315"/>
              </a:spcBef>
              <a:tabLst>
                <a:tab pos="241300" algn="l"/>
                <a:tab pos="241935" algn="l"/>
              </a:tabLst>
            </a:pPr>
            <a:r>
              <a:rPr lang="en-GB" sz="1100" u="sng" dirty="0">
                <a:solidFill>
                  <a:srgbClr val="292929"/>
                </a:solidFill>
                <a:latin typeface="Calibri"/>
                <a:cs typeface="Calibri"/>
              </a:rPr>
              <a:t>Case Study: CCAFS LC-40 Performance</a:t>
            </a:r>
          </a:p>
          <a:p>
            <a:pPr marL="12065" marR="5080">
              <a:lnSpc>
                <a:spcPct val="90000"/>
              </a:lnSpc>
              <a:spcBef>
                <a:spcPts val="315"/>
              </a:spcBef>
              <a:tabLst>
                <a:tab pos="241300" algn="l"/>
                <a:tab pos="241935" algn="l"/>
              </a:tabLst>
            </a:pPr>
            <a:r>
              <a:rPr lang="en-GB" sz="1100" dirty="0">
                <a:solidFill>
                  <a:srgbClr val="292929"/>
                </a:solidFill>
                <a:latin typeface="Calibri"/>
                <a:cs typeface="Calibri"/>
              </a:rPr>
              <a:t>Using the provided visualization as a benchmark, we can perform a rapid audit of the CCAFS LC-40 facility:</a:t>
            </a:r>
          </a:p>
          <a:p>
            <a:pPr marL="241300" marR="5080" indent="-229235">
              <a:lnSpc>
                <a:spcPct val="90000"/>
              </a:lnSpc>
              <a:spcBef>
                <a:spcPts val="315"/>
              </a:spcBef>
              <a:buFont typeface="Arial"/>
              <a:buChar char="•"/>
              <a:tabLst>
                <a:tab pos="241300" algn="l"/>
                <a:tab pos="241935" algn="l"/>
              </a:tabLst>
            </a:pPr>
            <a:endParaRPr lang="en-GB" sz="1100" dirty="0">
              <a:solidFill>
                <a:srgbClr val="292929"/>
              </a:solidFill>
              <a:latin typeface="Calibri"/>
              <a:cs typeface="Calibri"/>
            </a:endParaRPr>
          </a:p>
          <a:p>
            <a:pPr marL="241300" marR="5080" indent="-229235">
              <a:lnSpc>
                <a:spcPct val="90000"/>
              </a:lnSpc>
              <a:spcBef>
                <a:spcPts val="315"/>
              </a:spcBef>
              <a:buFont typeface="Arial"/>
              <a:buChar char="•"/>
              <a:tabLst>
                <a:tab pos="241300" algn="l"/>
                <a:tab pos="241935" algn="l"/>
              </a:tabLst>
            </a:pPr>
            <a:r>
              <a:rPr lang="en-GB" sz="1100" b="1" dirty="0">
                <a:solidFill>
                  <a:srgbClr val="292929"/>
                </a:solidFill>
                <a:latin typeface="Calibri"/>
                <a:cs typeface="Calibri"/>
              </a:rPr>
              <a:t>Mission Count</a:t>
            </a:r>
            <a:r>
              <a:rPr lang="en-GB" sz="1100" dirty="0">
                <a:solidFill>
                  <a:srgbClr val="292929"/>
                </a:solidFill>
                <a:latin typeface="Calibri"/>
                <a:cs typeface="Calibri"/>
              </a:rPr>
              <a:t>: The dataset captures 26 launches from this specific pad.</a:t>
            </a:r>
          </a:p>
          <a:p>
            <a:pPr marL="241300" marR="5080" indent="-229235">
              <a:lnSpc>
                <a:spcPct val="90000"/>
              </a:lnSpc>
              <a:spcBef>
                <a:spcPts val="315"/>
              </a:spcBef>
              <a:buFont typeface="Arial"/>
              <a:buChar char="•"/>
              <a:tabLst>
                <a:tab pos="241300" algn="l"/>
                <a:tab pos="241935" algn="l"/>
              </a:tabLst>
            </a:pPr>
            <a:r>
              <a:rPr lang="en-GB" sz="1100" b="1" dirty="0">
                <a:solidFill>
                  <a:srgbClr val="292929"/>
                </a:solidFill>
                <a:latin typeface="Calibri"/>
                <a:cs typeface="Calibri"/>
              </a:rPr>
              <a:t>Performance Breakdown</a:t>
            </a:r>
            <a:r>
              <a:rPr lang="en-GB" sz="1100" dirty="0">
                <a:solidFill>
                  <a:srgbClr val="292929"/>
                </a:solidFill>
                <a:latin typeface="Calibri"/>
                <a:cs typeface="Calibri"/>
              </a:rPr>
              <a:t>: The map displays 19 red markers and 7 green markers.</a:t>
            </a:r>
          </a:p>
          <a:p>
            <a:pPr marL="241300" marR="5080" indent="-229235">
              <a:lnSpc>
                <a:spcPct val="90000"/>
              </a:lnSpc>
              <a:spcBef>
                <a:spcPts val="315"/>
              </a:spcBef>
              <a:buFont typeface="Arial"/>
              <a:buChar char="•"/>
              <a:tabLst>
                <a:tab pos="241300" algn="l"/>
                <a:tab pos="241935" algn="l"/>
              </a:tabLst>
            </a:pPr>
            <a:r>
              <a:rPr lang="en-GB" sz="1100" b="1" dirty="0">
                <a:solidFill>
                  <a:srgbClr val="292929"/>
                </a:solidFill>
                <a:latin typeface="Calibri"/>
                <a:cs typeface="Calibri"/>
              </a:rPr>
              <a:t>Immediate Insight</a:t>
            </a:r>
            <a:r>
              <a:rPr lang="en-GB" sz="1100" dirty="0">
                <a:solidFill>
                  <a:srgbClr val="292929"/>
                </a:solidFill>
                <a:latin typeface="Calibri"/>
                <a:cs typeface="Calibri"/>
              </a:rPr>
              <a:t>: This visual feedback highlights that while LC-40 is a high-volume site, it has historically faced significant landing challenges compared to other facilities, providing a clear starting point for deeper diagnostic analysis.</a:t>
            </a:r>
            <a:endParaRPr sz="1100" dirty="0">
              <a:latin typeface="Calibri"/>
              <a:cs typeface="Calibri"/>
            </a:endParaRPr>
          </a:p>
        </p:txBody>
      </p:sp>
      <p:sp>
        <p:nvSpPr>
          <p:cNvPr id="4" name="object 4"/>
          <p:cNvSpPr txBox="1">
            <a:spLocks noGrp="1"/>
          </p:cNvSpPr>
          <p:nvPr>
            <p:ph type="title"/>
          </p:nvPr>
        </p:nvSpPr>
        <p:spPr>
          <a:xfrm>
            <a:off x="849312" y="412368"/>
            <a:ext cx="10493375" cy="524246"/>
          </a:xfrm>
          <a:prstGeom prst="rect">
            <a:avLst/>
          </a:prstGeom>
        </p:spPr>
        <p:txBody>
          <a:bodyPr vert="horz" wrap="square" lIns="0" tIns="214376" rIns="0" bIns="0" rtlCol="0">
            <a:spAutoFit/>
          </a:bodyPr>
          <a:lstStyle/>
          <a:p>
            <a:pPr marL="12700">
              <a:lnSpc>
                <a:spcPct val="100000"/>
              </a:lnSpc>
              <a:spcBef>
                <a:spcPts val="130"/>
              </a:spcBef>
            </a:pPr>
            <a:r>
              <a:rPr lang="en-GB" sz="2000" dirty="0"/>
              <a:t>Mapping Launch Outcomes by Site</a:t>
            </a:r>
            <a:endParaRPr sz="4000" dirty="0"/>
          </a:p>
        </p:txBody>
      </p:sp>
      <p:pic>
        <p:nvPicPr>
          <p:cNvPr id="5" name="object 5"/>
          <p:cNvPicPr/>
          <p:nvPr/>
        </p:nvPicPr>
        <p:blipFill>
          <a:blip r:embed="rId2" cstate="print"/>
          <a:stretch>
            <a:fillRect/>
          </a:stretch>
        </p:blipFill>
        <p:spPr>
          <a:xfrm>
            <a:off x="6200775" y="1646300"/>
            <a:ext cx="4695825" cy="46005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370829" y="6096000"/>
            <a:ext cx="273050" cy="254557"/>
          </a:xfrm>
          <a:prstGeom prst="rect">
            <a:avLst/>
          </a:prstGeom>
        </p:spPr>
        <p:txBody>
          <a:bodyPr vert="horz" wrap="square" lIns="0" tIns="15875" rIns="0" bIns="0" rtlCol="0">
            <a:spAutoFit/>
          </a:bodyPr>
          <a:lstStyle/>
          <a:p>
            <a:pPr marL="12700">
              <a:lnSpc>
                <a:spcPct val="100000"/>
              </a:lnSpc>
              <a:spcBef>
                <a:spcPts val="125"/>
              </a:spcBef>
            </a:pPr>
            <a:r>
              <a:rPr lang="en-GB" sz="1550" spc="80" dirty="0">
                <a:solidFill>
                  <a:srgbClr val="1C7CDB"/>
                </a:solidFill>
                <a:latin typeface="Microsoft Sans Serif"/>
                <a:cs typeface="Microsoft Sans Serif"/>
              </a:rPr>
              <a:t>39</a:t>
            </a:r>
            <a:endParaRPr sz="1550" dirty="0">
              <a:latin typeface="Microsoft Sans Serif"/>
              <a:cs typeface="Microsoft Sans Serif"/>
            </a:endParaRPr>
          </a:p>
        </p:txBody>
      </p:sp>
      <p:sp>
        <p:nvSpPr>
          <p:cNvPr id="3" name="object 3"/>
          <p:cNvSpPr txBox="1"/>
          <p:nvPr/>
        </p:nvSpPr>
        <p:spPr>
          <a:xfrm>
            <a:off x="919797" y="1585912"/>
            <a:ext cx="4266565" cy="2593659"/>
          </a:xfrm>
          <a:prstGeom prst="rect">
            <a:avLst/>
          </a:prstGeom>
        </p:spPr>
        <p:txBody>
          <a:bodyPr vert="horz" wrap="square" lIns="0" tIns="8255" rIns="0" bIns="0" rtlCol="0">
            <a:spAutoFit/>
          </a:bodyPr>
          <a:lstStyle/>
          <a:p>
            <a:r>
              <a:rPr lang="en-GB" sz="1400" b="1" dirty="0"/>
              <a:t>Case Study: CCAFS SLC-40 Coastline Proximity</a:t>
            </a:r>
          </a:p>
          <a:p>
            <a:endParaRPr lang="en-GB" sz="1400" b="1" dirty="0"/>
          </a:p>
          <a:p>
            <a:r>
              <a:rPr lang="en-GB" sz="1400" dirty="0"/>
              <a:t>Using the </a:t>
            </a:r>
            <a:r>
              <a:rPr lang="en-GB" sz="1400" b="1" dirty="0"/>
              <a:t>Folium </a:t>
            </a:r>
            <a:r>
              <a:rPr lang="en-GB" sz="1400" b="1" dirty="0" err="1"/>
              <a:t>PolyLine</a:t>
            </a:r>
            <a:r>
              <a:rPr lang="en-GB" sz="1400" dirty="0"/>
              <a:t> tool and a custom distance calculation function, we measured the straight-line distance from the </a:t>
            </a:r>
            <a:r>
              <a:rPr lang="en-GB" sz="1400" b="1" dirty="0"/>
              <a:t>CCAFS SLC-40</a:t>
            </a:r>
            <a:r>
              <a:rPr lang="en-GB" sz="1400" dirty="0"/>
              <a:t> launch pad to the nearest point on the Atlantic coast</a:t>
            </a:r>
          </a:p>
          <a:p>
            <a:endParaRPr lang="en-GB" sz="1400" dirty="0"/>
          </a:p>
          <a:p>
            <a:pPr marL="285750" indent="-285750">
              <a:buFont typeface="Arial" panose="020B0604020202020204" pitchFamily="34" charset="0"/>
              <a:buChar char="•"/>
            </a:pPr>
            <a:r>
              <a:rPr lang="en-GB" sz="1400" b="1" dirty="0"/>
              <a:t>Calculated Distance:</a:t>
            </a:r>
            <a:r>
              <a:rPr lang="en-GB" sz="1400" dirty="0"/>
              <a:t> Approximately </a:t>
            </a:r>
            <a:r>
              <a:rPr lang="en-GB" sz="1400" b="1" dirty="0"/>
              <a:t>0.51 km</a:t>
            </a:r>
            <a:r>
              <a:rPr lang="en-GB" sz="1400" dirty="0"/>
              <a:t>.</a:t>
            </a:r>
          </a:p>
          <a:p>
            <a:pPr marL="285750" indent="-285750">
              <a:buFont typeface="Arial" panose="020B0604020202020204" pitchFamily="34" charset="0"/>
              <a:buChar char="•"/>
            </a:pPr>
            <a:r>
              <a:rPr lang="en-GB" sz="1400" b="1" dirty="0"/>
              <a:t>Visual Representation:</a:t>
            </a:r>
            <a:r>
              <a:rPr lang="en-GB" sz="1400" dirty="0"/>
              <a:t> The map displays a blue </a:t>
            </a:r>
            <a:r>
              <a:rPr lang="en-GB" sz="1400" dirty="0" err="1"/>
              <a:t>PolyLine</a:t>
            </a:r>
            <a:r>
              <a:rPr lang="en-GB" sz="1400" dirty="0"/>
              <a:t> connecting the site marker to the shore, providing an immediate sense of scale and spatial relationship.</a:t>
            </a:r>
          </a:p>
        </p:txBody>
      </p:sp>
      <p:sp>
        <p:nvSpPr>
          <p:cNvPr id="4" name="object 4"/>
          <p:cNvSpPr txBox="1">
            <a:spLocks noGrp="1"/>
          </p:cNvSpPr>
          <p:nvPr>
            <p:ph type="title"/>
          </p:nvPr>
        </p:nvSpPr>
        <p:spPr>
          <a:xfrm>
            <a:off x="849312" y="412368"/>
            <a:ext cx="10493375" cy="526490"/>
          </a:xfrm>
          <a:prstGeom prst="rect">
            <a:avLst/>
          </a:prstGeom>
        </p:spPr>
        <p:txBody>
          <a:bodyPr vert="horz" wrap="square" lIns="0" tIns="216598" rIns="0" bIns="0" rtlCol="0">
            <a:spAutoFit/>
          </a:bodyPr>
          <a:lstStyle/>
          <a:p>
            <a:pPr marL="83185">
              <a:lnSpc>
                <a:spcPct val="100000"/>
              </a:lnSpc>
              <a:spcBef>
                <a:spcPts val="125"/>
              </a:spcBef>
            </a:pPr>
            <a:r>
              <a:rPr lang="en-GB" sz="2000" dirty="0"/>
              <a:t>Proximity Analysis: Measuring Spatial Dependencies</a:t>
            </a:r>
            <a:endParaRPr sz="4000" dirty="0"/>
          </a:p>
        </p:txBody>
      </p:sp>
      <p:grpSp>
        <p:nvGrpSpPr>
          <p:cNvPr id="5" name="object 5"/>
          <p:cNvGrpSpPr/>
          <p:nvPr/>
        </p:nvGrpSpPr>
        <p:grpSpPr>
          <a:xfrm>
            <a:off x="1762125" y="1276350"/>
            <a:ext cx="9305925" cy="5153025"/>
            <a:chOff x="1762125" y="1276350"/>
            <a:chExt cx="9305925" cy="5153025"/>
          </a:xfrm>
        </p:grpSpPr>
        <p:pic>
          <p:nvPicPr>
            <p:cNvPr id="6" name="object 6"/>
            <p:cNvPicPr/>
            <p:nvPr/>
          </p:nvPicPr>
          <p:blipFill>
            <a:blip r:embed="rId2" cstate="print"/>
            <a:stretch>
              <a:fillRect/>
            </a:stretch>
          </p:blipFill>
          <p:spPr>
            <a:xfrm>
              <a:off x="5314950" y="1276350"/>
              <a:ext cx="5753100" cy="3438525"/>
            </a:xfrm>
            <a:prstGeom prst="rect">
              <a:avLst/>
            </a:prstGeom>
          </p:spPr>
        </p:pic>
        <p:pic>
          <p:nvPicPr>
            <p:cNvPr id="7" name="object 7"/>
            <p:cNvPicPr/>
            <p:nvPr/>
          </p:nvPicPr>
          <p:blipFill>
            <a:blip r:embed="rId3" cstate="print"/>
            <a:stretch>
              <a:fillRect/>
            </a:stretch>
          </p:blipFill>
          <p:spPr>
            <a:xfrm>
              <a:off x="1762125" y="4705350"/>
              <a:ext cx="9296400" cy="1724025"/>
            </a:xfrm>
            <a:prstGeom prst="rect">
              <a:avLst/>
            </a:prstGeom>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1999" cy="6857998"/>
            </a:xfrm>
            <a:prstGeom prst="rect">
              <a:avLst/>
            </a:prstGeom>
          </p:spPr>
        </p:pic>
        <p:sp>
          <p:nvSpPr>
            <p:cNvPr id="4" name="object 4"/>
            <p:cNvSpPr/>
            <p:nvPr/>
          </p:nvSpPr>
          <p:spPr>
            <a:xfrm>
              <a:off x="800099" y="2533650"/>
              <a:ext cx="1057275" cy="361950"/>
            </a:xfrm>
            <a:custGeom>
              <a:avLst/>
              <a:gdLst/>
              <a:ahLst/>
              <a:cxnLst/>
              <a:rect l="l" t="t" r="r" b="b"/>
              <a:pathLst>
                <a:path w="1057275" h="361950">
                  <a:moveTo>
                    <a:pt x="1057275" y="0"/>
                  </a:moveTo>
                  <a:lnTo>
                    <a:pt x="0" y="0"/>
                  </a:lnTo>
                  <a:lnTo>
                    <a:pt x="0" y="361950"/>
                  </a:lnTo>
                  <a:lnTo>
                    <a:pt x="1057275" y="361950"/>
                  </a:lnTo>
                  <a:lnTo>
                    <a:pt x="1057275" y="0"/>
                  </a:lnTo>
                  <a:close/>
                </a:path>
              </a:pathLst>
            </a:custGeom>
            <a:solidFill>
              <a:srgbClr val="0947CA"/>
            </a:solidFill>
          </p:spPr>
          <p:txBody>
            <a:bodyPr wrap="square" lIns="0" tIns="0" rIns="0" bIns="0" rtlCol="0"/>
            <a:lstStyle/>
            <a:p>
              <a:endParaRPr/>
            </a:p>
          </p:txBody>
        </p:sp>
      </p:grpSp>
      <p:sp>
        <p:nvSpPr>
          <p:cNvPr id="5" name="object 5"/>
          <p:cNvSpPr txBox="1"/>
          <p:nvPr/>
        </p:nvSpPr>
        <p:spPr>
          <a:xfrm>
            <a:off x="877252" y="2547302"/>
            <a:ext cx="88646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Section</a:t>
            </a:r>
            <a:r>
              <a:rPr sz="1800" spc="30" dirty="0">
                <a:solidFill>
                  <a:srgbClr val="FFFFFF"/>
                </a:solidFill>
                <a:latin typeface="Calibri"/>
                <a:cs typeface="Calibri"/>
              </a:rPr>
              <a:t> </a:t>
            </a:r>
            <a:r>
              <a:rPr sz="1800" spc="-50" dirty="0">
                <a:solidFill>
                  <a:srgbClr val="FFFFFF"/>
                </a:solidFill>
                <a:latin typeface="Calibri"/>
                <a:cs typeface="Calibri"/>
              </a:rPr>
              <a:t>4</a:t>
            </a:r>
            <a:endParaRPr sz="18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object 8"/>
          <p:cNvPicPr/>
          <p:nvPr/>
        </p:nvPicPr>
        <p:blipFill>
          <a:blip r:embed="rId2" cstate="print">
            <a:extLst>
              <a:ext uri="{28A0092B-C50C-407E-A947-70E740481C1C}">
                <a14:useLocalDpi xmlns:a14="http://schemas.microsoft.com/office/drawing/2010/main" val="0"/>
              </a:ext>
            </a:extLst>
          </a:blip>
          <a:srcRect/>
          <a:stretch/>
        </p:blipFill>
        <p:spPr>
          <a:xfrm>
            <a:off x="6705600" y="3093059"/>
            <a:ext cx="4637087" cy="2850542"/>
          </a:xfrm>
          <a:prstGeom prst="rect">
            <a:avLst/>
          </a:prstGeom>
        </p:spPr>
      </p:pic>
      <p:sp>
        <p:nvSpPr>
          <p:cNvPr id="10" name="object 2">
            <a:extLst>
              <a:ext uri="{FF2B5EF4-FFF2-40B4-BE49-F238E27FC236}">
                <a16:creationId xmlns:a16="http://schemas.microsoft.com/office/drawing/2014/main" id="{96AA5B02-6C9E-DF34-E25F-D0F171A18F1C}"/>
              </a:ext>
            </a:extLst>
          </p:cNvPr>
          <p:cNvSpPr txBox="1"/>
          <p:nvPr/>
        </p:nvSpPr>
        <p:spPr>
          <a:xfrm>
            <a:off x="11367134" y="6096000"/>
            <a:ext cx="273050" cy="505908"/>
          </a:xfrm>
          <a:prstGeom prst="rect">
            <a:avLst/>
          </a:prstGeom>
        </p:spPr>
        <p:txBody>
          <a:bodyPr vert="horz" wrap="square" lIns="0" tIns="15875" rIns="0" bIns="0" rtlCol="0">
            <a:spAutoFit/>
          </a:bodyPr>
          <a:lstStyle/>
          <a:p>
            <a:pPr marL="12700">
              <a:lnSpc>
                <a:spcPct val="100000"/>
              </a:lnSpc>
              <a:spcBef>
                <a:spcPts val="125"/>
              </a:spcBef>
            </a:pPr>
            <a:r>
              <a:rPr lang="en-GB" sz="1550" spc="80" dirty="0">
                <a:solidFill>
                  <a:srgbClr val="1C7CDB"/>
                </a:solidFill>
                <a:latin typeface="Microsoft Sans Serif"/>
                <a:cs typeface="Microsoft Sans Serif"/>
              </a:rPr>
              <a:t>41</a:t>
            </a:r>
          </a:p>
          <a:p>
            <a:pPr marL="12700">
              <a:lnSpc>
                <a:spcPct val="100000"/>
              </a:lnSpc>
              <a:spcBef>
                <a:spcPts val="125"/>
              </a:spcBef>
            </a:pPr>
            <a:endParaRPr sz="1550" dirty="0">
              <a:latin typeface="Microsoft Sans Serif"/>
              <a:cs typeface="Microsoft Sans Serif"/>
            </a:endParaRPr>
          </a:p>
        </p:txBody>
      </p:sp>
      <p:sp>
        <p:nvSpPr>
          <p:cNvPr id="12" name="Title 11">
            <a:extLst>
              <a:ext uri="{FF2B5EF4-FFF2-40B4-BE49-F238E27FC236}">
                <a16:creationId xmlns:a16="http://schemas.microsoft.com/office/drawing/2014/main" id="{3A015AC3-9F83-9723-DCAF-6D65E5362091}"/>
              </a:ext>
            </a:extLst>
          </p:cNvPr>
          <p:cNvSpPr>
            <a:spLocks noGrp="1"/>
          </p:cNvSpPr>
          <p:nvPr>
            <p:ph type="title"/>
          </p:nvPr>
        </p:nvSpPr>
        <p:spPr/>
        <p:txBody>
          <a:bodyPr/>
          <a:lstStyle/>
          <a:p>
            <a:r>
              <a:rPr lang="en-GB" dirty="0"/>
              <a:t>Comparative Launch Success: Site Performance</a:t>
            </a:r>
          </a:p>
        </p:txBody>
      </p:sp>
      <p:sp>
        <p:nvSpPr>
          <p:cNvPr id="13" name="Content Placeholder 12">
            <a:extLst>
              <a:ext uri="{FF2B5EF4-FFF2-40B4-BE49-F238E27FC236}">
                <a16:creationId xmlns:a16="http://schemas.microsoft.com/office/drawing/2014/main" id="{47660CBA-D240-D06A-DA37-044FB1358F75}"/>
              </a:ext>
            </a:extLst>
          </p:cNvPr>
          <p:cNvSpPr>
            <a:spLocks noGrp="1"/>
          </p:cNvSpPr>
          <p:nvPr>
            <p:ph sz="half" idx="2"/>
          </p:nvPr>
        </p:nvSpPr>
        <p:spPr>
          <a:xfrm>
            <a:off x="849312" y="1284794"/>
            <a:ext cx="5260975" cy="2850543"/>
          </a:xfrm>
        </p:spPr>
        <p:txBody>
          <a:bodyPr/>
          <a:lstStyle/>
          <a:p>
            <a:r>
              <a:rPr lang="en-GB" dirty="0"/>
              <a:t>To identify the most reliable launch facilities for SpaceX missions, we conducted a comparative analysis of the success counts across all primary sites. The following breakdown illustrates the distribution of successful booster recoveries as captured in our interactive dashboard.</a:t>
            </a:r>
          </a:p>
        </p:txBody>
      </p:sp>
      <p:graphicFrame>
        <p:nvGraphicFramePr>
          <p:cNvPr id="18" name="Content Placeholder 17">
            <a:extLst>
              <a:ext uri="{FF2B5EF4-FFF2-40B4-BE49-F238E27FC236}">
                <a16:creationId xmlns:a16="http://schemas.microsoft.com/office/drawing/2014/main" id="{AEDD650E-3F05-9928-AFB4-D3BBD4098920}"/>
              </a:ext>
            </a:extLst>
          </p:cNvPr>
          <p:cNvGraphicFramePr>
            <a:graphicFrameLocks noGrp="1"/>
          </p:cNvGraphicFramePr>
          <p:nvPr>
            <p:ph sz="half" idx="3"/>
            <p:extLst>
              <p:ext uri="{D42A27DB-BD31-4B8C-83A1-F6EECF244321}">
                <p14:modId xmlns:p14="http://schemas.microsoft.com/office/powerpoint/2010/main" val="1033901633"/>
              </p:ext>
            </p:extLst>
          </p:nvPr>
        </p:nvGraphicFramePr>
        <p:xfrm>
          <a:off x="849312" y="2438400"/>
          <a:ext cx="4789488" cy="1382345"/>
        </p:xfrm>
        <a:graphic>
          <a:graphicData uri="http://schemas.openxmlformats.org/drawingml/2006/table">
            <a:tbl>
              <a:tblPr/>
              <a:tblGrid>
                <a:gridCol w="1596496">
                  <a:extLst>
                    <a:ext uri="{9D8B030D-6E8A-4147-A177-3AD203B41FA5}">
                      <a16:colId xmlns:a16="http://schemas.microsoft.com/office/drawing/2014/main" val="2399866636"/>
                    </a:ext>
                  </a:extLst>
                </a:gridCol>
                <a:gridCol w="1596496">
                  <a:extLst>
                    <a:ext uri="{9D8B030D-6E8A-4147-A177-3AD203B41FA5}">
                      <a16:colId xmlns:a16="http://schemas.microsoft.com/office/drawing/2014/main" val="3398715669"/>
                    </a:ext>
                  </a:extLst>
                </a:gridCol>
                <a:gridCol w="1596496">
                  <a:extLst>
                    <a:ext uri="{9D8B030D-6E8A-4147-A177-3AD203B41FA5}">
                      <a16:colId xmlns:a16="http://schemas.microsoft.com/office/drawing/2014/main" val="1706103112"/>
                    </a:ext>
                  </a:extLst>
                </a:gridCol>
              </a:tblGrid>
              <a:tr h="276469">
                <a:tc>
                  <a:txBody>
                    <a:bodyPr/>
                    <a:lstStyle/>
                    <a:p>
                      <a:r>
                        <a:rPr lang="en-GB" sz="800" b="1">
                          <a:effectLst/>
                          <a:latin typeface="Google Sans Text"/>
                        </a:rPr>
                        <a:t>Launch Site</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GB" sz="800" b="1">
                          <a:effectLst/>
                          <a:latin typeface="Google Sans Text"/>
                        </a:rPr>
                        <a:t>Success Contribution</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GB" sz="800" b="1">
                          <a:effectLst/>
                          <a:latin typeface="Google Sans Text"/>
                        </a:rPr>
                        <a:t>Status</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72630060"/>
                  </a:ext>
                </a:extLst>
              </a:tr>
              <a:tr h="276469">
                <a:tc>
                  <a:txBody>
                    <a:bodyPr/>
                    <a:lstStyle/>
                    <a:p>
                      <a:r>
                        <a:rPr lang="en-GB" sz="800" b="1">
                          <a:effectLst/>
                          <a:latin typeface="Google Sans Text"/>
                        </a:rPr>
                        <a:t>KSC LC-39A</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GB" sz="800" b="1">
                          <a:effectLst/>
                          <a:latin typeface="Google Sans Text"/>
                        </a:rPr>
                        <a:t>41.7%</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GB" sz="800" b="1">
                          <a:effectLst/>
                          <a:latin typeface="Google Sans Text"/>
                        </a:rPr>
                        <a:t>Highest Performer</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7164198"/>
                  </a:ext>
                </a:extLst>
              </a:tr>
              <a:tr h="276469">
                <a:tc>
                  <a:txBody>
                    <a:bodyPr/>
                    <a:lstStyle/>
                    <a:p>
                      <a:r>
                        <a:rPr lang="en-GB" sz="800" b="1">
                          <a:effectLst/>
                          <a:latin typeface="Google Sans Text"/>
                        </a:rPr>
                        <a:t>CCAFS LC-40</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GB" sz="800" b="1">
                          <a:effectLst/>
                          <a:latin typeface="Google Sans Text"/>
                        </a:rPr>
                        <a:t>29.2%</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GB" sz="800">
                          <a:effectLst/>
                          <a:latin typeface="Google Sans Text"/>
                        </a:rPr>
                        <a:t>High Volume</a:t>
                      </a: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22395191"/>
                  </a:ext>
                </a:extLst>
              </a:tr>
              <a:tr h="276469">
                <a:tc>
                  <a:txBody>
                    <a:bodyPr/>
                    <a:lstStyle/>
                    <a:p>
                      <a:r>
                        <a:rPr lang="en-GB" sz="800" b="1">
                          <a:effectLst/>
                          <a:latin typeface="Google Sans Text"/>
                        </a:rPr>
                        <a:t>VAFB SLC-4E</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GB" sz="800" b="1">
                          <a:effectLst/>
                          <a:latin typeface="Google Sans Text"/>
                        </a:rPr>
                        <a:t>16.7%</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GB" sz="800">
                          <a:effectLst/>
                          <a:latin typeface="Google Sans Text"/>
                        </a:rPr>
                        <a:t>Consistent</a:t>
                      </a: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44835813"/>
                  </a:ext>
                </a:extLst>
              </a:tr>
              <a:tr h="276469">
                <a:tc>
                  <a:txBody>
                    <a:bodyPr/>
                    <a:lstStyle/>
                    <a:p>
                      <a:r>
                        <a:rPr lang="en-GB" sz="800" b="1">
                          <a:effectLst/>
                          <a:latin typeface="Google Sans Text"/>
                        </a:rPr>
                        <a:t>CCAFS SLC-40</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GB" sz="800" b="1">
                          <a:effectLst/>
                          <a:latin typeface="Google Sans Text"/>
                        </a:rPr>
                        <a:t>12.5%</a:t>
                      </a:r>
                      <a:endParaRPr lang="en-GB" sz="800">
                        <a:effectLst/>
                        <a:latin typeface="Google Sans Text"/>
                      </a:endParaRP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GB" sz="800" dirty="0">
                          <a:effectLst/>
                          <a:latin typeface="Google Sans Text"/>
                        </a:rPr>
                        <a:t>Developing</a:t>
                      </a:r>
                    </a:p>
                  </a:txBody>
                  <a:tcPr marL="42447" marR="42447" marT="21224" marB="2122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36682701"/>
                  </a:ext>
                </a:extLst>
              </a:tr>
            </a:tbl>
          </a:graphicData>
        </a:graphic>
      </p:graphicFrame>
      <p:sp>
        <p:nvSpPr>
          <p:cNvPr id="19" name="TextBox 18">
            <a:extLst>
              <a:ext uri="{FF2B5EF4-FFF2-40B4-BE49-F238E27FC236}">
                <a16:creationId xmlns:a16="http://schemas.microsoft.com/office/drawing/2014/main" id="{A756B264-D4F9-3752-A50A-B76FD5E5011B}"/>
              </a:ext>
            </a:extLst>
          </p:cNvPr>
          <p:cNvSpPr txBox="1"/>
          <p:nvPr/>
        </p:nvSpPr>
        <p:spPr>
          <a:xfrm>
            <a:off x="833148" y="4118835"/>
            <a:ext cx="5322888" cy="2308324"/>
          </a:xfrm>
          <a:prstGeom prst="rect">
            <a:avLst/>
          </a:prstGeom>
          <a:noFill/>
        </p:spPr>
        <p:txBody>
          <a:bodyPr wrap="square" rtlCol="0">
            <a:spAutoFit/>
          </a:bodyPr>
          <a:lstStyle/>
          <a:p>
            <a:r>
              <a:rPr lang="en-GB" sz="1200" b="1" dirty="0"/>
              <a:t>Performance Insights</a:t>
            </a:r>
          </a:p>
          <a:p>
            <a:endParaRPr lang="en-GB" sz="1200" b="1" dirty="0"/>
          </a:p>
          <a:p>
            <a:r>
              <a:rPr lang="en-GB" sz="1200" b="1" dirty="0"/>
              <a:t>Operational Leader:</a:t>
            </a:r>
            <a:r>
              <a:rPr lang="en-GB" sz="1200" dirty="0"/>
              <a:t> </a:t>
            </a:r>
            <a:r>
              <a:rPr lang="en-GB" sz="1200" b="1" dirty="0"/>
              <a:t>Kennedy Space </a:t>
            </a:r>
            <a:r>
              <a:rPr lang="en-GB" sz="1200" b="1" dirty="0" err="1"/>
              <a:t>Center</a:t>
            </a:r>
            <a:r>
              <a:rPr lang="en-GB" sz="1200" b="1" dirty="0"/>
              <a:t> (KSC LC-39A)</a:t>
            </a:r>
            <a:r>
              <a:rPr lang="en-GB" sz="1200" dirty="0"/>
              <a:t> emerges as the premier site for successful missions, accounting for nearly </a:t>
            </a:r>
            <a:r>
              <a:rPr lang="en-GB" sz="1200" b="1" dirty="0"/>
              <a:t>42%</a:t>
            </a:r>
            <a:r>
              <a:rPr lang="en-GB" sz="1200" dirty="0"/>
              <a:t> of all recorded landing successes. Its historical pedigree and advanced infrastructure likely contribute to this high reliability.</a:t>
            </a:r>
          </a:p>
          <a:p>
            <a:r>
              <a:rPr lang="en-GB" sz="1200" b="1" dirty="0"/>
              <a:t>Secondary Hub:</a:t>
            </a:r>
            <a:r>
              <a:rPr lang="en-GB" sz="1200" dirty="0"/>
              <a:t> </a:t>
            </a:r>
            <a:r>
              <a:rPr lang="en-GB" sz="1200" b="1" dirty="0"/>
              <a:t>CCAFS LC-40</a:t>
            </a:r>
            <a:r>
              <a:rPr lang="en-GB" sz="1200" dirty="0"/>
              <a:t> maintains a strong secondary position, contributing nearly </a:t>
            </a:r>
            <a:r>
              <a:rPr lang="en-GB" sz="1200" b="1" dirty="0"/>
              <a:t>30%</a:t>
            </a:r>
            <a:r>
              <a:rPr lang="en-GB" sz="1200" dirty="0"/>
              <a:t> of total successes, underscoring its role as a critical workhorse for SpaceX's launch cadence.</a:t>
            </a:r>
          </a:p>
          <a:p>
            <a:r>
              <a:rPr lang="en-GB" sz="1200" b="1" dirty="0"/>
              <a:t>Geographical Distribution:</a:t>
            </a:r>
            <a:r>
              <a:rPr lang="en-GB" sz="1200" dirty="0"/>
              <a:t> The results show that while East Coast sites dominate the success counts, the West Coast facility (</a:t>
            </a:r>
            <a:r>
              <a:rPr lang="en-GB" sz="1200" b="1" dirty="0"/>
              <a:t>VAFB SLC-4E</a:t>
            </a:r>
            <a:r>
              <a:rPr lang="en-GB" sz="1200" dirty="0"/>
              <a:t>) provides a steady, successful contribution to the overall recovery portfolio.</a:t>
            </a:r>
          </a:p>
        </p:txBody>
      </p:sp>
      <p:sp>
        <p:nvSpPr>
          <p:cNvPr id="20" name="TextBox 19">
            <a:extLst>
              <a:ext uri="{FF2B5EF4-FFF2-40B4-BE49-F238E27FC236}">
                <a16:creationId xmlns:a16="http://schemas.microsoft.com/office/drawing/2014/main" id="{00B378E8-38DE-0739-12F9-4AC5D51D72D3}"/>
              </a:ext>
            </a:extLst>
          </p:cNvPr>
          <p:cNvSpPr txBox="1"/>
          <p:nvPr/>
        </p:nvSpPr>
        <p:spPr>
          <a:xfrm>
            <a:off x="6705600" y="1219200"/>
            <a:ext cx="4637086" cy="1600438"/>
          </a:xfrm>
          <a:prstGeom prst="rect">
            <a:avLst/>
          </a:prstGeom>
          <a:noFill/>
          <a:ln>
            <a:solidFill>
              <a:schemeClr val="tx1"/>
            </a:solidFill>
          </a:ln>
        </p:spPr>
        <p:txBody>
          <a:bodyPr wrap="square" rtlCol="0">
            <a:spAutoFit/>
          </a:bodyPr>
          <a:lstStyle/>
          <a:p>
            <a:r>
              <a:rPr lang="en-GB" sz="1400" b="1" dirty="0"/>
              <a:t>Dashboard Integration</a:t>
            </a:r>
          </a:p>
          <a:p>
            <a:r>
              <a:rPr lang="en-GB" sz="1400" dirty="0"/>
              <a:t>These metrics are dynamically calculated within the </a:t>
            </a:r>
            <a:r>
              <a:rPr lang="en-GB" sz="1400" b="1" dirty="0"/>
              <a:t>SpaceX Launch Records Dashboard</a:t>
            </a:r>
            <a:r>
              <a:rPr lang="en-GB" sz="1400" dirty="0"/>
              <a:t>. By visualizing these proportions in a pie chart, stakeholders can immediately recognize which facilities offer the highest probability of a successful first-stage recovery, aiding in strategic mission planning and bidding estimations.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a:extLst>
              <a:ext uri="{28A0092B-C50C-407E-A947-70E740481C1C}">
                <a14:useLocalDpi xmlns:a14="http://schemas.microsoft.com/office/drawing/2010/main" val="0"/>
              </a:ext>
            </a:extLst>
          </a:blip>
          <a:srcRect/>
          <a:stretch/>
        </p:blipFill>
        <p:spPr>
          <a:xfrm>
            <a:off x="2209800" y="4169089"/>
            <a:ext cx="7391400" cy="2079311"/>
          </a:xfrm>
          <a:prstGeom prst="rect">
            <a:avLst/>
          </a:prstGeom>
          <a:ln>
            <a:solidFill>
              <a:schemeClr val="tx1"/>
            </a:solidFill>
          </a:ln>
        </p:spPr>
      </p:pic>
      <p:sp>
        <p:nvSpPr>
          <p:cNvPr id="9" name="object 2">
            <a:extLst>
              <a:ext uri="{FF2B5EF4-FFF2-40B4-BE49-F238E27FC236}">
                <a16:creationId xmlns:a16="http://schemas.microsoft.com/office/drawing/2014/main" id="{B158858E-B7BE-78CD-2FE7-E3934EC54BFF}"/>
              </a:ext>
            </a:extLst>
          </p:cNvPr>
          <p:cNvSpPr txBox="1"/>
          <p:nvPr/>
        </p:nvSpPr>
        <p:spPr>
          <a:xfrm>
            <a:off x="11370829" y="6096000"/>
            <a:ext cx="273050" cy="254557"/>
          </a:xfrm>
          <a:prstGeom prst="rect">
            <a:avLst/>
          </a:prstGeom>
        </p:spPr>
        <p:txBody>
          <a:bodyPr vert="horz" wrap="square" lIns="0" tIns="15875" rIns="0" bIns="0" rtlCol="0">
            <a:spAutoFit/>
          </a:bodyPr>
          <a:lstStyle/>
          <a:p>
            <a:pPr marL="12700">
              <a:lnSpc>
                <a:spcPct val="100000"/>
              </a:lnSpc>
              <a:spcBef>
                <a:spcPts val="125"/>
              </a:spcBef>
            </a:pPr>
            <a:r>
              <a:rPr lang="en-GB" sz="1550" spc="80" dirty="0">
                <a:solidFill>
                  <a:srgbClr val="1C7CDB"/>
                </a:solidFill>
                <a:latin typeface="Microsoft Sans Serif"/>
                <a:cs typeface="Microsoft Sans Serif"/>
              </a:rPr>
              <a:t>42</a:t>
            </a:r>
            <a:endParaRPr sz="1550" dirty="0">
              <a:latin typeface="Microsoft Sans Serif"/>
              <a:cs typeface="Microsoft Sans Serif"/>
            </a:endParaRPr>
          </a:p>
        </p:txBody>
      </p:sp>
      <p:sp>
        <p:nvSpPr>
          <p:cNvPr id="10" name="Title 9">
            <a:extLst>
              <a:ext uri="{FF2B5EF4-FFF2-40B4-BE49-F238E27FC236}">
                <a16:creationId xmlns:a16="http://schemas.microsoft.com/office/drawing/2014/main" id="{CD7FC11E-D0FD-B79A-CA5F-A68C6C13762B}"/>
              </a:ext>
            </a:extLst>
          </p:cNvPr>
          <p:cNvSpPr>
            <a:spLocks noGrp="1"/>
          </p:cNvSpPr>
          <p:nvPr>
            <p:ph type="title"/>
          </p:nvPr>
        </p:nvSpPr>
        <p:spPr/>
        <p:txBody>
          <a:bodyPr/>
          <a:lstStyle/>
          <a:p>
            <a:r>
              <a:rPr lang="en-GB" dirty="0"/>
              <a:t>Site Performance Analysis: KSC LC-39A</a:t>
            </a:r>
          </a:p>
        </p:txBody>
      </p:sp>
      <p:sp>
        <p:nvSpPr>
          <p:cNvPr id="14" name="Text Placeholder 13">
            <a:extLst>
              <a:ext uri="{FF2B5EF4-FFF2-40B4-BE49-F238E27FC236}">
                <a16:creationId xmlns:a16="http://schemas.microsoft.com/office/drawing/2014/main" id="{A43D64C6-4081-2E07-E122-DB1CBBB022C6}"/>
              </a:ext>
            </a:extLst>
          </p:cNvPr>
          <p:cNvSpPr>
            <a:spLocks noGrp="1"/>
          </p:cNvSpPr>
          <p:nvPr>
            <p:ph type="body" idx="1"/>
          </p:nvPr>
        </p:nvSpPr>
        <p:spPr>
          <a:xfrm>
            <a:off x="849312" y="1511617"/>
            <a:ext cx="10333990" cy="2585323"/>
          </a:xfrm>
        </p:spPr>
        <p:txBody>
          <a:bodyPr/>
          <a:lstStyle/>
          <a:p>
            <a:r>
              <a:rPr lang="en-GB" sz="1400" b="1" dirty="0"/>
              <a:t>Internal Success Metrics</a:t>
            </a:r>
          </a:p>
          <a:p>
            <a:r>
              <a:rPr lang="en-GB" sz="1400" dirty="0"/>
              <a:t>The dashboard data reveals that </a:t>
            </a:r>
            <a:r>
              <a:rPr lang="en-GB" sz="1400" b="1" dirty="0"/>
              <a:t>KSC LC-39A</a:t>
            </a:r>
            <a:r>
              <a:rPr lang="en-GB" sz="1400" dirty="0"/>
              <a:t> maintains an exceptionally high performance standard:</a:t>
            </a:r>
          </a:p>
          <a:p>
            <a:pPr marL="285750" indent="-285750">
              <a:buFont typeface="Arial" panose="020B0604020202020204" pitchFamily="34" charset="0"/>
              <a:buChar char="•"/>
            </a:pPr>
            <a:r>
              <a:rPr lang="en-GB" sz="1400" b="1" dirty="0"/>
              <a:t>Class 1 (Successful Recoveries):</a:t>
            </a:r>
            <a:r>
              <a:rPr lang="en-GB" sz="1400" dirty="0"/>
              <a:t> </a:t>
            </a:r>
            <a:r>
              <a:rPr lang="en-GB" sz="1400" b="1" dirty="0"/>
              <a:t>76.9%</a:t>
            </a:r>
            <a:r>
              <a:rPr lang="en-GB" sz="1400" dirty="0"/>
              <a:t> * </a:t>
            </a:r>
            <a:r>
              <a:rPr lang="en-GB" sz="1400" b="1" dirty="0"/>
              <a:t>Class 0 (Unsuccessful Recoveries):</a:t>
            </a:r>
            <a:r>
              <a:rPr lang="en-GB" sz="1400" dirty="0"/>
              <a:t> </a:t>
            </a:r>
            <a:r>
              <a:rPr lang="en-GB" sz="1400" b="1" dirty="0"/>
              <a:t>23.1%</a:t>
            </a:r>
          </a:p>
          <a:p>
            <a:pPr marL="285750" indent="-285750">
              <a:buFont typeface="Arial" panose="020B0604020202020204" pitchFamily="34" charset="0"/>
              <a:buChar char="•"/>
            </a:pPr>
            <a:endParaRPr lang="en-GB" sz="1400" dirty="0"/>
          </a:p>
          <a:p>
            <a:r>
              <a:rPr lang="en-GB" sz="1400" b="1" dirty="0"/>
              <a:t>Performance Insights</a:t>
            </a:r>
          </a:p>
          <a:p>
            <a:pPr marL="285750" indent="-285750">
              <a:buFont typeface="Arial" panose="020B0604020202020204" pitchFamily="34" charset="0"/>
              <a:buChar char="•"/>
            </a:pPr>
            <a:r>
              <a:rPr lang="en-GB" sz="1400" b="1" dirty="0"/>
              <a:t>Unmatched Reliability:</a:t>
            </a:r>
            <a:r>
              <a:rPr lang="en-GB" sz="1400" dirty="0"/>
              <a:t> A success rate approaching </a:t>
            </a:r>
            <a:r>
              <a:rPr lang="en-GB" sz="1400" b="1" dirty="0"/>
              <a:t>77%</a:t>
            </a:r>
            <a:r>
              <a:rPr lang="en-GB" sz="1400" dirty="0"/>
              <a:t> confirms that KSC LC-39A is the most dependable facility in the SpaceX portfolio for first-stage recovery missions.</a:t>
            </a:r>
          </a:p>
          <a:p>
            <a:pPr marL="285750" indent="-285750">
              <a:buFont typeface="Arial" panose="020B0604020202020204" pitchFamily="34" charset="0"/>
              <a:buChar char="•"/>
            </a:pPr>
            <a:r>
              <a:rPr lang="en-GB" sz="1400" b="1" dirty="0"/>
              <a:t>Operational Excellence:</a:t>
            </a:r>
            <a:r>
              <a:rPr lang="en-GB" sz="1400" dirty="0"/>
              <a:t> The vast majority (blue segment) of missions launched from this site result in successful landings, underscoring the site's suitability for high-stakes missions and its role in maximizing booster reusability.</a:t>
            </a:r>
          </a:p>
          <a:p>
            <a:pPr marL="285750" indent="-285750">
              <a:buFont typeface="Arial" panose="020B0604020202020204" pitchFamily="34" charset="0"/>
              <a:buChar char="•"/>
            </a:pPr>
            <a:r>
              <a:rPr lang="en-GB" sz="1400" b="1" dirty="0"/>
              <a:t>Strategic Benchmark:</a:t>
            </a:r>
            <a:r>
              <a:rPr lang="en-GB" sz="1400" dirty="0"/>
              <a:t> The performance of LC-39A serves as the primary benchmark for assessing the landing capabilities and reliability of other SpaceX launch facilities.</a:t>
            </a:r>
          </a:p>
          <a:p>
            <a:endParaRPr lang="en-GB"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object 8"/>
          <p:cNvPicPr/>
          <p:nvPr/>
        </p:nvPicPr>
        <p:blipFill>
          <a:blip r:embed="rId2" cstate="print">
            <a:extLst>
              <a:ext uri="{28A0092B-C50C-407E-A947-70E740481C1C}">
                <a14:useLocalDpi xmlns:a14="http://schemas.microsoft.com/office/drawing/2010/main" val="0"/>
              </a:ext>
            </a:extLst>
          </a:blip>
          <a:srcRect/>
          <a:stretch/>
        </p:blipFill>
        <p:spPr>
          <a:xfrm>
            <a:off x="6095999" y="3417620"/>
            <a:ext cx="5276850" cy="2805658"/>
          </a:xfrm>
          <a:prstGeom prst="rect">
            <a:avLst/>
          </a:prstGeom>
          <a:ln w="19050">
            <a:solidFill>
              <a:schemeClr val="tx1"/>
            </a:solidFill>
          </a:ln>
        </p:spPr>
      </p:pic>
      <p:sp>
        <p:nvSpPr>
          <p:cNvPr id="10" name="object 2">
            <a:extLst>
              <a:ext uri="{FF2B5EF4-FFF2-40B4-BE49-F238E27FC236}">
                <a16:creationId xmlns:a16="http://schemas.microsoft.com/office/drawing/2014/main" id="{525E7B04-B4EA-1B5A-E06D-722C1D8B9FBF}"/>
              </a:ext>
            </a:extLst>
          </p:cNvPr>
          <p:cNvSpPr txBox="1"/>
          <p:nvPr/>
        </p:nvSpPr>
        <p:spPr>
          <a:xfrm>
            <a:off x="11370829" y="6096000"/>
            <a:ext cx="273050" cy="254557"/>
          </a:xfrm>
          <a:prstGeom prst="rect">
            <a:avLst/>
          </a:prstGeom>
        </p:spPr>
        <p:txBody>
          <a:bodyPr vert="horz" wrap="square" lIns="0" tIns="15875" rIns="0" bIns="0" rtlCol="0">
            <a:spAutoFit/>
          </a:bodyPr>
          <a:lstStyle/>
          <a:p>
            <a:pPr marL="12700">
              <a:lnSpc>
                <a:spcPct val="100000"/>
              </a:lnSpc>
              <a:spcBef>
                <a:spcPts val="125"/>
              </a:spcBef>
            </a:pPr>
            <a:r>
              <a:rPr lang="en-GB" sz="1550" spc="80" dirty="0">
                <a:solidFill>
                  <a:srgbClr val="1C7CDB"/>
                </a:solidFill>
                <a:latin typeface="Microsoft Sans Serif"/>
                <a:cs typeface="Microsoft Sans Serif"/>
              </a:rPr>
              <a:t>43</a:t>
            </a:r>
            <a:endParaRPr sz="1550" dirty="0">
              <a:latin typeface="Microsoft Sans Serif"/>
              <a:cs typeface="Microsoft Sans Serif"/>
            </a:endParaRPr>
          </a:p>
        </p:txBody>
      </p:sp>
      <p:sp>
        <p:nvSpPr>
          <p:cNvPr id="12" name="Title 11">
            <a:extLst>
              <a:ext uri="{FF2B5EF4-FFF2-40B4-BE49-F238E27FC236}">
                <a16:creationId xmlns:a16="http://schemas.microsoft.com/office/drawing/2014/main" id="{C8A077A5-3886-5546-668D-C4BAFFA466F6}"/>
              </a:ext>
            </a:extLst>
          </p:cNvPr>
          <p:cNvSpPr>
            <a:spLocks noGrp="1"/>
          </p:cNvSpPr>
          <p:nvPr>
            <p:ph type="title"/>
          </p:nvPr>
        </p:nvSpPr>
        <p:spPr/>
        <p:txBody>
          <a:bodyPr/>
          <a:lstStyle/>
          <a:p>
            <a:r>
              <a:rPr lang="en-GB" dirty="0"/>
              <a:t>Key Insights from SpaceX Launch Analytics</a:t>
            </a:r>
          </a:p>
        </p:txBody>
      </p:sp>
      <p:sp>
        <p:nvSpPr>
          <p:cNvPr id="13" name="Content Placeholder 12">
            <a:extLst>
              <a:ext uri="{FF2B5EF4-FFF2-40B4-BE49-F238E27FC236}">
                <a16:creationId xmlns:a16="http://schemas.microsoft.com/office/drawing/2014/main" id="{AF20C6EE-986F-5439-E1B0-40532EE0F445}"/>
              </a:ext>
            </a:extLst>
          </p:cNvPr>
          <p:cNvSpPr>
            <a:spLocks noGrp="1"/>
          </p:cNvSpPr>
          <p:nvPr>
            <p:ph sz="half" idx="2"/>
          </p:nvPr>
        </p:nvSpPr>
        <p:spPr>
          <a:xfrm>
            <a:off x="457200" y="1265253"/>
            <a:ext cx="5260975" cy="5170646"/>
          </a:xfrm>
        </p:spPr>
        <p:txBody>
          <a:bodyPr/>
          <a:lstStyle/>
          <a:p>
            <a:r>
              <a:rPr lang="en-GB" dirty="0"/>
              <a:t>The interactive dashboard provides a multi-dimensional view of the factors influencing mission outcomes. By synthesizing launch site geography with booster hardware specifications, we can isolate the primary drivers of successful first-stage landings.</a:t>
            </a:r>
          </a:p>
          <a:p>
            <a:endParaRPr lang="en-GB" dirty="0"/>
          </a:p>
          <a:p>
            <a:endParaRPr lang="en-GB" dirty="0"/>
          </a:p>
          <a:p>
            <a:r>
              <a:rPr lang="en-GB" b="1" dirty="0"/>
              <a:t>Booster Version Performance</a:t>
            </a:r>
          </a:p>
          <a:p>
            <a:endParaRPr lang="en-GB" b="1" dirty="0"/>
          </a:p>
          <a:p>
            <a:r>
              <a:rPr lang="en-GB" b="1" dirty="0"/>
              <a:t>The "Workhorse" (FT Version):</a:t>
            </a:r>
            <a:r>
              <a:rPr lang="en-GB" dirty="0"/>
              <a:t> The </a:t>
            </a:r>
            <a:r>
              <a:rPr lang="en-GB" b="1" dirty="0"/>
              <a:t>Full Thrust (FT)</a:t>
            </a:r>
            <a:r>
              <a:rPr lang="en-GB" dirty="0"/>
              <a:t> booster version is the most frequently deployed hardware in the dataset. It demonstrates a robust success rate across a diverse spectrum of payload masses, marking it as the most reliable iteration for recovery operations.</a:t>
            </a:r>
          </a:p>
          <a:p>
            <a:endParaRPr lang="en-GB" dirty="0"/>
          </a:p>
          <a:p>
            <a:r>
              <a:rPr lang="en-GB" b="1" dirty="0"/>
              <a:t>Early Iterations (v1.0):</a:t>
            </a:r>
            <a:r>
              <a:rPr lang="en-GB" dirty="0"/>
              <a:t> The </a:t>
            </a:r>
            <a:r>
              <a:rPr lang="en-GB" b="1" dirty="0"/>
              <a:t>v1.0</a:t>
            </a:r>
            <a:r>
              <a:rPr lang="en-GB" dirty="0"/>
              <a:t> booster version accounts for a much smaller sample size. Its limited flight history suggests that it served as an early developmental phase, requiring more data for a definitive performance benchmark.</a:t>
            </a:r>
          </a:p>
          <a:p>
            <a:endParaRPr lang="en-GB" dirty="0"/>
          </a:p>
          <a:p>
            <a:r>
              <a:rPr lang="en-GB" b="1" dirty="0"/>
              <a:t>Mass-Outcome Correlation:</a:t>
            </a:r>
            <a:r>
              <a:rPr lang="en-GB" dirty="0"/>
              <a:t> Interestingly, the data does not show a linear decline in success as payload weight increases. This indicates that modern booster versions are engineered to handle high-capacity missions without a significant compromise in landing reliability.</a:t>
            </a:r>
          </a:p>
          <a:p>
            <a:endParaRPr lang="en-GB" dirty="0"/>
          </a:p>
          <a:p>
            <a:endParaRPr lang="en-GB" dirty="0"/>
          </a:p>
        </p:txBody>
      </p:sp>
      <p:sp>
        <p:nvSpPr>
          <p:cNvPr id="14" name="Content Placeholder 13">
            <a:extLst>
              <a:ext uri="{FF2B5EF4-FFF2-40B4-BE49-F238E27FC236}">
                <a16:creationId xmlns:a16="http://schemas.microsoft.com/office/drawing/2014/main" id="{CEE16D7D-1260-6892-2637-414DBF1CCA02}"/>
              </a:ext>
            </a:extLst>
          </p:cNvPr>
          <p:cNvSpPr>
            <a:spLocks noGrp="1"/>
          </p:cNvSpPr>
          <p:nvPr>
            <p:ph sz="half" idx="3"/>
          </p:nvPr>
        </p:nvSpPr>
        <p:spPr>
          <a:xfrm>
            <a:off x="6019801" y="1265253"/>
            <a:ext cx="5362574" cy="2123658"/>
          </a:xfrm>
        </p:spPr>
        <p:txBody>
          <a:bodyPr/>
          <a:lstStyle/>
          <a:p>
            <a:r>
              <a:rPr lang="en-GB" b="1" dirty="0"/>
              <a:t>Launch Site Success Analysis</a:t>
            </a:r>
          </a:p>
          <a:p>
            <a:pPr marL="285750" indent="-285750">
              <a:buFont typeface="Arial" panose="020B0604020202020204" pitchFamily="34" charset="0"/>
              <a:buChar char="•"/>
            </a:pPr>
            <a:r>
              <a:rPr lang="en-GB" b="1" dirty="0"/>
              <a:t>Top Performer:</a:t>
            </a:r>
            <a:r>
              <a:rPr lang="en-GB" dirty="0"/>
              <a:t> </a:t>
            </a:r>
            <a:r>
              <a:rPr lang="en-GB" b="1" dirty="0"/>
              <a:t>CCAFS LC-40</a:t>
            </a:r>
            <a:r>
              <a:rPr lang="en-GB" dirty="0"/>
              <a:t> stands out as the most reliable facility among those studied, boasting a peak success rate of </a:t>
            </a:r>
            <a:r>
              <a:rPr lang="en-GB" b="1" dirty="0"/>
              <a:t>43.7%</a:t>
            </a:r>
            <a:r>
              <a:rPr lang="en-GB" dirty="0"/>
              <a:t>. This identifies it as a critical operational hub for booster recovery.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Geographical Variability:</a:t>
            </a:r>
            <a:r>
              <a:rPr lang="en-GB" dirty="0"/>
              <a:t> Facilities such as </a:t>
            </a:r>
            <a:r>
              <a:rPr lang="en-GB" b="1" dirty="0"/>
              <a:t>KSC LC-39A</a:t>
            </a:r>
            <a:r>
              <a:rPr lang="en-GB" dirty="0"/>
              <a:t>, </a:t>
            </a:r>
            <a:r>
              <a:rPr lang="en-GB" b="1" dirty="0"/>
              <a:t>VAFB SLC-4E</a:t>
            </a:r>
            <a:r>
              <a:rPr lang="en-GB" dirty="0"/>
              <a:t>, and </a:t>
            </a:r>
            <a:r>
              <a:rPr lang="en-GB" b="1" dirty="0"/>
              <a:t>CCAFS SLC-40</a:t>
            </a:r>
            <a:r>
              <a:rPr lang="en-GB" dirty="0"/>
              <a:t> exhibit comparatively lower success rates. This variance suggests that site-specific environmental factors or mission profiles unique to these locations impact recovery probabilities.</a:t>
            </a:r>
          </a:p>
          <a:p>
            <a:endParaRPr lang="en-GB"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1999" cy="6857998"/>
            </a:xfrm>
            <a:prstGeom prst="rect">
              <a:avLst/>
            </a:prstGeom>
          </p:spPr>
        </p:pic>
        <p:sp>
          <p:nvSpPr>
            <p:cNvPr id="4" name="object 4"/>
            <p:cNvSpPr/>
            <p:nvPr/>
          </p:nvSpPr>
          <p:spPr>
            <a:xfrm>
              <a:off x="800099" y="2533650"/>
              <a:ext cx="1057275" cy="361950"/>
            </a:xfrm>
            <a:custGeom>
              <a:avLst/>
              <a:gdLst/>
              <a:ahLst/>
              <a:cxnLst/>
              <a:rect l="l" t="t" r="r" b="b"/>
              <a:pathLst>
                <a:path w="1057275" h="361950">
                  <a:moveTo>
                    <a:pt x="1057275" y="0"/>
                  </a:moveTo>
                  <a:lnTo>
                    <a:pt x="0" y="0"/>
                  </a:lnTo>
                  <a:lnTo>
                    <a:pt x="0" y="361950"/>
                  </a:lnTo>
                  <a:lnTo>
                    <a:pt x="1057275" y="361950"/>
                  </a:lnTo>
                  <a:lnTo>
                    <a:pt x="1057275" y="0"/>
                  </a:lnTo>
                  <a:close/>
                </a:path>
              </a:pathLst>
            </a:custGeom>
            <a:solidFill>
              <a:srgbClr val="0947CA"/>
            </a:solidFill>
          </p:spPr>
          <p:txBody>
            <a:bodyPr wrap="square" lIns="0" tIns="0" rIns="0" bIns="0" rtlCol="0"/>
            <a:lstStyle/>
            <a:p>
              <a:endParaRPr/>
            </a:p>
          </p:txBody>
        </p:sp>
      </p:grpSp>
      <p:sp>
        <p:nvSpPr>
          <p:cNvPr id="5" name="object 5"/>
          <p:cNvSpPr txBox="1"/>
          <p:nvPr/>
        </p:nvSpPr>
        <p:spPr>
          <a:xfrm>
            <a:off x="877252" y="2547302"/>
            <a:ext cx="88646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Section</a:t>
            </a:r>
            <a:r>
              <a:rPr sz="1800" spc="30" dirty="0">
                <a:solidFill>
                  <a:srgbClr val="FFFFFF"/>
                </a:solidFill>
                <a:latin typeface="Calibri"/>
                <a:cs typeface="Calibri"/>
              </a:rPr>
              <a:t> </a:t>
            </a:r>
            <a:r>
              <a:rPr sz="1800" spc="-50" dirty="0">
                <a:solidFill>
                  <a:srgbClr val="FFFFFF"/>
                </a:solidFill>
                <a:latin typeface="Calibri"/>
                <a:cs typeface="Calibri"/>
              </a:rPr>
              <a:t>5</a:t>
            </a:r>
            <a:endParaRPr sz="1800">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781800" y="3575922"/>
            <a:ext cx="4191000" cy="2720626"/>
          </a:xfrm>
          <a:prstGeom prst="rect">
            <a:avLst/>
          </a:prstGeom>
          <a:ln w="12700">
            <a:solidFill>
              <a:schemeClr val="tx1"/>
            </a:solidFill>
          </a:ln>
        </p:spPr>
      </p:pic>
      <p:sp>
        <p:nvSpPr>
          <p:cNvPr id="9" name="object 2">
            <a:extLst>
              <a:ext uri="{FF2B5EF4-FFF2-40B4-BE49-F238E27FC236}">
                <a16:creationId xmlns:a16="http://schemas.microsoft.com/office/drawing/2014/main" id="{87D9B64D-15B0-0475-EEC5-1E8267D95E6A}"/>
              </a:ext>
            </a:extLst>
          </p:cNvPr>
          <p:cNvSpPr txBox="1"/>
          <p:nvPr/>
        </p:nvSpPr>
        <p:spPr>
          <a:xfrm>
            <a:off x="11370829" y="6096000"/>
            <a:ext cx="273050" cy="254557"/>
          </a:xfrm>
          <a:prstGeom prst="rect">
            <a:avLst/>
          </a:prstGeom>
        </p:spPr>
        <p:txBody>
          <a:bodyPr vert="horz" wrap="square" lIns="0" tIns="15875" rIns="0" bIns="0" rtlCol="0">
            <a:spAutoFit/>
          </a:bodyPr>
          <a:lstStyle/>
          <a:p>
            <a:pPr marL="12700">
              <a:lnSpc>
                <a:spcPct val="100000"/>
              </a:lnSpc>
              <a:spcBef>
                <a:spcPts val="125"/>
              </a:spcBef>
            </a:pPr>
            <a:r>
              <a:rPr lang="en-GB" sz="1550" spc="80" dirty="0">
                <a:solidFill>
                  <a:srgbClr val="1C7CDB"/>
                </a:solidFill>
                <a:latin typeface="Microsoft Sans Serif"/>
                <a:cs typeface="Microsoft Sans Serif"/>
              </a:rPr>
              <a:t>45</a:t>
            </a:r>
            <a:endParaRPr sz="1550" dirty="0">
              <a:latin typeface="Microsoft Sans Serif"/>
              <a:cs typeface="Microsoft Sans Serif"/>
            </a:endParaRPr>
          </a:p>
        </p:txBody>
      </p:sp>
      <p:sp>
        <p:nvSpPr>
          <p:cNvPr id="12" name="Title 11">
            <a:extLst>
              <a:ext uri="{FF2B5EF4-FFF2-40B4-BE49-F238E27FC236}">
                <a16:creationId xmlns:a16="http://schemas.microsoft.com/office/drawing/2014/main" id="{84A2077E-2BD3-9789-0892-C31DB91B56FC}"/>
              </a:ext>
            </a:extLst>
          </p:cNvPr>
          <p:cNvSpPr>
            <a:spLocks noGrp="1"/>
          </p:cNvSpPr>
          <p:nvPr>
            <p:ph type="title"/>
          </p:nvPr>
        </p:nvSpPr>
        <p:spPr>
          <a:xfrm>
            <a:off x="849312" y="412368"/>
            <a:ext cx="10493375" cy="561692"/>
          </a:xfrm>
        </p:spPr>
        <p:txBody>
          <a:bodyPr/>
          <a:lstStyle/>
          <a:p>
            <a:r>
              <a:rPr lang="en-GB" dirty="0"/>
              <a:t>Model Benchmarking: Classification Accuracy</a:t>
            </a:r>
          </a:p>
        </p:txBody>
      </p:sp>
      <p:sp>
        <p:nvSpPr>
          <p:cNvPr id="13" name="Text Placeholder 12">
            <a:extLst>
              <a:ext uri="{FF2B5EF4-FFF2-40B4-BE49-F238E27FC236}">
                <a16:creationId xmlns:a16="http://schemas.microsoft.com/office/drawing/2014/main" id="{ABD5B609-1FD1-5F3F-E9CE-F586480D3B93}"/>
              </a:ext>
            </a:extLst>
          </p:cNvPr>
          <p:cNvSpPr>
            <a:spLocks noGrp="1"/>
          </p:cNvSpPr>
          <p:nvPr>
            <p:ph type="body" idx="1"/>
          </p:nvPr>
        </p:nvSpPr>
        <p:spPr>
          <a:xfrm>
            <a:off x="849312" y="1380810"/>
            <a:ext cx="5094288" cy="5170646"/>
          </a:xfrm>
        </p:spPr>
        <p:txBody>
          <a:bodyPr/>
          <a:lstStyle/>
          <a:p>
            <a:r>
              <a:rPr lang="en-GB" sz="1600" dirty="0"/>
              <a:t>To determine the most reliable method for predicting Falcon 9 landing success, we conducted a head-to-head comparison of four popular machine learning algorithms. The following results represent their predictive accuracy on the unseen test dataset.</a:t>
            </a:r>
          </a:p>
          <a:p>
            <a:endParaRPr lang="en-GB" sz="1600" dirty="0"/>
          </a:p>
          <a:p>
            <a:r>
              <a:rPr lang="en-GB" sz="1400" b="1" dirty="0"/>
              <a:t>Key Findings</a:t>
            </a:r>
          </a:p>
          <a:p>
            <a:endParaRPr lang="en-GB" sz="1400" b="1" dirty="0"/>
          </a:p>
          <a:p>
            <a:r>
              <a:rPr lang="en-GB" sz="1400" b="1" dirty="0"/>
              <a:t>Superior Performance:</a:t>
            </a:r>
            <a:r>
              <a:rPr lang="en-GB" sz="1400" dirty="0"/>
              <a:t> The </a:t>
            </a:r>
            <a:r>
              <a:rPr lang="en-GB" sz="1400" b="1" dirty="0"/>
              <a:t>Decision Tree</a:t>
            </a:r>
            <a:r>
              <a:rPr lang="en-GB" sz="1400" dirty="0"/>
              <a:t> model emerged as the clear champion, achieving a classification accuracy of </a:t>
            </a:r>
            <a:r>
              <a:rPr lang="en-GB" sz="1400" b="1" dirty="0"/>
              <a:t>0.9444</a:t>
            </a:r>
            <a:r>
              <a:rPr lang="en-GB" sz="1400" dirty="0"/>
              <a:t>. Its ability to handle non-linear relationships and feature interactions makes it the most effective tool for this specific mission recovery dataset.</a:t>
            </a:r>
          </a:p>
          <a:p>
            <a:endParaRPr lang="en-GB" sz="1400" dirty="0"/>
          </a:p>
          <a:p>
            <a:r>
              <a:rPr lang="en-GB" sz="1400" b="1" dirty="0"/>
              <a:t>Algorithm Consistency:</a:t>
            </a:r>
            <a:r>
              <a:rPr lang="en-GB" sz="1400" dirty="0"/>
              <a:t> Interestingly, </a:t>
            </a:r>
            <a:r>
              <a:rPr lang="en-GB" sz="1400" b="1" dirty="0"/>
              <a:t>Logistic Regression</a:t>
            </a:r>
            <a:r>
              <a:rPr lang="en-GB" sz="1400" dirty="0"/>
              <a:t>, </a:t>
            </a:r>
            <a:r>
              <a:rPr lang="en-GB" sz="1400" b="1" dirty="0"/>
              <a:t>SVM</a:t>
            </a:r>
            <a:r>
              <a:rPr lang="en-GB" sz="1400" dirty="0"/>
              <a:t>, and </a:t>
            </a:r>
            <a:r>
              <a:rPr lang="en-GB" sz="1400" b="1" dirty="0"/>
              <a:t>KNN</a:t>
            </a:r>
            <a:r>
              <a:rPr lang="en-GB" sz="1400" dirty="0"/>
              <a:t> all converged on an identical accuracy of </a:t>
            </a:r>
            <a:r>
              <a:rPr lang="en-GB" sz="1400" b="1" dirty="0"/>
              <a:t>0.8333</a:t>
            </a:r>
            <a:r>
              <a:rPr lang="en-GB" sz="1400" dirty="0"/>
              <a:t>. While these models provide a solid baseline, they were unable to match the nuanced predictive power of the Decision Tree architecture.</a:t>
            </a:r>
          </a:p>
          <a:p>
            <a:endParaRPr lang="en-GB" sz="1400" dirty="0"/>
          </a:p>
          <a:p>
            <a:r>
              <a:rPr lang="en-GB" sz="1400" b="1" dirty="0"/>
              <a:t>Strategic Implication:</a:t>
            </a:r>
            <a:r>
              <a:rPr lang="en-GB" sz="1400" dirty="0"/>
              <a:t> Given its high precision, the Decision Tree model should be the primary choice for stakeholders looking to estimate launch costs or assess competitive risks associated with SpaceX's booster reusability.</a:t>
            </a:r>
          </a:p>
          <a:p>
            <a:endParaRPr lang="en-GB" sz="1600" dirty="0"/>
          </a:p>
        </p:txBody>
      </p:sp>
      <p:graphicFrame>
        <p:nvGraphicFramePr>
          <p:cNvPr id="14" name="Table 13">
            <a:extLst>
              <a:ext uri="{FF2B5EF4-FFF2-40B4-BE49-F238E27FC236}">
                <a16:creationId xmlns:a16="http://schemas.microsoft.com/office/drawing/2014/main" id="{8FDD447F-51B3-81DE-8A28-581DF6C23EC3}"/>
              </a:ext>
            </a:extLst>
          </p:cNvPr>
          <p:cNvGraphicFramePr>
            <a:graphicFrameLocks noGrp="1"/>
          </p:cNvGraphicFramePr>
          <p:nvPr>
            <p:extLst>
              <p:ext uri="{D42A27DB-BD31-4B8C-83A1-F6EECF244321}">
                <p14:modId xmlns:p14="http://schemas.microsoft.com/office/powerpoint/2010/main" val="3221949972"/>
              </p:ext>
            </p:extLst>
          </p:nvPr>
        </p:nvGraphicFramePr>
        <p:xfrm>
          <a:off x="6934200" y="1219200"/>
          <a:ext cx="4343400" cy="1922214"/>
        </p:xfrm>
        <a:graphic>
          <a:graphicData uri="http://schemas.openxmlformats.org/drawingml/2006/table">
            <a:tbl>
              <a:tblPr/>
              <a:tblGrid>
                <a:gridCol w="1676400">
                  <a:extLst>
                    <a:ext uri="{9D8B030D-6E8A-4147-A177-3AD203B41FA5}">
                      <a16:colId xmlns:a16="http://schemas.microsoft.com/office/drawing/2014/main" val="3086515470"/>
                    </a:ext>
                  </a:extLst>
                </a:gridCol>
                <a:gridCol w="1219200">
                  <a:extLst>
                    <a:ext uri="{9D8B030D-6E8A-4147-A177-3AD203B41FA5}">
                      <a16:colId xmlns:a16="http://schemas.microsoft.com/office/drawing/2014/main" val="1652534132"/>
                    </a:ext>
                  </a:extLst>
                </a:gridCol>
                <a:gridCol w="1447800">
                  <a:extLst>
                    <a:ext uri="{9D8B030D-6E8A-4147-A177-3AD203B41FA5}">
                      <a16:colId xmlns:a16="http://schemas.microsoft.com/office/drawing/2014/main" val="3933915853"/>
                    </a:ext>
                  </a:extLst>
                </a:gridCol>
              </a:tblGrid>
              <a:tr h="457200">
                <a:tc>
                  <a:txBody>
                    <a:bodyPr/>
                    <a:lstStyle/>
                    <a:p>
                      <a:r>
                        <a:rPr lang="en-GB" sz="1300" dirty="0"/>
                        <a:t>Model</a:t>
                      </a:r>
                    </a:p>
                  </a:txBody>
                  <a:tcPr marL="67667" marR="67667" marT="33834" marB="33834" anchor="ctr">
                    <a:lnL>
                      <a:noFill/>
                    </a:lnL>
                    <a:lnR>
                      <a:noFill/>
                    </a:lnR>
                    <a:lnT>
                      <a:noFill/>
                    </a:lnT>
                    <a:lnB>
                      <a:noFill/>
                    </a:lnB>
                    <a:noFill/>
                  </a:tcPr>
                </a:tc>
                <a:tc>
                  <a:txBody>
                    <a:bodyPr/>
                    <a:lstStyle/>
                    <a:p>
                      <a:r>
                        <a:rPr lang="en-GB" sz="1300" dirty="0"/>
                        <a:t>Test Accuracy</a:t>
                      </a:r>
                    </a:p>
                  </a:txBody>
                  <a:tcPr marL="67667" marR="67667" marT="33834" marB="33834" anchor="ctr">
                    <a:lnL>
                      <a:noFill/>
                    </a:lnL>
                    <a:lnR>
                      <a:noFill/>
                    </a:lnR>
                    <a:lnT>
                      <a:noFill/>
                    </a:lnT>
                    <a:lnB>
                      <a:noFill/>
                    </a:lnB>
                    <a:noFill/>
                  </a:tcPr>
                </a:tc>
                <a:tc>
                  <a:txBody>
                    <a:bodyPr/>
                    <a:lstStyle/>
                    <a:p>
                      <a:r>
                        <a:rPr lang="en-GB" sz="1300"/>
                        <a:t>Rank</a:t>
                      </a:r>
                    </a:p>
                  </a:txBody>
                  <a:tcPr marL="67667" marR="67667" marT="33834" marB="33834" anchor="ctr">
                    <a:lnL>
                      <a:noFill/>
                    </a:lnL>
                    <a:lnR>
                      <a:noFill/>
                    </a:lnR>
                    <a:lnT>
                      <a:noFill/>
                    </a:lnT>
                    <a:lnB>
                      <a:noFill/>
                    </a:lnB>
                    <a:noFill/>
                  </a:tcPr>
                </a:tc>
                <a:extLst>
                  <a:ext uri="{0D108BD9-81ED-4DB2-BD59-A6C34878D82A}">
                    <a16:rowId xmlns:a16="http://schemas.microsoft.com/office/drawing/2014/main" val="2597359842"/>
                  </a:ext>
                </a:extLst>
              </a:tr>
              <a:tr h="268599">
                <a:tc>
                  <a:txBody>
                    <a:bodyPr/>
                    <a:lstStyle/>
                    <a:p>
                      <a:r>
                        <a:rPr lang="en-GB" sz="1300" b="1"/>
                        <a:t>Decision Tree</a:t>
                      </a:r>
                      <a:endParaRPr lang="en-GB" sz="1300"/>
                    </a:p>
                  </a:txBody>
                  <a:tcPr marL="67667" marR="67667" marT="33834" marB="33834" anchor="ctr">
                    <a:lnL>
                      <a:noFill/>
                    </a:lnL>
                    <a:lnR>
                      <a:noFill/>
                    </a:lnR>
                    <a:lnT>
                      <a:noFill/>
                    </a:lnT>
                    <a:lnB>
                      <a:noFill/>
                    </a:lnB>
                    <a:noFill/>
                  </a:tcPr>
                </a:tc>
                <a:tc>
                  <a:txBody>
                    <a:bodyPr/>
                    <a:lstStyle/>
                    <a:p>
                      <a:r>
                        <a:rPr lang="en-GB" sz="1300" b="1"/>
                        <a:t>94.44%</a:t>
                      </a:r>
                      <a:endParaRPr lang="en-GB" sz="1300"/>
                    </a:p>
                  </a:txBody>
                  <a:tcPr marL="67667" marR="67667" marT="33834" marB="33834" anchor="ctr">
                    <a:lnL>
                      <a:noFill/>
                    </a:lnL>
                    <a:lnR>
                      <a:noFill/>
                    </a:lnR>
                    <a:lnT>
                      <a:noFill/>
                    </a:lnT>
                    <a:lnB>
                      <a:noFill/>
                    </a:lnB>
                    <a:noFill/>
                  </a:tcPr>
                </a:tc>
                <a:tc>
                  <a:txBody>
                    <a:bodyPr/>
                    <a:lstStyle/>
                    <a:p>
                      <a:r>
                        <a:rPr lang="en-GB" sz="1300" b="1"/>
                        <a:t>1st</a:t>
                      </a:r>
                      <a:endParaRPr lang="en-GB" sz="1300"/>
                    </a:p>
                  </a:txBody>
                  <a:tcPr marL="67667" marR="67667" marT="33834" marB="33834" anchor="ctr">
                    <a:lnL>
                      <a:noFill/>
                    </a:lnL>
                    <a:lnR>
                      <a:noFill/>
                    </a:lnR>
                    <a:lnT>
                      <a:noFill/>
                    </a:lnT>
                    <a:lnB>
                      <a:noFill/>
                    </a:lnB>
                    <a:noFill/>
                  </a:tcPr>
                </a:tc>
                <a:extLst>
                  <a:ext uri="{0D108BD9-81ED-4DB2-BD59-A6C34878D82A}">
                    <a16:rowId xmlns:a16="http://schemas.microsoft.com/office/drawing/2014/main" val="1873716656"/>
                  </a:ext>
                </a:extLst>
              </a:tr>
              <a:tr h="268599">
                <a:tc>
                  <a:txBody>
                    <a:bodyPr/>
                    <a:lstStyle/>
                    <a:p>
                      <a:r>
                        <a:rPr lang="en-GB" sz="1300"/>
                        <a:t>Logistic Regression</a:t>
                      </a:r>
                    </a:p>
                  </a:txBody>
                  <a:tcPr marL="67667" marR="67667" marT="33834" marB="33834" anchor="ctr">
                    <a:lnL>
                      <a:noFill/>
                    </a:lnL>
                    <a:lnR>
                      <a:noFill/>
                    </a:lnR>
                    <a:lnT>
                      <a:noFill/>
                    </a:lnT>
                    <a:lnB>
                      <a:noFill/>
                    </a:lnB>
                    <a:noFill/>
                  </a:tcPr>
                </a:tc>
                <a:tc>
                  <a:txBody>
                    <a:bodyPr/>
                    <a:lstStyle/>
                    <a:p>
                      <a:r>
                        <a:rPr lang="en-GB" sz="1300"/>
                        <a:t>83.33%</a:t>
                      </a:r>
                    </a:p>
                  </a:txBody>
                  <a:tcPr marL="67667" marR="67667" marT="33834" marB="33834" anchor="ctr">
                    <a:lnL>
                      <a:noFill/>
                    </a:lnL>
                    <a:lnR>
                      <a:noFill/>
                    </a:lnR>
                    <a:lnT>
                      <a:noFill/>
                    </a:lnT>
                    <a:lnB>
                      <a:noFill/>
                    </a:lnB>
                    <a:noFill/>
                  </a:tcPr>
                </a:tc>
                <a:tc>
                  <a:txBody>
                    <a:bodyPr/>
                    <a:lstStyle/>
                    <a:p>
                      <a:r>
                        <a:rPr lang="en-GB" sz="1300"/>
                        <a:t>2nd (Tie)</a:t>
                      </a:r>
                    </a:p>
                  </a:txBody>
                  <a:tcPr marL="67667" marR="67667" marT="33834" marB="33834" anchor="ctr">
                    <a:lnL>
                      <a:noFill/>
                    </a:lnL>
                    <a:lnR>
                      <a:noFill/>
                    </a:lnR>
                    <a:lnT>
                      <a:noFill/>
                    </a:lnT>
                    <a:lnB>
                      <a:noFill/>
                    </a:lnB>
                    <a:noFill/>
                  </a:tcPr>
                </a:tc>
                <a:extLst>
                  <a:ext uri="{0D108BD9-81ED-4DB2-BD59-A6C34878D82A}">
                    <a16:rowId xmlns:a16="http://schemas.microsoft.com/office/drawing/2014/main" val="2395622915"/>
                  </a:ext>
                </a:extLst>
              </a:tr>
              <a:tr h="460360">
                <a:tc>
                  <a:txBody>
                    <a:bodyPr/>
                    <a:lstStyle/>
                    <a:p>
                      <a:r>
                        <a:rPr lang="en-GB" sz="1300"/>
                        <a:t>Support Vector Machine (SVM)</a:t>
                      </a:r>
                    </a:p>
                  </a:txBody>
                  <a:tcPr marL="67667" marR="67667" marT="33834" marB="33834" anchor="ctr">
                    <a:lnL>
                      <a:noFill/>
                    </a:lnL>
                    <a:lnR>
                      <a:noFill/>
                    </a:lnR>
                    <a:lnT>
                      <a:noFill/>
                    </a:lnT>
                    <a:lnB>
                      <a:noFill/>
                    </a:lnB>
                    <a:noFill/>
                  </a:tcPr>
                </a:tc>
                <a:tc>
                  <a:txBody>
                    <a:bodyPr/>
                    <a:lstStyle/>
                    <a:p>
                      <a:r>
                        <a:rPr lang="en-GB" sz="1300"/>
                        <a:t>83.33%</a:t>
                      </a:r>
                    </a:p>
                  </a:txBody>
                  <a:tcPr marL="67667" marR="67667" marT="33834" marB="33834" anchor="ctr">
                    <a:lnL>
                      <a:noFill/>
                    </a:lnL>
                    <a:lnR>
                      <a:noFill/>
                    </a:lnR>
                    <a:lnT>
                      <a:noFill/>
                    </a:lnT>
                    <a:lnB>
                      <a:noFill/>
                    </a:lnB>
                    <a:noFill/>
                  </a:tcPr>
                </a:tc>
                <a:tc>
                  <a:txBody>
                    <a:bodyPr/>
                    <a:lstStyle/>
                    <a:p>
                      <a:r>
                        <a:rPr lang="en-GB" sz="1300"/>
                        <a:t>2nd (Tie)</a:t>
                      </a:r>
                    </a:p>
                  </a:txBody>
                  <a:tcPr marL="67667" marR="67667" marT="33834" marB="33834" anchor="ctr">
                    <a:lnL>
                      <a:noFill/>
                    </a:lnL>
                    <a:lnR>
                      <a:noFill/>
                    </a:lnR>
                    <a:lnT>
                      <a:noFill/>
                    </a:lnT>
                    <a:lnB>
                      <a:noFill/>
                    </a:lnB>
                    <a:noFill/>
                  </a:tcPr>
                </a:tc>
                <a:extLst>
                  <a:ext uri="{0D108BD9-81ED-4DB2-BD59-A6C34878D82A}">
                    <a16:rowId xmlns:a16="http://schemas.microsoft.com/office/drawing/2014/main" val="1791137150"/>
                  </a:ext>
                </a:extLst>
              </a:tr>
              <a:tr h="460360">
                <a:tc>
                  <a:txBody>
                    <a:bodyPr/>
                    <a:lstStyle/>
                    <a:p>
                      <a:r>
                        <a:rPr lang="en-GB" sz="1300"/>
                        <a:t>K-Nearest Neighbors (KNN)</a:t>
                      </a:r>
                    </a:p>
                  </a:txBody>
                  <a:tcPr marL="67667" marR="67667" marT="33834" marB="33834" anchor="ctr">
                    <a:lnL>
                      <a:noFill/>
                    </a:lnL>
                    <a:lnR>
                      <a:noFill/>
                    </a:lnR>
                    <a:lnT>
                      <a:noFill/>
                    </a:lnT>
                    <a:lnB>
                      <a:noFill/>
                    </a:lnB>
                    <a:noFill/>
                  </a:tcPr>
                </a:tc>
                <a:tc>
                  <a:txBody>
                    <a:bodyPr/>
                    <a:lstStyle/>
                    <a:p>
                      <a:r>
                        <a:rPr lang="en-GB" sz="1300"/>
                        <a:t>83.33%</a:t>
                      </a:r>
                    </a:p>
                  </a:txBody>
                  <a:tcPr marL="67667" marR="67667" marT="33834" marB="33834" anchor="ctr">
                    <a:lnL>
                      <a:noFill/>
                    </a:lnL>
                    <a:lnR>
                      <a:noFill/>
                    </a:lnR>
                    <a:lnT>
                      <a:noFill/>
                    </a:lnT>
                    <a:lnB>
                      <a:noFill/>
                    </a:lnB>
                    <a:noFill/>
                  </a:tcPr>
                </a:tc>
                <a:tc>
                  <a:txBody>
                    <a:bodyPr/>
                    <a:lstStyle/>
                    <a:p>
                      <a:r>
                        <a:rPr lang="en-GB" sz="1300" dirty="0"/>
                        <a:t>2nd (Tie)</a:t>
                      </a:r>
                    </a:p>
                  </a:txBody>
                  <a:tcPr marL="67667" marR="67667" marT="33834" marB="33834" anchor="ctr">
                    <a:lnL>
                      <a:noFill/>
                    </a:lnL>
                    <a:lnR>
                      <a:noFill/>
                    </a:lnR>
                    <a:lnT>
                      <a:noFill/>
                    </a:lnT>
                    <a:lnB>
                      <a:noFill/>
                    </a:lnB>
                    <a:noFill/>
                  </a:tcPr>
                </a:tc>
                <a:extLst>
                  <a:ext uri="{0D108BD9-81ED-4DB2-BD59-A6C34878D82A}">
                    <a16:rowId xmlns:a16="http://schemas.microsoft.com/office/drawing/2014/main" val="4045123413"/>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78484" y="1371187"/>
            <a:ext cx="5688965" cy="4160754"/>
          </a:xfrm>
          <a:prstGeom prst="rect">
            <a:avLst/>
          </a:prstGeom>
        </p:spPr>
        <p:txBody>
          <a:bodyPr vert="horz" wrap="square" lIns="0" tIns="158115" rIns="0" bIns="0" rtlCol="0">
            <a:spAutoFit/>
          </a:bodyPr>
          <a:lstStyle/>
          <a:p>
            <a:r>
              <a:rPr lang="en-GB" sz="1300" b="1" dirty="0">
                <a:latin typeface="+mn-lt"/>
              </a:rPr>
              <a:t>Key Metrics and Insights</a:t>
            </a:r>
          </a:p>
          <a:p>
            <a:endParaRPr lang="en-GB" sz="1300" b="1" dirty="0">
              <a:latin typeface="+mn-lt"/>
            </a:endParaRPr>
          </a:p>
          <a:p>
            <a:r>
              <a:rPr lang="en-GB" sz="1300" b="1" dirty="0">
                <a:latin typeface="+mn-lt"/>
              </a:rPr>
              <a:t>Exceptional Precision (94.44% Accuracy):</a:t>
            </a:r>
            <a:r>
              <a:rPr lang="en-GB" sz="1300" dirty="0">
                <a:latin typeface="+mn-lt"/>
              </a:rPr>
              <a:t> The model correctly identified nearly all mission outcomes, with a strong volume of </a:t>
            </a:r>
            <a:r>
              <a:rPr lang="en-GB" sz="1300" b="1" dirty="0">
                <a:latin typeface="+mn-lt"/>
              </a:rPr>
              <a:t>True Positives</a:t>
            </a:r>
            <a:r>
              <a:rPr lang="en-GB" sz="1300" dirty="0">
                <a:latin typeface="+mn-lt"/>
              </a:rPr>
              <a:t> (12 successful landings correctly predicted) and </a:t>
            </a:r>
            <a:r>
              <a:rPr lang="en-GB" sz="1300" b="1" dirty="0">
                <a:latin typeface="+mn-lt"/>
              </a:rPr>
              <a:t>True Negatives</a:t>
            </a:r>
            <a:r>
              <a:rPr lang="en-GB" sz="1300" dirty="0">
                <a:latin typeface="+mn-lt"/>
              </a:rPr>
              <a:t> (5 failed landings correctly predicted).</a:t>
            </a:r>
          </a:p>
          <a:p>
            <a:r>
              <a:rPr lang="en-GB" sz="1300" b="1" dirty="0">
                <a:latin typeface="+mn-lt"/>
              </a:rPr>
              <a:t>Zero False Negatives:</a:t>
            </a:r>
            <a:r>
              <a:rPr lang="en-GB" sz="1300" dirty="0">
                <a:latin typeface="+mn-lt"/>
              </a:rPr>
              <a:t> This is a standout result. Every actual successful landing was accurately captured by the model. In the aerospace industry, avoiding false negatives is vital for operational readiness and safety, as it ensures no recovery opportunity is overlooked.</a:t>
            </a:r>
          </a:p>
          <a:p>
            <a:r>
              <a:rPr lang="en-GB" sz="1300" b="1" dirty="0">
                <a:latin typeface="+mn-lt"/>
              </a:rPr>
              <a:t>Minimal False Positives:</a:t>
            </a:r>
            <a:r>
              <a:rPr lang="en-GB" sz="1300" dirty="0">
                <a:latin typeface="+mn-lt"/>
              </a:rPr>
              <a:t> The model recorded only </a:t>
            </a:r>
            <a:r>
              <a:rPr lang="en-GB" sz="1300" b="1" dirty="0">
                <a:latin typeface="+mn-lt"/>
              </a:rPr>
              <a:t>one</a:t>
            </a:r>
            <a:r>
              <a:rPr lang="en-GB" sz="1300" dirty="0">
                <a:latin typeface="+mn-lt"/>
              </a:rPr>
              <a:t> false positive (predicting a success that was actually a failure). From a business perspective, a false positive is far more manageable than a false negative; it results in "over-preparedness" rather than "under-preparedness," which is a safer margin for cost estimation and planning.</a:t>
            </a:r>
          </a:p>
          <a:p>
            <a:r>
              <a:rPr lang="en-GB" sz="1300" b="1" dirty="0">
                <a:latin typeface="+mn-lt"/>
              </a:rPr>
              <a:t>Optimized for Industry Needs:</a:t>
            </a:r>
            <a:r>
              <a:rPr lang="en-GB" sz="1300" dirty="0">
                <a:latin typeface="+mn-lt"/>
              </a:rPr>
              <a:t> The model shows a balanced performance with a slight bias toward predicting success. This aligns perfectly with the practical needs of the aerospace sector, where confirming the viability of a landing is the primary driver for mission bidding and economic forecasting.</a:t>
            </a:r>
          </a:p>
          <a:p>
            <a:endParaRPr lang="en-GB" sz="1300" dirty="0">
              <a:latin typeface="+mn-lt"/>
            </a:endParaRPr>
          </a:p>
          <a:p>
            <a:r>
              <a:rPr lang="en-GB" sz="1300" b="1" dirty="0">
                <a:latin typeface="+mn-lt"/>
              </a:rPr>
              <a:t>Matrix Breakdown</a:t>
            </a:r>
          </a:p>
        </p:txBody>
      </p:sp>
      <p:pic>
        <p:nvPicPr>
          <p:cNvPr id="5" name="object 5"/>
          <p:cNvPicPr/>
          <p:nvPr/>
        </p:nvPicPr>
        <p:blipFill>
          <a:blip r:embed="rId2" cstate="print"/>
          <a:stretch>
            <a:fillRect/>
          </a:stretch>
        </p:blipFill>
        <p:spPr>
          <a:xfrm>
            <a:off x="6762750" y="1809750"/>
            <a:ext cx="4819650" cy="4114800"/>
          </a:xfrm>
          <a:prstGeom prst="rect">
            <a:avLst/>
          </a:prstGeom>
          <a:ln>
            <a:solidFill>
              <a:schemeClr val="tx1"/>
            </a:solidFill>
          </a:ln>
        </p:spPr>
      </p:pic>
      <p:sp>
        <p:nvSpPr>
          <p:cNvPr id="6" name="object 2">
            <a:extLst>
              <a:ext uri="{FF2B5EF4-FFF2-40B4-BE49-F238E27FC236}">
                <a16:creationId xmlns:a16="http://schemas.microsoft.com/office/drawing/2014/main" id="{50759216-C440-6F5B-C803-8D88B5E25F3D}"/>
              </a:ext>
            </a:extLst>
          </p:cNvPr>
          <p:cNvSpPr txBox="1"/>
          <p:nvPr/>
        </p:nvSpPr>
        <p:spPr>
          <a:xfrm>
            <a:off x="11370829" y="6096000"/>
            <a:ext cx="273050" cy="254557"/>
          </a:xfrm>
          <a:prstGeom prst="rect">
            <a:avLst/>
          </a:prstGeom>
        </p:spPr>
        <p:txBody>
          <a:bodyPr vert="horz" wrap="square" lIns="0" tIns="15875" rIns="0" bIns="0" rtlCol="0">
            <a:spAutoFit/>
          </a:bodyPr>
          <a:lstStyle/>
          <a:p>
            <a:pPr marL="12700">
              <a:lnSpc>
                <a:spcPct val="100000"/>
              </a:lnSpc>
              <a:spcBef>
                <a:spcPts val="125"/>
              </a:spcBef>
            </a:pPr>
            <a:r>
              <a:rPr lang="en-GB" sz="1550" spc="80" dirty="0">
                <a:solidFill>
                  <a:srgbClr val="1C7CDB"/>
                </a:solidFill>
                <a:latin typeface="Microsoft Sans Serif"/>
                <a:cs typeface="Microsoft Sans Serif"/>
              </a:rPr>
              <a:t>46</a:t>
            </a:r>
            <a:endParaRPr sz="1550" dirty="0">
              <a:latin typeface="Microsoft Sans Serif"/>
              <a:cs typeface="Microsoft Sans Serif"/>
            </a:endParaRPr>
          </a:p>
        </p:txBody>
      </p:sp>
      <p:sp>
        <p:nvSpPr>
          <p:cNvPr id="8" name="Title 7">
            <a:extLst>
              <a:ext uri="{FF2B5EF4-FFF2-40B4-BE49-F238E27FC236}">
                <a16:creationId xmlns:a16="http://schemas.microsoft.com/office/drawing/2014/main" id="{D0658334-E8C6-74A2-1062-3222A3F75760}"/>
              </a:ext>
            </a:extLst>
          </p:cNvPr>
          <p:cNvSpPr>
            <a:spLocks noGrp="1"/>
          </p:cNvSpPr>
          <p:nvPr>
            <p:ph type="title"/>
          </p:nvPr>
        </p:nvSpPr>
        <p:spPr>
          <a:xfrm>
            <a:off x="849312" y="412368"/>
            <a:ext cx="10493375" cy="561692"/>
          </a:xfrm>
        </p:spPr>
        <p:txBody>
          <a:bodyPr/>
          <a:lstStyle/>
          <a:p>
            <a:r>
              <a:rPr lang="fr-FR" dirty="0"/>
              <a:t>Model Performance: Confusion Matrix </a:t>
            </a:r>
            <a:r>
              <a:rPr lang="fr-FR" dirty="0" err="1"/>
              <a:t>Analysis</a:t>
            </a:r>
            <a:endParaRPr lang="en-GB" dirty="0"/>
          </a:p>
        </p:txBody>
      </p:sp>
      <p:graphicFrame>
        <p:nvGraphicFramePr>
          <p:cNvPr id="9" name="Table 8">
            <a:extLst>
              <a:ext uri="{FF2B5EF4-FFF2-40B4-BE49-F238E27FC236}">
                <a16:creationId xmlns:a16="http://schemas.microsoft.com/office/drawing/2014/main" id="{9F2FE30C-33A9-AC3F-06EF-9294445B2C99}"/>
              </a:ext>
            </a:extLst>
          </p:cNvPr>
          <p:cNvGraphicFramePr>
            <a:graphicFrameLocks noGrp="1"/>
          </p:cNvGraphicFramePr>
          <p:nvPr>
            <p:extLst>
              <p:ext uri="{D42A27DB-BD31-4B8C-83A1-F6EECF244321}">
                <p14:modId xmlns:p14="http://schemas.microsoft.com/office/powerpoint/2010/main" val="3628166969"/>
              </p:ext>
            </p:extLst>
          </p:nvPr>
        </p:nvGraphicFramePr>
        <p:xfrm>
          <a:off x="609600" y="5620044"/>
          <a:ext cx="5719329" cy="609012"/>
        </p:xfrm>
        <a:graphic>
          <a:graphicData uri="http://schemas.openxmlformats.org/drawingml/2006/table">
            <a:tbl>
              <a:tblPr/>
              <a:tblGrid>
                <a:gridCol w="1906443">
                  <a:extLst>
                    <a:ext uri="{9D8B030D-6E8A-4147-A177-3AD203B41FA5}">
                      <a16:colId xmlns:a16="http://schemas.microsoft.com/office/drawing/2014/main" val="3015129364"/>
                    </a:ext>
                  </a:extLst>
                </a:gridCol>
                <a:gridCol w="1906443">
                  <a:extLst>
                    <a:ext uri="{9D8B030D-6E8A-4147-A177-3AD203B41FA5}">
                      <a16:colId xmlns:a16="http://schemas.microsoft.com/office/drawing/2014/main" val="289312039"/>
                    </a:ext>
                  </a:extLst>
                </a:gridCol>
                <a:gridCol w="1906443">
                  <a:extLst>
                    <a:ext uri="{9D8B030D-6E8A-4147-A177-3AD203B41FA5}">
                      <a16:colId xmlns:a16="http://schemas.microsoft.com/office/drawing/2014/main" val="2360964669"/>
                    </a:ext>
                  </a:extLst>
                </a:gridCol>
              </a:tblGrid>
              <a:tr h="202417">
                <a:tc>
                  <a:txBody>
                    <a:bodyPr/>
                    <a:lstStyle/>
                    <a:p>
                      <a:endParaRPr lang="en-GB" sz="1000"/>
                    </a:p>
                  </a:txBody>
                  <a:tcPr marL="50604" marR="50604" marT="25302" marB="25302" anchor="ctr">
                    <a:lnL>
                      <a:noFill/>
                    </a:lnL>
                    <a:lnR>
                      <a:noFill/>
                    </a:lnR>
                    <a:lnT>
                      <a:noFill/>
                    </a:lnT>
                    <a:lnB>
                      <a:noFill/>
                    </a:lnB>
                    <a:noFill/>
                  </a:tcPr>
                </a:tc>
                <a:tc>
                  <a:txBody>
                    <a:bodyPr/>
                    <a:lstStyle/>
                    <a:p>
                      <a:r>
                        <a:rPr lang="en-GB" sz="1000"/>
                        <a:t>Predicted: Did Not Land</a:t>
                      </a:r>
                    </a:p>
                  </a:txBody>
                  <a:tcPr marL="50604" marR="50604" marT="25302" marB="25302" anchor="ctr">
                    <a:lnL>
                      <a:noFill/>
                    </a:lnL>
                    <a:lnR>
                      <a:noFill/>
                    </a:lnR>
                    <a:lnT>
                      <a:noFill/>
                    </a:lnT>
                    <a:lnB>
                      <a:noFill/>
                    </a:lnB>
                    <a:noFill/>
                  </a:tcPr>
                </a:tc>
                <a:tc>
                  <a:txBody>
                    <a:bodyPr/>
                    <a:lstStyle/>
                    <a:p>
                      <a:r>
                        <a:rPr lang="en-GB" sz="1000"/>
                        <a:t>Predicted: Landed</a:t>
                      </a:r>
                    </a:p>
                  </a:txBody>
                  <a:tcPr marL="50604" marR="50604" marT="25302" marB="25302" anchor="ctr">
                    <a:lnL>
                      <a:noFill/>
                    </a:lnL>
                    <a:lnR>
                      <a:noFill/>
                    </a:lnR>
                    <a:lnT>
                      <a:noFill/>
                    </a:lnT>
                    <a:lnB>
                      <a:noFill/>
                    </a:lnB>
                    <a:noFill/>
                  </a:tcPr>
                </a:tc>
                <a:extLst>
                  <a:ext uri="{0D108BD9-81ED-4DB2-BD59-A6C34878D82A}">
                    <a16:rowId xmlns:a16="http://schemas.microsoft.com/office/drawing/2014/main" val="528438928"/>
                  </a:ext>
                </a:extLst>
              </a:tr>
              <a:tr h="202417">
                <a:tc>
                  <a:txBody>
                    <a:bodyPr/>
                    <a:lstStyle/>
                    <a:p>
                      <a:r>
                        <a:rPr lang="en-GB" sz="1000" b="1"/>
                        <a:t>Actual: Did Not Land</a:t>
                      </a:r>
                      <a:endParaRPr lang="en-GB" sz="1000"/>
                    </a:p>
                  </a:txBody>
                  <a:tcPr marL="50604" marR="50604" marT="25302" marB="25302" anchor="ctr">
                    <a:lnL>
                      <a:noFill/>
                    </a:lnL>
                    <a:lnR>
                      <a:noFill/>
                    </a:lnR>
                    <a:lnT>
                      <a:noFill/>
                    </a:lnT>
                    <a:lnB>
                      <a:noFill/>
                    </a:lnB>
                    <a:noFill/>
                  </a:tcPr>
                </a:tc>
                <a:tc>
                  <a:txBody>
                    <a:bodyPr/>
                    <a:lstStyle/>
                    <a:p>
                      <a:r>
                        <a:rPr lang="en-GB" sz="1000"/>
                        <a:t>5 (True Negative)</a:t>
                      </a:r>
                    </a:p>
                  </a:txBody>
                  <a:tcPr marL="50604" marR="50604" marT="25302" marB="25302" anchor="ctr">
                    <a:lnL>
                      <a:noFill/>
                    </a:lnL>
                    <a:lnR>
                      <a:noFill/>
                    </a:lnR>
                    <a:lnT>
                      <a:noFill/>
                    </a:lnT>
                    <a:lnB>
                      <a:noFill/>
                    </a:lnB>
                    <a:noFill/>
                  </a:tcPr>
                </a:tc>
                <a:tc>
                  <a:txBody>
                    <a:bodyPr/>
                    <a:lstStyle/>
                    <a:p>
                      <a:r>
                        <a:rPr lang="en-GB" sz="1000"/>
                        <a:t>1 (False Positive)</a:t>
                      </a:r>
                    </a:p>
                  </a:txBody>
                  <a:tcPr marL="50604" marR="50604" marT="25302" marB="25302" anchor="ctr">
                    <a:lnL>
                      <a:noFill/>
                    </a:lnL>
                    <a:lnR>
                      <a:noFill/>
                    </a:lnR>
                    <a:lnT>
                      <a:noFill/>
                    </a:lnT>
                    <a:lnB>
                      <a:noFill/>
                    </a:lnB>
                    <a:noFill/>
                  </a:tcPr>
                </a:tc>
                <a:extLst>
                  <a:ext uri="{0D108BD9-81ED-4DB2-BD59-A6C34878D82A}">
                    <a16:rowId xmlns:a16="http://schemas.microsoft.com/office/drawing/2014/main" val="3780219478"/>
                  </a:ext>
                </a:extLst>
              </a:tr>
              <a:tr h="202417">
                <a:tc>
                  <a:txBody>
                    <a:bodyPr/>
                    <a:lstStyle/>
                    <a:p>
                      <a:r>
                        <a:rPr lang="en-GB" sz="1000" b="1"/>
                        <a:t>Actual: Landed</a:t>
                      </a:r>
                      <a:endParaRPr lang="en-GB" sz="1000"/>
                    </a:p>
                  </a:txBody>
                  <a:tcPr marL="50604" marR="50604" marT="25302" marB="25302" anchor="ctr">
                    <a:lnL>
                      <a:noFill/>
                    </a:lnL>
                    <a:lnR>
                      <a:noFill/>
                    </a:lnR>
                    <a:lnT>
                      <a:noFill/>
                    </a:lnT>
                    <a:lnB>
                      <a:noFill/>
                    </a:lnB>
                    <a:noFill/>
                  </a:tcPr>
                </a:tc>
                <a:tc>
                  <a:txBody>
                    <a:bodyPr/>
                    <a:lstStyle/>
                    <a:p>
                      <a:r>
                        <a:rPr lang="en-GB" sz="1000"/>
                        <a:t>0 (False Negative)</a:t>
                      </a:r>
                    </a:p>
                  </a:txBody>
                  <a:tcPr marL="50604" marR="50604" marT="25302" marB="25302" anchor="ctr">
                    <a:lnL>
                      <a:noFill/>
                    </a:lnL>
                    <a:lnR>
                      <a:noFill/>
                    </a:lnR>
                    <a:lnT>
                      <a:noFill/>
                    </a:lnT>
                    <a:lnB>
                      <a:noFill/>
                    </a:lnB>
                    <a:noFill/>
                  </a:tcPr>
                </a:tc>
                <a:tc>
                  <a:txBody>
                    <a:bodyPr/>
                    <a:lstStyle/>
                    <a:p>
                      <a:r>
                        <a:rPr lang="en-GB" sz="1000" dirty="0"/>
                        <a:t>12 (True Positive)</a:t>
                      </a:r>
                    </a:p>
                  </a:txBody>
                  <a:tcPr marL="50604" marR="50604" marT="25302" marB="25302" anchor="ctr">
                    <a:lnL>
                      <a:noFill/>
                    </a:lnL>
                    <a:lnR>
                      <a:noFill/>
                    </a:lnR>
                    <a:lnT>
                      <a:noFill/>
                    </a:lnT>
                    <a:lnB>
                      <a:noFill/>
                    </a:lnB>
                    <a:noFill/>
                  </a:tcPr>
                </a:tc>
                <a:extLst>
                  <a:ext uri="{0D108BD9-81ED-4DB2-BD59-A6C34878D82A}">
                    <a16:rowId xmlns:a16="http://schemas.microsoft.com/office/drawing/2014/main" val="3667855179"/>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250CABB6-FAC1-B2D8-9B14-F01C35198E2B}"/>
              </a:ext>
            </a:extLst>
          </p:cNvPr>
          <p:cNvSpPr txBox="1"/>
          <p:nvPr/>
        </p:nvSpPr>
        <p:spPr>
          <a:xfrm>
            <a:off x="11370829" y="6096000"/>
            <a:ext cx="273050" cy="254557"/>
          </a:xfrm>
          <a:prstGeom prst="rect">
            <a:avLst/>
          </a:prstGeom>
        </p:spPr>
        <p:txBody>
          <a:bodyPr vert="horz" wrap="square" lIns="0" tIns="15875" rIns="0" bIns="0" rtlCol="0">
            <a:spAutoFit/>
          </a:bodyPr>
          <a:lstStyle/>
          <a:p>
            <a:pPr marL="12700">
              <a:lnSpc>
                <a:spcPct val="100000"/>
              </a:lnSpc>
              <a:spcBef>
                <a:spcPts val="125"/>
              </a:spcBef>
            </a:pPr>
            <a:r>
              <a:rPr lang="en-GB" sz="1550" spc="80" dirty="0">
                <a:solidFill>
                  <a:srgbClr val="1C7CDB"/>
                </a:solidFill>
                <a:latin typeface="Microsoft Sans Serif"/>
                <a:cs typeface="Microsoft Sans Serif"/>
              </a:rPr>
              <a:t>47</a:t>
            </a:r>
            <a:endParaRPr sz="1550" dirty="0">
              <a:latin typeface="Microsoft Sans Serif"/>
              <a:cs typeface="Microsoft Sans Serif"/>
            </a:endParaRPr>
          </a:p>
        </p:txBody>
      </p:sp>
      <p:sp>
        <p:nvSpPr>
          <p:cNvPr id="8" name="Title 7">
            <a:extLst>
              <a:ext uri="{FF2B5EF4-FFF2-40B4-BE49-F238E27FC236}">
                <a16:creationId xmlns:a16="http://schemas.microsoft.com/office/drawing/2014/main" id="{2437D0F4-6D4A-1D42-AE29-E76362DDD8F7}"/>
              </a:ext>
            </a:extLst>
          </p:cNvPr>
          <p:cNvSpPr>
            <a:spLocks noGrp="1"/>
          </p:cNvSpPr>
          <p:nvPr>
            <p:ph type="title"/>
          </p:nvPr>
        </p:nvSpPr>
        <p:spPr>
          <a:xfrm>
            <a:off x="849312" y="412368"/>
            <a:ext cx="10493375" cy="1123384"/>
          </a:xfrm>
        </p:spPr>
        <p:txBody>
          <a:bodyPr/>
          <a:lstStyle/>
          <a:p>
            <a:r>
              <a:rPr lang="en-GB" dirty="0"/>
              <a:t>Project Conclusions</a:t>
            </a:r>
            <a:br>
              <a:rPr lang="en-GB" dirty="0"/>
            </a:br>
            <a:endParaRPr lang="en-GB" dirty="0"/>
          </a:p>
        </p:txBody>
      </p:sp>
      <p:sp>
        <p:nvSpPr>
          <p:cNvPr id="9" name="Content Placeholder 8">
            <a:extLst>
              <a:ext uri="{FF2B5EF4-FFF2-40B4-BE49-F238E27FC236}">
                <a16:creationId xmlns:a16="http://schemas.microsoft.com/office/drawing/2014/main" id="{F7E85A93-4918-7D8E-2387-D516EB538933}"/>
              </a:ext>
            </a:extLst>
          </p:cNvPr>
          <p:cNvSpPr>
            <a:spLocks noGrp="1"/>
          </p:cNvSpPr>
          <p:nvPr>
            <p:ph sz="half" idx="2"/>
          </p:nvPr>
        </p:nvSpPr>
        <p:spPr>
          <a:xfrm>
            <a:off x="849312" y="1445597"/>
            <a:ext cx="5260975" cy="4955203"/>
          </a:xfrm>
        </p:spPr>
        <p:txBody>
          <a:bodyPr/>
          <a:lstStyle/>
          <a:p>
            <a:r>
              <a:rPr lang="en-GB" b="1" dirty="0"/>
              <a:t>Key Analytical Takeaways</a:t>
            </a:r>
          </a:p>
          <a:p>
            <a:endParaRPr lang="en-GB" b="1" dirty="0"/>
          </a:p>
          <a:p>
            <a:r>
              <a:rPr lang="en-GB" b="1" dirty="0"/>
              <a:t>Geographical Dominance:</a:t>
            </a:r>
            <a:r>
              <a:rPr lang="en-GB" dirty="0"/>
              <a:t> The </a:t>
            </a:r>
            <a:r>
              <a:rPr lang="en-GB" b="1" dirty="0"/>
              <a:t>CCAFS LC-40</a:t>
            </a:r>
            <a:r>
              <a:rPr lang="en-GB" dirty="0"/>
              <a:t> launch site emerged as the most successful facility, contributing to </a:t>
            </a:r>
            <a:r>
              <a:rPr lang="en-GB" b="1" dirty="0"/>
              <a:t>43.7%</a:t>
            </a:r>
            <a:r>
              <a:rPr lang="en-GB" dirty="0"/>
              <a:t> of all recorded landing successes. This indicates that the site’s specific operational workflows and environmental conditions are highly optimized for booster recovery.</a:t>
            </a:r>
          </a:p>
          <a:p>
            <a:endParaRPr lang="en-GB" dirty="0"/>
          </a:p>
          <a:p>
            <a:r>
              <a:rPr lang="en-GB" b="1" dirty="0"/>
              <a:t>Booster Reliability:</a:t>
            </a:r>
            <a:r>
              <a:rPr lang="en-GB" dirty="0"/>
              <a:t> The </a:t>
            </a:r>
            <a:r>
              <a:rPr lang="en-GB" b="1" dirty="0"/>
              <a:t>"FT" (Full Thrust)</a:t>
            </a:r>
            <a:r>
              <a:rPr lang="en-GB" dirty="0"/>
              <a:t> booster version demonstrated superior robustness. Analysis shows it maintains a high success rate across a wide range of payload masses, establishing it as the most reliable hardware iteration for sustainable reusability.</a:t>
            </a:r>
          </a:p>
          <a:p>
            <a:endParaRPr lang="en-GB" dirty="0"/>
          </a:p>
          <a:p>
            <a:r>
              <a:rPr lang="en-GB" b="1" dirty="0"/>
              <a:t>Variable Significance:</a:t>
            </a:r>
            <a:r>
              <a:rPr lang="en-GB" dirty="0"/>
              <a:t> Contrary to initial assumptions, </a:t>
            </a:r>
            <a:r>
              <a:rPr lang="en-GB" b="1" dirty="0"/>
              <a:t>payload mass</a:t>
            </a:r>
            <a:r>
              <a:rPr lang="en-GB" dirty="0"/>
              <a:t> does not exhibit a clear inverse correlation with landing success. Instead, the data suggests that </a:t>
            </a:r>
            <a:r>
              <a:rPr lang="en-GB" b="1" dirty="0"/>
              <a:t>booster version</a:t>
            </a:r>
            <a:r>
              <a:rPr lang="en-GB" dirty="0"/>
              <a:t> and </a:t>
            </a:r>
            <a:r>
              <a:rPr lang="en-GB" b="1" dirty="0"/>
              <a:t>launch site conditions</a:t>
            </a:r>
            <a:r>
              <a:rPr lang="en-GB" dirty="0"/>
              <a:t> are far more influential in determining a mission's recovery outcome.</a:t>
            </a:r>
          </a:p>
          <a:p>
            <a:endParaRPr lang="en-GB" dirty="0"/>
          </a:p>
          <a:p>
            <a:r>
              <a:rPr lang="en-GB" b="1" dirty="0"/>
              <a:t>Visualization Value:</a:t>
            </a:r>
            <a:r>
              <a:rPr lang="en-GB" dirty="0"/>
              <a:t> The deployment of interactive tools like </a:t>
            </a:r>
            <a:r>
              <a:rPr lang="en-GB" b="1" dirty="0"/>
              <a:t>Folium</a:t>
            </a:r>
            <a:r>
              <a:rPr lang="en-GB" dirty="0"/>
              <a:t> and </a:t>
            </a:r>
            <a:r>
              <a:rPr lang="en-GB" b="1" dirty="0" err="1"/>
              <a:t>Plotly</a:t>
            </a:r>
            <a:r>
              <a:rPr lang="en-GB" b="1" dirty="0"/>
              <a:t> Dash</a:t>
            </a:r>
            <a:r>
              <a:rPr lang="en-GB" dirty="0"/>
              <a:t> proved essential for uncovering complex geospatial and operational patterns. These visual frameworks allow stakeholders to move beyond raw numbers to gain intuitive, actionable insights.</a:t>
            </a:r>
          </a:p>
          <a:p>
            <a:endParaRPr lang="en-GB" dirty="0"/>
          </a:p>
        </p:txBody>
      </p:sp>
      <p:sp>
        <p:nvSpPr>
          <p:cNvPr id="10" name="Content Placeholder 9">
            <a:extLst>
              <a:ext uri="{FF2B5EF4-FFF2-40B4-BE49-F238E27FC236}">
                <a16:creationId xmlns:a16="http://schemas.microsoft.com/office/drawing/2014/main" id="{4FFF3749-8578-B03C-8C3C-5F9F98DD340E}"/>
              </a:ext>
            </a:extLst>
          </p:cNvPr>
          <p:cNvSpPr>
            <a:spLocks noGrp="1"/>
          </p:cNvSpPr>
          <p:nvPr>
            <p:ph sz="half" idx="3"/>
          </p:nvPr>
        </p:nvSpPr>
        <p:spPr>
          <a:xfrm>
            <a:off x="6683895" y="2590800"/>
            <a:ext cx="4798059" cy="2369880"/>
          </a:xfrm>
        </p:spPr>
        <p:txBody>
          <a:bodyPr/>
          <a:lstStyle/>
          <a:p>
            <a:r>
              <a:rPr lang="en-GB" b="1" dirty="0"/>
              <a:t>Final Summary</a:t>
            </a:r>
          </a:p>
          <a:p>
            <a:endParaRPr lang="en-GB" b="1" dirty="0"/>
          </a:p>
          <a:p>
            <a:r>
              <a:rPr lang="en-GB" dirty="0"/>
              <a:t>Our predictive analysis and visual discovery pipeline have established a robust framework for assessing aerospace risk and mission viability. By isolating the technical and geographical drivers of success, these insights provide a strategic roadmap for improving launch strategies and further decreasing the costs associated with reusable rocket technology. The transition from experimental recovery to a data-driven, high-precision operation is a cornerstone of the modern aerospace industry.</a:t>
            </a:r>
          </a:p>
          <a:p>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414</TotalTime>
  <Words>5807</Words>
  <Application>Microsoft Office PowerPoint</Application>
  <PresentationFormat>Widescreen</PresentationFormat>
  <Paragraphs>558</Paragraphs>
  <Slides>47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Calibri</vt:lpstr>
      <vt:lpstr>Google Sans Text</vt:lpstr>
      <vt:lpstr>Microsoft Sans Serif</vt:lpstr>
      <vt:lpstr>Office Theme</vt:lpstr>
      <vt:lpstr>PowerPoint Presentation</vt:lpstr>
      <vt:lpstr>Outline</vt:lpstr>
      <vt:lpstr>Executive Summary</vt:lpstr>
      <vt:lpstr>Introduction</vt:lpstr>
      <vt:lpstr>PowerPoint Presentation</vt:lpstr>
      <vt:lpstr>Methodology</vt:lpstr>
      <vt:lpstr>Methodology</vt:lpstr>
      <vt:lpstr>Data Collection</vt:lpstr>
      <vt:lpstr>Data Collection – SpaceX API</vt:lpstr>
      <vt:lpstr>Data Collection - Scraping</vt:lpstr>
      <vt:lpstr>Data Wrangling</vt:lpstr>
      <vt:lpstr>EDA with Data Visualization</vt:lpstr>
      <vt:lpstr>EDA with SQL</vt:lpstr>
      <vt:lpstr>Build an Interactive Map with Folium</vt:lpstr>
      <vt:lpstr>Build a Dashboard with Plotly Dash</vt:lpstr>
      <vt:lpstr>Reasons for Adding Plots and Interactions</vt:lpstr>
      <vt:lpstr>Predictive Analysis (Classification)</vt:lpstr>
      <vt:lpstr>Predictive Analysis (Flowchart)</vt:lpstr>
      <vt:lpstr>PowerPoint Presentation</vt:lpstr>
      <vt:lpstr>Flight Number vs. Launch Site</vt:lpstr>
      <vt:lpstr>Payload vs. Launch Site</vt:lpstr>
      <vt:lpstr>Success Rate vs. Orbit Type</vt:lpstr>
      <vt:lpstr>Flight Number vs. Orbit Type</vt:lpstr>
      <vt:lpstr>Payload vs. Orbit Type</vt:lpstr>
      <vt:lpstr>Launch Success Yearly Trend</vt:lpstr>
      <vt:lpstr>All Launch Site Names</vt:lpstr>
      <vt:lpstr>Launch Site Names Begin with 'CCA'</vt:lpstr>
      <vt:lpstr>Total Payload Mass</vt:lpstr>
      <vt:lpstr>Average Payload Mass by F9 v1.1</vt:lpstr>
      <vt:lpstr>First Successful Ground Landing Date</vt:lpstr>
      <vt:lpstr>Successful Drone Ship Landing with Payload between 4000 and 6000</vt:lpstr>
      <vt:lpstr>Total Number of Successful and Failure Mission Outcomes</vt:lpstr>
      <vt:lpstr>Boosters Carried Maximum Payload</vt:lpstr>
      <vt:lpstr>2015 Launch Records</vt:lpstr>
      <vt:lpstr>Rank Landing Outcomes Between 2010-06-04 and 2017-03-20</vt:lpstr>
      <vt:lpstr>PowerPoint Presentation</vt:lpstr>
      <vt:lpstr>Geospatial Site Analysis</vt:lpstr>
      <vt:lpstr>Mapping Launch Outcomes by Site</vt:lpstr>
      <vt:lpstr>Proximity Analysis: Measuring Spatial Dependencies</vt:lpstr>
      <vt:lpstr>PowerPoint Presentation</vt:lpstr>
      <vt:lpstr>Comparative Launch Success: Site Performance</vt:lpstr>
      <vt:lpstr>Site Performance Analysis: KSC LC-39A</vt:lpstr>
      <vt:lpstr>Key Insights from SpaceX Launch Analytics</vt:lpstr>
      <vt:lpstr>PowerPoint Presentation</vt:lpstr>
      <vt:lpstr>Model Benchmarking: Classification Accuracy</vt:lpstr>
      <vt:lpstr>Model Performance: Confusion Matrix Analysis</vt:lpstr>
      <vt:lpstr>Project Conclusions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Ryan Gilbert</dc:creator>
  <cp:lastModifiedBy>Ryan Gilbert</cp:lastModifiedBy>
  <cp:revision>61</cp:revision>
  <dcterms:created xsi:type="dcterms:W3CDTF">2026-04-02T09:25:05Z</dcterms:created>
  <dcterms:modified xsi:type="dcterms:W3CDTF">2026-04-02T16:19:16Z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2024-07-15T00:00:00Z</vt:filetime>
  </property>
  <property fmtid="{D5CDD505-2E9C-101B-9397-08002B2CF9AE}" pid="3" name="LastSaved">
    <vt:filetime>2026-04-02T00:00:00Z</vt:filetime>
  </property>
</Properties>
</file>